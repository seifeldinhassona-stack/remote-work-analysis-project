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rts/chart5.xml" ContentType="application/vnd.openxmlformats-officedocument.drawingml.chart+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sldIdLst>
    <p:sldId id="286" r:id="rId2"/>
    <p:sldId id="302" r:id="rId3"/>
    <p:sldId id="288" r:id="rId4"/>
    <p:sldId id="287" r:id="rId5"/>
    <p:sldId id="257" r:id="rId6"/>
    <p:sldId id="258" r:id="rId7"/>
    <p:sldId id="259" r:id="rId8"/>
    <p:sldId id="282" r:id="rId9"/>
    <p:sldId id="290" r:id="rId10"/>
    <p:sldId id="292" r:id="rId11"/>
    <p:sldId id="294" r:id="rId12"/>
    <p:sldId id="304" r:id="rId13"/>
    <p:sldId id="293" r:id="rId14"/>
    <p:sldId id="291" r:id="rId15"/>
    <p:sldId id="261" r:id="rId16"/>
    <p:sldId id="285" r:id="rId17"/>
    <p:sldId id="303" r:id="rId18"/>
    <p:sldId id="264" r:id="rId19"/>
    <p:sldId id="265" r:id="rId20"/>
    <p:sldId id="266" r:id="rId21"/>
    <p:sldId id="267" r:id="rId22"/>
    <p:sldId id="268" r:id="rId23"/>
    <p:sldId id="269" r:id="rId24"/>
    <p:sldId id="270" r:id="rId25"/>
    <p:sldId id="271" r:id="rId26"/>
    <p:sldId id="296" r:id="rId27"/>
    <p:sldId id="297" r:id="rId28"/>
    <p:sldId id="298" r:id="rId29"/>
    <p:sldId id="299" r:id="rId30"/>
    <p:sldId id="300" r:id="rId31"/>
    <p:sldId id="301" r:id="rId32"/>
    <p:sldId id="272" r:id="rId33"/>
    <p:sldId id="273" r:id="rId34"/>
    <p:sldId id="274" r:id="rId35"/>
    <p:sldId id="275" r:id="rId36"/>
    <p:sldId id="276" r:id="rId37"/>
    <p:sldId id="277" r:id="rId38"/>
    <p:sldId id="278" r:id="rId39"/>
    <p:sldId id="289" r:id="rId40"/>
    <p:sldId id="279" r:id="rId41"/>
    <p:sldId id="281" r:id="rId4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0" d="100"/>
          <a:sy n="110" d="100"/>
        </p:scale>
        <p:origin x="65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Productivity Score</c:v>
                </c:pt>
              </c:strCache>
            </c:strRef>
          </c:tx>
          <c:spPr>
            <a:solidFill>
              <a:srgbClr val="185FA5"/>
            </a:solidFill>
            <a:effectLst/>
          </c:spPr>
          <c:invertIfNegative val="0"/>
          <c:dPt>
            <c:idx val="0"/>
            <c:invertIfNegative val="0"/>
            <c:bubble3D val="0"/>
            <c:extLst>
              <c:ext xmlns:c16="http://schemas.microsoft.com/office/drawing/2014/chart" uri="{C3380CC4-5D6E-409C-BE32-E72D297353CC}">
                <c16:uniqueId val="{00000001-E19A-4E39-9C62-7F0803176FE0}"/>
              </c:ext>
            </c:extLst>
          </c:dPt>
          <c:dPt>
            <c:idx val="1"/>
            <c:invertIfNegative val="0"/>
            <c:bubble3D val="0"/>
            <c:extLst>
              <c:ext xmlns:c16="http://schemas.microsoft.com/office/drawing/2014/chart" uri="{C3380CC4-5D6E-409C-BE32-E72D297353CC}">
                <c16:uniqueId val="{00000003-E19A-4E39-9C62-7F0803176FE0}"/>
              </c:ext>
            </c:extLst>
          </c:dPt>
          <c:dPt>
            <c:idx val="2"/>
            <c:invertIfNegative val="0"/>
            <c:bubble3D val="0"/>
            <c:spPr>
              <a:solidFill>
                <a:srgbClr val="1D9E75"/>
              </a:solidFill>
              <a:effectLst/>
            </c:spPr>
            <c:extLst>
              <c:ext xmlns:c16="http://schemas.microsoft.com/office/drawing/2014/chart" uri="{C3380CC4-5D6E-409C-BE32-E72D297353CC}">
                <c16:uniqueId val="{00000005-E19A-4E39-9C62-7F0803176FE0}"/>
              </c:ext>
            </c:extLst>
          </c:dPt>
          <c:dPt>
            <c:idx val="3"/>
            <c:invertIfNegative val="0"/>
            <c:bubble3D val="0"/>
            <c:spPr>
              <a:solidFill>
                <a:srgbClr val="1D9E75"/>
              </a:solidFill>
              <a:effectLst/>
            </c:spPr>
            <c:extLst>
              <c:ext xmlns:c16="http://schemas.microsoft.com/office/drawing/2014/chart" uri="{C3380CC4-5D6E-409C-BE32-E72D297353CC}">
                <c16:uniqueId val="{00000007-E19A-4E39-9C62-7F0803176FE0}"/>
              </c:ext>
            </c:extLst>
          </c:dPt>
          <c:dPt>
            <c:idx val="4"/>
            <c:invertIfNegative val="0"/>
            <c:bubble3D val="0"/>
            <c:spPr>
              <a:solidFill>
                <a:srgbClr val="BA7517"/>
              </a:solidFill>
              <a:effectLst/>
            </c:spPr>
            <c:extLst>
              <c:ext xmlns:c16="http://schemas.microsoft.com/office/drawing/2014/chart" uri="{C3380CC4-5D6E-409C-BE32-E72D297353CC}">
                <c16:uniqueId val="{00000009-E19A-4E39-9C62-7F0803176FE0}"/>
              </c:ext>
            </c:extLst>
          </c:dPt>
          <c:dPt>
            <c:idx val="5"/>
            <c:invertIfNegative val="0"/>
            <c:bubble3D val="0"/>
            <c:spPr>
              <a:solidFill>
                <a:srgbClr val="A32D2D"/>
              </a:solidFill>
              <a:effectLst/>
            </c:spPr>
            <c:extLst>
              <c:ext xmlns:c16="http://schemas.microsoft.com/office/drawing/2014/chart" uri="{C3380CC4-5D6E-409C-BE32-E72D297353CC}">
                <c16:uniqueId val="{0000000B-E19A-4E39-9C62-7F0803176FE0}"/>
              </c:ext>
            </c:extLst>
          </c:dPt>
          <c:dLbls>
            <c:numFmt formatCode="#,##0" sourceLinked="0"/>
            <c:spPr>
              <a:noFill/>
              <a:ln>
                <a:noFill/>
              </a:ln>
              <a:effectLst/>
            </c:spPr>
            <c:txPr>
              <a:bodyPr/>
              <a:lstStyle/>
              <a:p>
                <a:pPr>
                  <a:defRPr sz="9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Manager</c:v>
                </c:pt>
                <c:pt idx="1">
                  <c:v>Senior</c:v>
                </c:pt>
                <c:pt idx="2">
                  <c:v>Lead</c:v>
                </c:pt>
                <c:pt idx="3">
                  <c:v>Director</c:v>
                </c:pt>
                <c:pt idx="4">
                  <c:v>Mid-Level</c:v>
                </c:pt>
                <c:pt idx="5">
                  <c:v>Junior</c:v>
                </c:pt>
              </c:strCache>
            </c:strRef>
          </c:cat>
          <c:val>
            <c:numRef>
              <c:f>Sheet1!$B$2:$B$7</c:f>
              <c:numCache>
                <c:formatCode>General</c:formatCode>
                <c:ptCount val="6"/>
                <c:pt idx="0">
                  <c:v>90.3</c:v>
                </c:pt>
                <c:pt idx="1">
                  <c:v>88.1</c:v>
                </c:pt>
                <c:pt idx="2">
                  <c:v>86.7</c:v>
                </c:pt>
                <c:pt idx="3">
                  <c:v>85.7</c:v>
                </c:pt>
                <c:pt idx="4">
                  <c:v>82.7</c:v>
                </c:pt>
                <c:pt idx="5">
                  <c:v>78.599999999999994</c:v>
                </c:pt>
              </c:numCache>
            </c:numRef>
          </c:val>
          <c:extLst>
            <c:ext xmlns:c16="http://schemas.microsoft.com/office/drawing/2014/chart" uri="{C3380CC4-5D6E-409C-BE32-E72D297353CC}">
              <c16:uniqueId val="{0000000C-E19A-4E39-9C62-7F0803176FE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95"/>
          <c:min val="7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Productivity Score</c:v>
                </c:pt>
              </c:strCache>
            </c:strRef>
          </c:tx>
          <c:spPr>
            <a:solidFill>
              <a:srgbClr val="1D9E75"/>
            </a:solidFill>
            <a:effectLst/>
          </c:spPr>
          <c:invertIfNegative val="0"/>
          <c:dPt>
            <c:idx val="0"/>
            <c:invertIfNegative val="0"/>
            <c:bubble3D val="0"/>
            <c:extLst>
              <c:ext xmlns:c16="http://schemas.microsoft.com/office/drawing/2014/chart" uri="{C3380CC4-5D6E-409C-BE32-E72D297353CC}">
                <c16:uniqueId val="{00000001-51B7-4A9A-BAF7-727032C7A8EF}"/>
              </c:ext>
            </c:extLst>
          </c:dPt>
          <c:dPt>
            <c:idx val="1"/>
            <c:invertIfNegative val="0"/>
            <c:bubble3D val="0"/>
            <c:extLst>
              <c:ext xmlns:c16="http://schemas.microsoft.com/office/drawing/2014/chart" uri="{C3380CC4-5D6E-409C-BE32-E72D297353CC}">
                <c16:uniqueId val="{00000003-51B7-4A9A-BAF7-727032C7A8EF}"/>
              </c:ext>
            </c:extLst>
          </c:dPt>
          <c:dPt>
            <c:idx val="2"/>
            <c:invertIfNegative val="0"/>
            <c:bubble3D val="0"/>
            <c:extLst>
              <c:ext xmlns:c16="http://schemas.microsoft.com/office/drawing/2014/chart" uri="{C3380CC4-5D6E-409C-BE32-E72D297353CC}">
                <c16:uniqueId val="{00000005-51B7-4A9A-BAF7-727032C7A8EF}"/>
              </c:ext>
            </c:extLst>
          </c:dPt>
          <c:dPt>
            <c:idx val="3"/>
            <c:invertIfNegative val="0"/>
            <c:bubble3D val="0"/>
            <c:extLst>
              <c:ext xmlns:c16="http://schemas.microsoft.com/office/drawing/2014/chart" uri="{C3380CC4-5D6E-409C-BE32-E72D297353CC}">
                <c16:uniqueId val="{00000007-51B7-4A9A-BAF7-727032C7A8EF}"/>
              </c:ext>
            </c:extLst>
          </c:dPt>
          <c:dPt>
            <c:idx val="4"/>
            <c:invertIfNegative val="0"/>
            <c:bubble3D val="0"/>
            <c:extLst>
              <c:ext xmlns:c16="http://schemas.microsoft.com/office/drawing/2014/chart" uri="{C3380CC4-5D6E-409C-BE32-E72D297353CC}">
                <c16:uniqueId val="{00000009-51B7-4A9A-BAF7-727032C7A8EF}"/>
              </c:ext>
            </c:extLst>
          </c:dPt>
          <c:dPt>
            <c:idx val="5"/>
            <c:invertIfNegative val="0"/>
            <c:bubble3D val="0"/>
            <c:extLst>
              <c:ext xmlns:c16="http://schemas.microsoft.com/office/drawing/2014/chart" uri="{C3380CC4-5D6E-409C-BE32-E72D297353CC}">
                <c16:uniqueId val="{0000000B-51B7-4A9A-BAF7-727032C7A8EF}"/>
              </c:ext>
            </c:extLst>
          </c:dPt>
          <c:dPt>
            <c:idx val="6"/>
            <c:invertIfNegative val="0"/>
            <c:bubble3D val="0"/>
            <c:spPr>
              <a:solidFill>
                <a:srgbClr val="185FA5"/>
              </a:solidFill>
              <a:effectLst/>
            </c:spPr>
            <c:extLst>
              <c:ext xmlns:c16="http://schemas.microsoft.com/office/drawing/2014/chart" uri="{C3380CC4-5D6E-409C-BE32-E72D297353CC}">
                <c16:uniqueId val="{0000000D-51B7-4A9A-BAF7-727032C7A8EF}"/>
              </c:ext>
            </c:extLst>
          </c:dPt>
          <c:dPt>
            <c:idx val="7"/>
            <c:invertIfNegative val="0"/>
            <c:bubble3D val="0"/>
            <c:spPr>
              <a:solidFill>
                <a:srgbClr val="185FA5"/>
              </a:solidFill>
              <a:effectLst/>
            </c:spPr>
            <c:extLst>
              <c:ext xmlns:c16="http://schemas.microsoft.com/office/drawing/2014/chart" uri="{C3380CC4-5D6E-409C-BE32-E72D297353CC}">
                <c16:uniqueId val="{0000000F-51B7-4A9A-BAF7-727032C7A8EF}"/>
              </c:ext>
            </c:extLst>
          </c:dPt>
          <c:dPt>
            <c:idx val="8"/>
            <c:invertIfNegative val="0"/>
            <c:bubble3D val="0"/>
            <c:spPr>
              <a:solidFill>
                <a:srgbClr val="BA7517"/>
              </a:solidFill>
              <a:effectLst/>
            </c:spPr>
            <c:extLst>
              <c:ext xmlns:c16="http://schemas.microsoft.com/office/drawing/2014/chart" uri="{C3380CC4-5D6E-409C-BE32-E72D297353CC}">
                <c16:uniqueId val="{00000011-51B7-4A9A-BAF7-727032C7A8EF}"/>
              </c:ext>
            </c:extLst>
          </c:dPt>
          <c:dPt>
            <c:idx val="9"/>
            <c:invertIfNegative val="0"/>
            <c:bubble3D val="0"/>
            <c:spPr>
              <a:solidFill>
                <a:srgbClr val="A32D2D"/>
              </a:solidFill>
              <a:effectLst/>
            </c:spPr>
            <c:extLst>
              <c:ext xmlns:c16="http://schemas.microsoft.com/office/drawing/2014/chart" uri="{C3380CC4-5D6E-409C-BE32-E72D297353CC}">
                <c16:uniqueId val="{00000013-51B7-4A9A-BAF7-727032C7A8EF}"/>
              </c:ext>
            </c:extLst>
          </c:dPt>
          <c:dLbls>
            <c:numFmt formatCode="#,##0" sourceLinked="0"/>
            <c:spPr>
              <a:noFill/>
              <a:ln>
                <a:noFill/>
              </a:ln>
              <a:effectLst/>
            </c:spPr>
            <c:txPr>
              <a:bodyPr/>
              <a:lstStyle/>
              <a:p>
                <a:pPr>
                  <a:defRPr sz="8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Healthcare</c:v>
                </c:pt>
                <c:pt idx="1">
                  <c:v>Retail</c:v>
                </c:pt>
                <c:pt idx="2">
                  <c:v>Finance</c:v>
                </c:pt>
                <c:pt idx="3">
                  <c:v>Manufacturing</c:v>
                </c:pt>
                <c:pt idx="4">
                  <c:v>Consulting</c:v>
                </c:pt>
                <c:pt idx="5">
                  <c:v>Media</c:v>
                </c:pt>
                <c:pt idx="6">
                  <c:v>Technology</c:v>
                </c:pt>
                <c:pt idx="7">
                  <c:v>Education</c:v>
                </c:pt>
                <c:pt idx="8">
                  <c:v>Non-profit</c:v>
                </c:pt>
                <c:pt idx="9">
                  <c:v>Government</c:v>
                </c:pt>
              </c:strCache>
            </c:strRef>
          </c:cat>
          <c:val>
            <c:numRef>
              <c:f>Sheet1!$B$2:$B$11</c:f>
              <c:numCache>
                <c:formatCode>General</c:formatCode>
                <c:ptCount val="10"/>
                <c:pt idx="0">
                  <c:v>84.9</c:v>
                </c:pt>
                <c:pt idx="1">
                  <c:v>84.2</c:v>
                </c:pt>
                <c:pt idx="2">
                  <c:v>83.9</c:v>
                </c:pt>
                <c:pt idx="3">
                  <c:v>83.5</c:v>
                </c:pt>
                <c:pt idx="4">
                  <c:v>83.4</c:v>
                </c:pt>
                <c:pt idx="5">
                  <c:v>83</c:v>
                </c:pt>
                <c:pt idx="6">
                  <c:v>82.7</c:v>
                </c:pt>
                <c:pt idx="7">
                  <c:v>82.5</c:v>
                </c:pt>
                <c:pt idx="8">
                  <c:v>80.3</c:v>
                </c:pt>
                <c:pt idx="9">
                  <c:v>79</c:v>
                </c:pt>
              </c:numCache>
            </c:numRef>
          </c:val>
          <c:extLst>
            <c:ext xmlns:c16="http://schemas.microsoft.com/office/drawing/2014/chart" uri="{C3380CC4-5D6E-409C-BE32-E72D297353CC}">
              <c16:uniqueId val="{00000014-51B7-4A9A-BAF7-727032C7A8E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87"/>
          <c:min val="76"/>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Productivity</c:v>
                </c:pt>
              </c:strCache>
            </c:strRef>
          </c:tx>
          <c:spPr>
            <a:solidFill>
              <a:srgbClr val="185FA5"/>
            </a:solidFill>
            <a:effectLst/>
          </c:spPr>
          <c:invertIfNegative val="0"/>
          <c:cat>
            <c:strRef>
              <c:f>Sheet1!$A$2:$A$6</c:f>
              <c:strCache>
                <c:ptCount val="5"/>
                <c:pt idx="0">
                  <c:v>Very Low</c:v>
                </c:pt>
                <c:pt idx="1">
                  <c:v>Low</c:v>
                </c:pt>
                <c:pt idx="2">
                  <c:v>Moderate</c:v>
                </c:pt>
                <c:pt idx="3">
                  <c:v>High</c:v>
                </c:pt>
                <c:pt idx="4">
                  <c:v>Very High</c:v>
                </c:pt>
              </c:strCache>
            </c:strRef>
          </c:cat>
          <c:val>
            <c:numRef>
              <c:f>Sheet1!$B$2:$B$6</c:f>
              <c:numCache>
                <c:formatCode>General</c:formatCode>
                <c:ptCount val="5"/>
                <c:pt idx="0">
                  <c:v>68.7</c:v>
                </c:pt>
                <c:pt idx="1">
                  <c:v>76.599999999999994</c:v>
                </c:pt>
                <c:pt idx="2">
                  <c:v>80.599999999999994</c:v>
                </c:pt>
                <c:pt idx="3">
                  <c:v>86.9</c:v>
                </c:pt>
                <c:pt idx="4">
                  <c:v>87.6</c:v>
                </c:pt>
              </c:numCache>
            </c:numRef>
          </c:val>
          <c:extLst>
            <c:ext xmlns:c16="http://schemas.microsoft.com/office/drawing/2014/chart" uri="{C3380CC4-5D6E-409C-BE32-E72D297353CC}">
              <c16:uniqueId val="{00000000-9189-46B5-B9C1-9F70D6333EDC}"/>
            </c:ext>
          </c:extLst>
        </c:ser>
        <c:ser>
          <c:idx val="1"/>
          <c:order val="1"/>
          <c:tx>
            <c:strRef>
              <c:f>Sheet1!$C$1</c:f>
              <c:strCache>
                <c:ptCount val="1"/>
                <c:pt idx="0">
                  <c:v>Job Satisfaction</c:v>
                </c:pt>
              </c:strCache>
            </c:strRef>
          </c:tx>
          <c:spPr>
            <a:solidFill>
              <a:srgbClr val="1D9E75"/>
            </a:solidFill>
            <a:effectLst/>
          </c:spPr>
          <c:invertIfNegative val="0"/>
          <c:cat>
            <c:strRef>
              <c:f>Sheet1!$A$2:$A$6</c:f>
              <c:strCache>
                <c:ptCount val="5"/>
                <c:pt idx="0">
                  <c:v>Very Low</c:v>
                </c:pt>
                <c:pt idx="1">
                  <c:v>Low</c:v>
                </c:pt>
                <c:pt idx="2">
                  <c:v>Moderate</c:v>
                </c:pt>
                <c:pt idx="3">
                  <c:v>High</c:v>
                </c:pt>
                <c:pt idx="4">
                  <c:v>Very High</c:v>
                </c:pt>
              </c:strCache>
            </c:strRef>
          </c:cat>
          <c:val>
            <c:numRef>
              <c:f>Sheet1!$C$2:$C$6</c:f>
              <c:numCache>
                <c:formatCode>General</c:formatCode>
                <c:ptCount val="5"/>
                <c:pt idx="0">
                  <c:v>58</c:v>
                </c:pt>
                <c:pt idx="1">
                  <c:v>63</c:v>
                </c:pt>
                <c:pt idx="2">
                  <c:v>70</c:v>
                </c:pt>
                <c:pt idx="3">
                  <c:v>82</c:v>
                </c:pt>
                <c:pt idx="4">
                  <c:v>89</c:v>
                </c:pt>
              </c:numCache>
            </c:numRef>
          </c:val>
          <c:extLst>
            <c:ext xmlns:c16="http://schemas.microsoft.com/office/drawing/2014/chart" uri="{C3380CC4-5D6E-409C-BE32-E72D297353CC}">
              <c16:uniqueId val="{00000001-9189-46B5-B9C1-9F70D6333EDC}"/>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95"/>
          <c:min val="5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9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Correlation (r)</c:v>
                </c:pt>
              </c:strCache>
            </c:strRef>
          </c:tx>
          <c:spPr>
            <a:solidFill>
              <a:srgbClr val="185FA5"/>
            </a:solidFill>
            <a:effectLst/>
          </c:spPr>
          <c:invertIfNegative val="0"/>
          <c:dPt>
            <c:idx val="0"/>
            <c:invertIfNegative val="0"/>
            <c:bubble3D val="0"/>
            <c:extLst>
              <c:ext xmlns:c16="http://schemas.microsoft.com/office/drawing/2014/chart" uri="{C3380CC4-5D6E-409C-BE32-E72D297353CC}">
                <c16:uniqueId val="{00000001-7B96-46F0-B569-33C1DF0D2FE0}"/>
              </c:ext>
            </c:extLst>
          </c:dPt>
          <c:dPt>
            <c:idx val="1"/>
            <c:invertIfNegative val="0"/>
            <c:bubble3D val="0"/>
            <c:extLst>
              <c:ext xmlns:c16="http://schemas.microsoft.com/office/drawing/2014/chart" uri="{C3380CC4-5D6E-409C-BE32-E72D297353CC}">
                <c16:uniqueId val="{00000003-7B96-46F0-B569-33C1DF0D2FE0}"/>
              </c:ext>
            </c:extLst>
          </c:dPt>
          <c:dPt>
            <c:idx val="2"/>
            <c:invertIfNegative val="0"/>
            <c:bubble3D val="0"/>
            <c:extLst>
              <c:ext xmlns:c16="http://schemas.microsoft.com/office/drawing/2014/chart" uri="{C3380CC4-5D6E-409C-BE32-E72D297353CC}">
                <c16:uniqueId val="{00000005-7B96-46F0-B569-33C1DF0D2FE0}"/>
              </c:ext>
            </c:extLst>
          </c:dPt>
          <c:dPt>
            <c:idx val="3"/>
            <c:invertIfNegative val="0"/>
            <c:bubble3D val="0"/>
            <c:extLst>
              <c:ext xmlns:c16="http://schemas.microsoft.com/office/drawing/2014/chart" uri="{C3380CC4-5D6E-409C-BE32-E72D297353CC}">
                <c16:uniqueId val="{00000007-7B96-46F0-B569-33C1DF0D2FE0}"/>
              </c:ext>
            </c:extLst>
          </c:dPt>
          <c:dPt>
            <c:idx val="4"/>
            <c:invertIfNegative val="0"/>
            <c:bubble3D val="0"/>
            <c:spPr>
              <a:solidFill>
                <a:srgbClr val="1D9E75"/>
              </a:solidFill>
              <a:effectLst/>
            </c:spPr>
            <c:extLst>
              <c:ext xmlns:c16="http://schemas.microsoft.com/office/drawing/2014/chart" uri="{C3380CC4-5D6E-409C-BE32-E72D297353CC}">
                <c16:uniqueId val="{00000009-7B96-46F0-B569-33C1DF0D2FE0}"/>
              </c:ext>
            </c:extLst>
          </c:dPt>
          <c:dPt>
            <c:idx val="5"/>
            <c:invertIfNegative val="0"/>
            <c:bubble3D val="0"/>
            <c:spPr>
              <a:solidFill>
                <a:srgbClr val="1D9E75"/>
              </a:solidFill>
              <a:effectLst/>
            </c:spPr>
            <c:extLst>
              <c:ext xmlns:c16="http://schemas.microsoft.com/office/drawing/2014/chart" uri="{C3380CC4-5D6E-409C-BE32-E72D297353CC}">
                <c16:uniqueId val="{0000000B-7B96-46F0-B569-33C1DF0D2FE0}"/>
              </c:ext>
            </c:extLst>
          </c:dPt>
          <c:dPt>
            <c:idx val="6"/>
            <c:invertIfNegative val="0"/>
            <c:bubble3D val="0"/>
            <c:spPr>
              <a:solidFill>
                <a:srgbClr val="1D9E75"/>
              </a:solidFill>
              <a:effectLst/>
            </c:spPr>
            <c:extLst>
              <c:ext xmlns:c16="http://schemas.microsoft.com/office/drawing/2014/chart" uri="{C3380CC4-5D6E-409C-BE32-E72D297353CC}">
                <c16:uniqueId val="{0000000D-7B96-46F0-B569-33C1DF0D2FE0}"/>
              </c:ext>
            </c:extLst>
          </c:dPt>
          <c:dPt>
            <c:idx val="7"/>
            <c:invertIfNegative val="0"/>
            <c:bubble3D val="0"/>
            <c:spPr>
              <a:solidFill>
                <a:srgbClr val="BA7517"/>
              </a:solidFill>
              <a:effectLst/>
            </c:spPr>
            <c:extLst>
              <c:ext xmlns:c16="http://schemas.microsoft.com/office/drawing/2014/chart" uri="{C3380CC4-5D6E-409C-BE32-E72D297353CC}">
                <c16:uniqueId val="{0000000F-7B96-46F0-B569-33C1DF0D2FE0}"/>
              </c:ext>
            </c:extLst>
          </c:dPt>
          <c:dPt>
            <c:idx val="8"/>
            <c:invertIfNegative val="0"/>
            <c:bubble3D val="0"/>
            <c:spPr>
              <a:solidFill>
                <a:srgbClr val="BA7517"/>
              </a:solidFill>
              <a:effectLst/>
            </c:spPr>
            <c:extLst>
              <c:ext xmlns:c16="http://schemas.microsoft.com/office/drawing/2014/chart" uri="{C3380CC4-5D6E-409C-BE32-E72D297353CC}">
                <c16:uniqueId val="{00000011-7B96-46F0-B569-33C1DF0D2FE0}"/>
              </c:ext>
            </c:extLst>
          </c:dPt>
          <c:dPt>
            <c:idx val="9"/>
            <c:invertIfNegative val="0"/>
            <c:bubble3D val="0"/>
            <c:spPr>
              <a:solidFill>
                <a:srgbClr val="A32D2D"/>
              </a:solidFill>
              <a:effectLst/>
            </c:spPr>
            <c:extLst>
              <c:ext xmlns:c16="http://schemas.microsoft.com/office/drawing/2014/chart" uri="{C3380CC4-5D6E-409C-BE32-E72D297353CC}">
                <c16:uniqueId val="{00000013-7B96-46F0-B569-33C1DF0D2FE0}"/>
              </c:ext>
            </c:extLst>
          </c:dPt>
          <c:dLbls>
            <c:numFmt formatCode="#,##0" sourceLinked="0"/>
            <c:spPr>
              <a:noFill/>
              <a:ln>
                <a:noFill/>
              </a:ln>
              <a:effectLst/>
            </c:spPr>
            <c:txPr>
              <a:bodyPr/>
              <a:lstStyle/>
              <a:p>
                <a:pPr>
                  <a:defRPr sz="8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Quality Score</c:v>
                </c:pt>
                <c:pt idx="1">
                  <c:v>Task Completion</c:v>
                </c:pt>
                <c:pt idx="2">
                  <c:v>Efficiency</c:v>
                </c:pt>
                <c:pt idx="3">
                  <c:v>Innovation</c:v>
                </c:pt>
                <c:pt idx="4">
                  <c:v>Job Satisfaction</c:v>
                </c:pt>
                <c:pt idx="5">
                  <c:v>Age</c:v>
                </c:pt>
                <c:pt idx="6">
                  <c:v>Experience</c:v>
                </c:pt>
                <c:pt idx="7">
                  <c:v>Work-Life Balance</c:v>
                </c:pt>
                <c:pt idx="8">
                  <c:v>WFH Days</c:v>
                </c:pt>
                <c:pt idx="9">
                  <c:v>Work Hours</c:v>
                </c:pt>
              </c:strCache>
            </c:strRef>
          </c:cat>
          <c:val>
            <c:numRef>
              <c:f>Sheet1!$B$2:$B$11</c:f>
              <c:numCache>
                <c:formatCode>General</c:formatCode>
                <c:ptCount val="10"/>
                <c:pt idx="0">
                  <c:v>0.91800000000000004</c:v>
                </c:pt>
                <c:pt idx="1">
                  <c:v>0.88400000000000001</c:v>
                </c:pt>
                <c:pt idx="2">
                  <c:v>0.83799999999999997</c:v>
                </c:pt>
                <c:pt idx="3">
                  <c:v>0.78300000000000003</c:v>
                </c:pt>
                <c:pt idx="4">
                  <c:v>0.51300000000000001</c:v>
                </c:pt>
                <c:pt idx="5">
                  <c:v>0.26600000000000001</c:v>
                </c:pt>
                <c:pt idx="6">
                  <c:v>0.253</c:v>
                </c:pt>
                <c:pt idx="7">
                  <c:v>0.03</c:v>
                </c:pt>
                <c:pt idx="8">
                  <c:v>1.7999999999999999E-2</c:v>
                </c:pt>
                <c:pt idx="9">
                  <c:v>-3.1E-2</c:v>
                </c:pt>
              </c:numCache>
            </c:numRef>
          </c:val>
          <c:extLst>
            <c:ext xmlns:c16="http://schemas.microsoft.com/office/drawing/2014/chart" uri="{C3380CC4-5D6E-409C-BE32-E72D297353CC}">
              <c16:uniqueId val="{00000014-7B96-46F0-B569-33C1DF0D2FE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1"/>
          <c:min val="-0.1"/>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Productivity points gained</c:v>
                </c:pt>
              </c:strCache>
            </c:strRef>
          </c:tx>
          <c:spPr>
            <a:solidFill>
              <a:srgbClr val="185FA5"/>
            </a:solidFill>
            <a:effectLst/>
          </c:spPr>
          <c:invertIfNegative val="0"/>
          <c:dPt>
            <c:idx val="0"/>
            <c:invertIfNegative val="0"/>
            <c:bubble3D val="0"/>
            <c:extLst>
              <c:ext xmlns:c16="http://schemas.microsoft.com/office/drawing/2014/chart" uri="{C3380CC4-5D6E-409C-BE32-E72D297353CC}">
                <c16:uniqueId val="{00000001-0DAB-4C11-B396-B51421B5DFCB}"/>
              </c:ext>
            </c:extLst>
          </c:dPt>
          <c:dPt>
            <c:idx val="1"/>
            <c:invertIfNegative val="0"/>
            <c:bubble3D val="0"/>
            <c:spPr>
              <a:solidFill>
                <a:srgbClr val="1D9E75"/>
              </a:solidFill>
              <a:effectLst/>
            </c:spPr>
            <c:extLst>
              <c:ext xmlns:c16="http://schemas.microsoft.com/office/drawing/2014/chart" uri="{C3380CC4-5D6E-409C-BE32-E72D297353CC}">
                <c16:uniqueId val="{00000003-0DAB-4C11-B396-B51421B5DFCB}"/>
              </c:ext>
            </c:extLst>
          </c:dPt>
          <c:dPt>
            <c:idx val="2"/>
            <c:invertIfNegative val="0"/>
            <c:bubble3D val="0"/>
            <c:spPr>
              <a:solidFill>
                <a:srgbClr val="BA7517"/>
              </a:solidFill>
              <a:effectLst/>
            </c:spPr>
            <c:extLst>
              <c:ext xmlns:c16="http://schemas.microsoft.com/office/drawing/2014/chart" uri="{C3380CC4-5D6E-409C-BE32-E72D297353CC}">
                <c16:uniqueId val="{00000005-0DAB-4C11-B396-B51421B5DFCB}"/>
              </c:ext>
            </c:extLst>
          </c:dPt>
          <c:dPt>
            <c:idx val="3"/>
            <c:invertIfNegative val="0"/>
            <c:bubble3D val="0"/>
            <c:spPr>
              <a:solidFill>
                <a:srgbClr val="A32D2D"/>
              </a:solidFill>
              <a:effectLst/>
            </c:spPr>
            <c:extLst>
              <c:ext xmlns:c16="http://schemas.microsoft.com/office/drawing/2014/chart" uri="{C3380CC4-5D6E-409C-BE32-E72D297353CC}">
                <c16:uniqueId val="{00000007-0DAB-4C11-B396-B51421B5DFCB}"/>
              </c:ext>
            </c:extLst>
          </c:dPt>
          <c:dPt>
            <c:idx val="4"/>
            <c:invertIfNegative val="0"/>
            <c:bubble3D val="0"/>
            <c:spPr>
              <a:solidFill>
                <a:srgbClr val="1D9E75"/>
              </a:solidFill>
              <a:effectLst/>
            </c:spPr>
            <c:extLst>
              <c:ext xmlns:c16="http://schemas.microsoft.com/office/drawing/2014/chart" uri="{C3380CC4-5D6E-409C-BE32-E72D297353CC}">
                <c16:uniqueId val="{00000009-0DAB-4C11-B396-B51421B5DFCB}"/>
              </c:ext>
            </c:extLst>
          </c:dPt>
          <c:dPt>
            <c:idx val="5"/>
            <c:invertIfNegative val="0"/>
            <c:bubble3D val="0"/>
            <c:spPr>
              <a:solidFill>
                <a:srgbClr val="BA7517"/>
              </a:solidFill>
              <a:effectLst/>
            </c:spPr>
            <c:extLst>
              <c:ext xmlns:c16="http://schemas.microsoft.com/office/drawing/2014/chart" uri="{C3380CC4-5D6E-409C-BE32-E72D297353CC}">
                <c16:uniqueId val="{0000000B-0DAB-4C11-B396-B51421B5DFCB}"/>
              </c:ext>
            </c:extLst>
          </c:dPt>
          <c:dPt>
            <c:idx val="6"/>
            <c:invertIfNegative val="0"/>
            <c:bubble3D val="0"/>
            <c:spPr>
              <a:solidFill>
                <a:srgbClr val="1D9E75"/>
              </a:solidFill>
              <a:effectLst/>
            </c:spPr>
            <c:extLst>
              <c:ext xmlns:c16="http://schemas.microsoft.com/office/drawing/2014/chart" uri="{C3380CC4-5D6E-409C-BE32-E72D297353CC}">
                <c16:uniqueId val="{0000000D-0DAB-4C11-B396-B51421B5DFCB}"/>
              </c:ext>
            </c:extLst>
          </c:dPt>
          <c:dPt>
            <c:idx val="7"/>
            <c:invertIfNegative val="0"/>
            <c:bubble3D val="0"/>
            <c:spPr>
              <a:solidFill>
                <a:srgbClr val="BA7517"/>
              </a:solidFill>
              <a:effectLst/>
            </c:spPr>
            <c:extLst>
              <c:ext xmlns:c16="http://schemas.microsoft.com/office/drawing/2014/chart" uri="{C3380CC4-5D6E-409C-BE32-E72D297353CC}">
                <c16:uniqueId val="{0000000F-0DAB-4C11-B396-B51421B5DFCB}"/>
              </c:ext>
            </c:extLst>
          </c:dPt>
          <c:dLbls>
            <c:numFmt formatCode="#,##0" sourceLinked="0"/>
            <c:spPr>
              <a:noFill/>
              <a:ln>
                <a:noFill/>
              </a:ln>
              <a:effectLst/>
            </c:spPr>
            <c:txPr>
              <a:bodyPr/>
              <a:lstStyle/>
              <a:p>
                <a:pPr>
                  <a:defRPr sz="9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Manager excellence</c:v>
                </c:pt>
                <c:pt idx="1">
                  <c:v>Home office stipend</c:v>
                </c:pt>
                <c:pt idx="2">
                  <c:v>Junior mentorship</c:v>
                </c:pt>
                <c:pt idx="3">
                  <c:v>DEI inclusion programme</c:v>
                </c:pt>
                <c:pt idx="4">
                  <c:v>Hybrid policy</c:v>
                </c:pt>
                <c:pt idx="5">
                  <c:v>Sector modernisation</c:v>
                </c:pt>
                <c:pt idx="6">
                  <c:v>Quality-based reviews</c:v>
                </c:pt>
                <c:pt idx="7">
                  <c:v>Meeting audit</c:v>
                </c:pt>
              </c:strCache>
            </c:strRef>
          </c:cat>
          <c:val>
            <c:numRef>
              <c:f>Sheet1!$B$2:$B$9</c:f>
              <c:numCache>
                <c:formatCode>General</c:formatCode>
                <c:ptCount val="8"/>
                <c:pt idx="0">
                  <c:v>19</c:v>
                </c:pt>
                <c:pt idx="1">
                  <c:v>10</c:v>
                </c:pt>
                <c:pt idx="2">
                  <c:v>8</c:v>
                </c:pt>
                <c:pt idx="3">
                  <c:v>7</c:v>
                </c:pt>
                <c:pt idx="4">
                  <c:v>5</c:v>
                </c:pt>
                <c:pt idx="5">
                  <c:v>5</c:v>
                </c:pt>
                <c:pt idx="6">
                  <c:v>4</c:v>
                </c:pt>
                <c:pt idx="7">
                  <c:v>2.5</c:v>
                </c:pt>
              </c:numCache>
            </c:numRef>
          </c:val>
          <c:extLst>
            <c:ext xmlns:c16="http://schemas.microsoft.com/office/drawing/2014/chart" uri="{C3380CC4-5D6E-409C-BE32-E72D297353CC}">
              <c16:uniqueId val="{00000010-0DAB-4C11-B396-B51421B5DFC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22"/>
          <c:min val="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67167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182104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173099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866527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192506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691744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37652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310804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011138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238139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461339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913168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483964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113956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382099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586609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661833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071568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8403670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531321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6525702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3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D9E75"/>
          </a:solidFill>
          <a:ln w="12700">
            <a:solidFill>
              <a:srgbClr val="1D9E75"/>
            </a:solidFill>
            <a:prstDash val="solid"/>
          </a:ln>
        </p:spPr>
      </p:sp>
      <p:sp>
        <p:nvSpPr>
          <p:cNvPr id="4" name="Shape 2"/>
          <p:cNvSpPr/>
          <p:nvPr/>
        </p:nvSpPr>
        <p:spPr>
          <a:xfrm>
            <a:off x="7132320" y="457200"/>
            <a:ext cx="2926080" cy="2926080"/>
          </a:xfrm>
          <a:prstGeom prst="ellipse">
            <a:avLst/>
          </a:prstGeom>
          <a:solidFill>
            <a:srgbClr val="185FA5">
              <a:alpha val="28000"/>
            </a:srgbClr>
          </a:solidFill>
          <a:ln w="12700">
            <a:solidFill>
              <a:srgbClr val="185FA5">
                <a:alpha val="28000"/>
              </a:srgbClr>
            </a:solidFill>
            <a:prstDash val="solid"/>
          </a:ln>
        </p:spPr>
      </p:sp>
      <p:sp>
        <p:nvSpPr>
          <p:cNvPr id="12" name="Text 10"/>
          <p:cNvSpPr/>
          <p:nvPr/>
        </p:nvSpPr>
        <p:spPr>
          <a:xfrm>
            <a:off x="2148840" y="2971800"/>
            <a:ext cx="1463040" cy="29260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5257800" y="2971800"/>
            <a:ext cx="1463040" cy="29260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583680" y="2971800"/>
            <a:ext cx="1463040" cy="29260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0" name="Picture 19"/>
          <p:cNvPicPr>
            <a:picLocks noChangeAspect="1"/>
          </p:cNvPicPr>
          <p:nvPr/>
        </p:nvPicPr>
        <p:blipFill>
          <a:blip r:embed="rId3"/>
          <a:stretch>
            <a:fillRect/>
          </a:stretch>
        </p:blipFill>
        <p:spPr>
          <a:xfrm>
            <a:off x="713232" y="394733"/>
            <a:ext cx="1365622" cy="1268078"/>
          </a:xfrm>
          <a:prstGeom prst="rect">
            <a:avLst/>
          </a:prstGeom>
        </p:spPr>
      </p:pic>
      <p:pic>
        <p:nvPicPr>
          <p:cNvPr id="21" name="Picture 20"/>
          <p:cNvPicPr>
            <a:picLocks noChangeAspect="1"/>
          </p:cNvPicPr>
          <p:nvPr/>
        </p:nvPicPr>
        <p:blipFill>
          <a:blip r:embed="rId4"/>
          <a:stretch>
            <a:fillRect/>
          </a:stretch>
        </p:blipFill>
        <p:spPr>
          <a:xfrm>
            <a:off x="6290999" y="394733"/>
            <a:ext cx="1682642" cy="1188823"/>
          </a:xfrm>
          <a:prstGeom prst="rect">
            <a:avLst/>
          </a:prstGeom>
        </p:spPr>
      </p:pic>
      <p:sp>
        <p:nvSpPr>
          <p:cNvPr id="24" name="Text 3"/>
          <p:cNvSpPr/>
          <p:nvPr/>
        </p:nvSpPr>
        <p:spPr>
          <a:xfrm>
            <a:off x="3333429" y="3197243"/>
            <a:ext cx="2289572" cy="169277"/>
          </a:xfrm>
          <a:prstGeom prst="rect">
            <a:avLst/>
          </a:prstGeom>
          <a:noFill/>
          <a:ln/>
        </p:spPr>
        <p:txBody>
          <a:bodyPr wrap="square" lIns="0" tIns="0" rIns="0" bIns="0" rtlCol="0" anchor="t">
            <a:spAutoFit/>
          </a:bodyPr>
          <a:lstStyle/>
          <a:p>
            <a:pPr marL="0" indent="0" algn="l">
              <a:buNone/>
            </a:pPr>
            <a:r>
              <a:rPr lang="en-US" sz="1100" dirty="0">
                <a:solidFill>
                  <a:schemeClr val="bg1"/>
                </a:solidFill>
                <a:latin typeface="Montserrat Medium" pitchFamily="34" charset="0"/>
                <a:ea typeface="Montserrat Medium" pitchFamily="34" charset="-122"/>
                <a:cs typeface="Montserrat Medium" pitchFamily="34" charset="-120"/>
              </a:rPr>
              <a:t>Moustafa Shalaby Mahmoud</a:t>
            </a:r>
            <a:endParaRPr lang="en-US" sz="1100" dirty="0">
              <a:solidFill>
                <a:schemeClr val="bg1"/>
              </a:solidFill>
            </a:endParaRPr>
          </a:p>
        </p:txBody>
      </p:sp>
      <p:sp>
        <p:nvSpPr>
          <p:cNvPr id="25" name="Text 6"/>
          <p:cNvSpPr/>
          <p:nvPr/>
        </p:nvSpPr>
        <p:spPr>
          <a:xfrm>
            <a:off x="1099144" y="3193455"/>
            <a:ext cx="1800225" cy="169277"/>
          </a:xfrm>
          <a:prstGeom prst="rect">
            <a:avLst/>
          </a:prstGeom>
          <a:noFill/>
          <a:ln/>
        </p:spPr>
        <p:txBody>
          <a:bodyPr wrap="square" lIns="0" tIns="0" rIns="0" bIns="0" rtlCol="0" anchor="t">
            <a:spAutoFit/>
          </a:bodyPr>
          <a:lstStyle/>
          <a:p>
            <a:pPr marL="0" indent="0" algn="l">
              <a:buNone/>
            </a:pPr>
            <a:r>
              <a:rPr lang="en-US" sz="1100" dirty="0">
                <a:solidFill>
                  <a:schemeClr val="bg1"/>
                </a:solidFill>
                <a:latin typeface="Montserrat Medium" pitchFamily="34" charset="0"/>
                <a:ea typeface="Montserrat Medium" pitchFamily="34" charset="-122"/>
                <a:cs typeface="Montserrat Medium" pitchFamily="34" charset="-120"/>
              </a:rPr>
              <a:t>Seif El-Din Hassona Ali</a:t>
            </a:r>
            <a:endParaRPr lang="en-US" sz="1100" dirty="0">
              <a:solidFill>
                <a:schemeClr val="bg1"/>
              </a:solidFill>
            </a:endParaRPr>
          </a:p>
        </p:txBody>
      </p:sp>
      <p:sp>
        <p:nvSpPr>
          <p:cNvPr id="26" name="Text 12"/>
          <p:cNvSpPr/>
          <p:nvPr/>
        </p:nvSpPr>
        <p:spPr>
          <a:xfrm>
            <a:off x="5922168" y="3200742"/>
            <a:ext cx="2786063" cy="169277"/>
          </a:xfrm>
          <a:prstGeom prst="rect">
            <a:avLst/>
          </a:prstGeom>
          <a:noFill/>
          <a:ln/>
        </p:spPr>
        <p:txBody>
          <a:bodyPr wrap="square" lIns="0" tIns="0" rIns="0" bIns="0" rtlCol="0" anchor="t">
            <a:spAutoFit/>
          </a:bodyPr>
          <a:lstStyle/>
          <a:p>
            <a:pPr marL="0" indent="0" algn="l">
              <a:buNone/>
            </a:pPr>
            <a:r>
              <a:rPr lang="en-US" sz="1100" dirty="0">
                <a:solidFill>
                  <a:schemeClr val="bg1"/>
                </a:solidFill>
                <a:latin typeface="Montserrat Medium" pitchFamily="34" charset="0"/>
                <a:ea typeface="Montserrat Medium" pitchFamily="34" charset="-122"/>
                <a:cs typeface="Montserrat Medium" pitchFamily="34" charset="-120"/>
              </a:rPr>
              <a:t>Mohamed Fouad Abd Elsalam Darwish</a:t>
            </a:r>
            <a:endParaRPr lang="en-US" sz="1100" dirty="0">
              <a:solidFill>
                <a:schemeClr val="bg1"/>
              </a:solidFill>
            </a:endParaRPr>
          </a:p>
        </p:txBody>
      </p:sp>
      <p:sp>
        <p:nvSpPr>
          <p:cNvPr id="27" name="Text 9"/>
          <p:cNvSpPr/>
          <p:nvPr/>
        </p:nvSpPr>
        <p:spPr>
          <a:xfrm>
            <a:off x="1890605" y="3492700"/>
            <a:ext cx="2166342" cy="169277"/>
          </a:xfrm>
          <a:prstGeom prst="rect">
            <a:avLst/>
          </a:prstGeom>
          <a:noFill/>
          <a:ln/>
        </p:spPr>
        <p:txBody>
          <a:bodyPr wrap="square" lIns="0" tIns="0" rIns="0" bIns="0" rtlCol="0" anchor="t">
            <a:spAutoFit/>
          </a:bodyPr>
          <a:lstStyle/>
          <a:p>
            <a:pPr marL="0" indent="0" algn="l">
              <a:buNone/>
            </a:pPr>
            <a:r>
              <a:rPr lang="en-US" sz="1100" dirty="0">
                <a:solidFill>
                  <a:schemeClr val="bg1"/>
                </a:solidFill>
                <a:latin typeface="Montserrat Medium" pitchFamily="34" charset="0"/>
                <a:ea typeface="Montserrat Medium" pitchFamily="34" charset="-122"/>
                <a:cs typeface="Montserrat Medium" pitchFamily="34" charset="-120"/>
              </a:rPr>
              <a:t>Rehab Moustafa Mohamed</a:t>
            </a:r>
            <a:endParaRPr lang="en-US" sz="1100" dirty="0">
              <a:solidFill>
                <a:schemeClr val="bg1"/>
              </a:solidFill>
            </a:endParaRPr>
          </a:p>
        </p:txBody>
      </p:sp>
      <p:sp>
        <p:nvSpPr>
          <p:cNvPr id="28" name="Text 15"/>
          <p:cNvSpPr/>
          <p:nvPr/>
        </p:nvSpPr>
        <p:spPr>
          <a:xfrm>
            <a:off x="4769779" y="3514322"/>
            <a:ext cx="2193131" cy="169277"/>
          </a:xfrm>
          <a:prstGeom prst="rect">
            <a:avLst/>
          </a:prstGeom>
          <a:noFill/>
          <a:ln/>
        </p:spPr>
        <p:txBody>
          <a:bodyPr wrap="square" lIns="0" tIns="0" rIns="0" bIns="0" rtlCol="0" anchor="t">
            <a:spAutoFit/>
          </a:bodyPr>
          <a:lstStyle/>
          <a:p>
            <a:pPr marL="0" indent="0" algn="l">
              <a:buNone/>
            </a:pPr>
            <a:r>
              <a:rPr lang="en-US" sz="1100" dirty="0">
                <a:solidFill>
                  <a:schemeClr val="bg1"/>
                </a:solidFill>
                <a:latin typeface="Montserrat Medium" pitchFamily="34" charset="0"/>
                <a:ea typeface="Montserrat Medium" pitchFamily="34" charset="-122"/>
                <a:cs typeface="Montserrat Medium" pitchFamily="34" charset="-120"/>
              </a:rPr>
              <a:t>Nourhan Hassan Mohamed</a:t>
            </a:r>
            <a:endParaRPr lang="en-US" sz="1100" dirty="0">
              <a:solidFill>
                <a:schemeClr val="bg1"/>
              </a:solidFill>
            </a:endParaRPr>
          </a:p>
        </p:txBody>
      </p:sp>
      <p:sp>
        <p:nvSpPr>
          <p:cNvPr id="29" name="Text 6"/>
          <p:cNvSpPr/>
          <p:nvPr/>
        </p:nvSpPr>
        <p:spPr>
          <a:xfrm>
            <a:off x="3776430" y="2857328"/>
            <a:ext cx="1800225" cy="169277"/>
          </a:xfrm>
          <a:prstGeom prst="rect">
            <a:avLst/>
          </a:prstGeom>
          <a:noFill/>
          <a:ln/>
        </p:spPr>
        <p:txBody>
          <a:bodyPr wrap="square" lIns="0" tIns="0" rIns="0" bIns="0" rtlCol="0" anchor="t">
            <a:spAutoFit/>
          </a:bodyPr>
          <a:lstStyle/>
          <a:p>
            <a:pPr marL="0" indent="0" algn="l">
              <a:buNone/>
            </a:pPr>
            <a:r>
              <a:rPr lang="en-US" sz="1100" dirty="0">
                <a:solidFill>
                  <a:schemeClr val="bg1"/>
                </a:solidFill>
                <a:latin typeface="Montserrat Medium" pitchFamily="34" charset="0"/>
                <a:ea typeface="Montserrat Medium" pitchFamily="34" charset="-122"/>
                <a:cs typeface="Montserrat Medium" pitchFamily="34" charset="-120"/>
              </a:rPr>
              <a:t>Prepared by</a:t>
            </a:r>
            <a:endParaRPr lang="en-US" sz="1100" dirty="0">
              <a:solidFill>
                <a:schemeClr val="bg1"/>
              </a:solidFill>
            </a:endParaRPr>
          </a:p>
        </p:txBody>
      </p:sp>
      <p:sp>
        <p:nvSpPr>
          <p:cNvPr id="30" name="Text 6"/>
          <p:cNvSpPr/>
          <p:nvPr/>
        </p:nvSpPr>
        <p:spPr>
          <a:xfrm>
            <a:off x="3443239" y="3922312"/>
            <a:ext cx="1800225" cy="169277"/>
          </a:xfrm>
          <a:prstGeom prst="rect">
            <a:avLst/>
          </a:prstGeom>
          <a:noFill/>
          <a:ln/>
        </p:spPr>
        <p:txBody>
          <a:bodyPr wrap="square" lIns="0" tIns="0" rIns="0" bIns="0" rtlCol="0" anchor="t">
            <a:spAutoFit/>
          </a:bodyPr>
          <a:lstStyle/>
          <a:p>
            <a:pPr marL="0" indent="0" algn="l">
              <a:buNone/>
            </a:pPr>
            <a:r>
              <a:rPr lang="en-US" sz="1100" dirty="0">
                <a:solidFill>
                  <a:schemeClr val="bg1"/>
                </a:solidFill>
                <a:latin typeface="Montserrat Medium" pitchFamily="34" charset="0"/>
                <a:ea typeface="Montserrat Medium" pitchFamily="34" charset="-122"/>
                <a:cs typeface="Montserrat Medium" pitchFamily="34" charset="-120"/>
              </a:rPr>
              <a:t>Under the supervision of</a:t>
            </a:r>
            <a:endParaRPr lang="en-US" sz="1100" dirty="0">
              <a:solidFill>
                <a:schemeClr val="bg1"/>
              </a:solidFill>
            </a:endParaRPr>
          </a:p>
        </p:txBody>
      </p:sp>
      <p:sp>
        <p:nvSpPr>
          <p:cNvPr id="31" name="Text 6"/>
          <p:cNvSpPr/>
          <p:nvPr/>
        </p:nvSpPr>
        <p:spPr>
          <a:xfrm>
            <a:off x="3709376" y="4267285"/>
            <a:ext cx="1800225" cy="169277"/>
          </a:xfrm>
          <a:prstGeom prst="rect">
            <a:avLst/>
          </a:prstGeom>
          <a:noFill/>
          <a:ln/>
        </p:spPr>
        <p:txBody>
          <a:bodyPr wrap="square" lIns="0" tIns="0" rIns="0" bIns="0" rtlCol="0" anchor="t">
            <a:spAutoFit/>
          </a:bodyPr>
          <a:lstStyle/>
          <a:p>
            <a:pPr marL="0" indent="0" algn="l">
              <a:buNone/>
            </a:pPr>
            <a:r>
              <a:rPr lang="en-US" sz="1100" dirty="0">
                <a:solidFill>
                  <a:schemeClr val="bg1"/>
                </a:solidFill>
                <a:latin typeface="Montserrat Medium" pitchFamily="34" charset="0"/>
                <a:ea typeface="Montserrat Medium" pitchFamily="34" charset="-122"/>
                <a:cs typeface="Montserrat Medium" pitchFamily="34" charset="-120"/>
              </a:rPr>
              <a:t>Dr. Ahmed Ismail</a:t>
            </a:r>
            <a:endParaRPr lang="en-US" sz="1100" dirty="0">
              <a:solidFill>
                <a:schemeClr val="bg1"/>
              </a:solidFill>
            </a:endParaRPr>
          </a:p>
        </p:txBody>
      </p:sp>
      <p:sp>
        <p:nvSpPr>
          <p:cNvPr id="32" name="Text 4"/>
          <p:cNvSpPr/>
          <p:nvPr/>
        </p:nvSpPr>
        <p:spPr>
          <a:xfrm>
            <a:off x="1339843" y="1583556"/>
            <a:ext cx="5690167" cy="9144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b="1" dirty="0">
                <a:solidFill>
                  <a:srgbClr val="FFFFFF"/>
                </a:solidFill>
                <a:latin typeface="Calibri" pitchFamily="34" charset="0"/>
                <a:ea typeface="Calibri" pitchFamily="34" charset="-122"/>
                <a:cs typeface="Calibri" pitchFamily="34" charset="-120"/>
              </a:rPr>
              <a:t>REMOTE WORK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Data</a:t>
            </a:r>
            <a:r>
              <a:rPr kumimoji="0" lang="en-US" sz="3600" b="1" i="0" u="none" strike="noStrike" kern="1200" cap="none" spc="0" normalizeH="0" noProof="0" dirty="0">
                <a:ln>
                  <a:noFill/>
                </a:ln>
                <a:solidFill>
                  <a:srgbClr val="FFFFFF"/>
                </a:solidFill>
                <a:effectLst/>
                <a:uLnTx/>
                <a:uFillTx/>
                <a:latin typeface="Calibri" pitchFamily="34" charset="0"/>
                <a:ea typeface="Calibri" pitchFamily="34" charset="-122"/>
                <a:cs typeface="Calibri" pitchFamily="34" charset="-120"/>
              </a:rPr>
              <a:t> </a:t>
            </a:r>
            <a:r>
              <a:rPr kumimoji="0" lang="en-US" sz="3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Analysis</a:t>
            </a:r>
            <a:endParaRPr kumimoji="0" lang="en-US" sz="3600" b="0" i="0" u="none" strike="noStrike" kern="1200" cap="none" spc="0" normalizeH="0" baseline="0" noProof="0" dirty="0">
              <a:ln>
                <a:noFill/>
              </a:ln>
              <a:solidFill>
                <a:prstClr val="black"/>
              </a:solidFill>
              <a:effectLst/>
              <a:uLnTx/>
              <a:uFillTx/>
              <a:latin typeface="Calibri" panose="020F0502020204030204"/>
            </a:endParaRPr>
          </a:p>
        </p:txBody>
      </p:sp>
    </p:spTree>
    <p:extLst>
      <p:ext uri="{BB962C8B-B14F-4D97-AF65-F5344CB8AC3E}">
        <p14:creationId xmlns:p14="http://schemas.microsoft.com/office/powerpoint/2010/main" val="1505804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D9E75"/>
          </a:solidFill>
          <a:ln w="12700">
            <a:solidFill>
              <a:srgbClr val="1D9E75"/>
            </a:solidFill>
            <a:prstDash val="solid"/>
          </a:ln>
        </p:spPr>
      </p:sp>
      <p:sp>
        <p:nvSpPr>
          <p:cNvPr id="4" name="Shape 2"/>
          <p:cNvSpPr/>
          <p:nvPr/>
        </p:nvSpPr>
        <p:spPr>
          <a:xfrm>
            <a:off x="7132320" y="457200"/>
            <a:ext cx="2926080" cy="2926080"/>
          </a:xfrm>
          <a:prstGeom prst="ellipse">
            <a:avLst/>
          </a:prstGeom>
          <a:solidFill>
            <a:srgbClr val="185FA5">
              <a:alpha val="28000"/>
            </a:srgbClr>
          </a:solidFill>
          <a:ln w="12700">
            <a:solidFill>
              <a:srgbClr val="185FA5">
                <a:alpha val="28000"/>
              </a:srgbClr>
            </a:solidFill>
            <a:prstDash val="solid"/>
          </a:ln>
        </p:spPr>
      </p:sp>
      <p:sp>
        <p:nvSpPr>
          <p:cNvPr id="3" name="Rectangle 2"/>
          <p:cNvSpPr/>
          <p:nvPr/>
        </p:nvSpPr>
        <p:spPr>
          <a:xfrm>
            <a:off x="803069" y="360223"/>
            <a:ext cx="6265422" cy="1938992"/>
          </a:xfrm>
          <a:prstGeom prst="rect">
            <a:avLst/>
          </a:prstGeom>
        </p:spPr>
        <p:txBody>
          <a:bodyPr wrap="square">
            <a:spAutoFit/>
          </a:bodyPr>
          <a:lstStyle/>
          <a:p>
            <a:pPr algn="ctr"/>
            <a:endParaRPr lang="ar-AE" sz="2400" b="1" dirty="0">
              <a:solidFill>
                <a:schemeClr val="bg1"/>
              </a:solidFill>
              <a:latin typeface="Arabic Typesetting" panose="03020402040406030203" pitchFamily="66" charset="-78"/>
              <a:cs typeface="Arabic Typesetting" panose="03020402040406030203" pitchFamily="66" charset="-78"/>
            </a:endParaRPr>
          </a:p>
          <a:p>
            <a:pPr algn="ctr"/>
            <a:r>
              <a:rPr lang="ar-AE" sz="2400" b="1" dirty="0">
                <a:solidFill>
                  <a:schemeClr val="bg1"/>
                </a:solidFill>
                <a:latin typeface="Arabic Typesetting" panose="03020402040406030203" pitchFamily="66" charset="-78"/>
                <a:cs typeface="Arabic Typesetting" panose="03020402040406030203" pitchFamily="66" charset="-78"/>
              </a:rPr>
              <a:t>في هذه الدراسة، تركنا الأرقام تتحدث. وكانت الرسالة واضحة: العمل عن بُعد لم يعد مجرد مرونة إضافية، بل فرصة حقيقية تحقق فوائد اقتصادية وتشغيلية وبيئية للمؤسسات والمجتمع. ومن هنا، ندعو إلى تبني نهج قائم على البيانات والأدلة عند صياغة سياسات العمل المستقبلية، بما يحقق التوازن بين الإنتاجية وجودة الحياة ومتطلبات المستقبل.</a:t>
            </a:r>
            <a:endParaRPr lang="ar-AE" sz="2400" dirty="0">
              <a:solidFill>
                <a:schemeClr val="bg1"/>
              </a:solidFill>
              <a:latin typeface="Arabic Typesetting" panose="03020402040406030203" pitchFamily="66" charset="-78"/>
              <a:cs typeface="Arabic Typesetting" panose="03020402040406030203" pitchFamily="66" charset="-78"/>
            </a:endParaRPr>
          </a:p>
        </p:txBody>
      </p:sp>
      <p:sp>
        <p:nvSpPr>
          <p:cNvPr id="5" name="Rectangle 4"/>
          <p:cNvSpPr/>
          <p:nvPr/>
        </p:nvSpPr>
        <p:spPr>
          <a:xfrm>
            <a:off x="841367" y="2762353"/>
            <a:ext cx="6163294" cy="1815882"/>
          </a:xfrm>
          <a:prstGeom prst="rect">
            <a:avLst/>
          </a:prstGeom>
        </p:spPr>
        <p:txBody>
          <a:bodyPr wrap="square">
            <a:spAutoFit/>
          </a:bodyPr>
          <a:lstStyle/>
          <a:p>
            <a:pPr algn="ctr"/>
            <a:r>
              <a:rPr lang="en-GB" sz="1600" dirty="0">
                <a:solidFill>
                  <a:schemeClr val="bg1"/>
                </a:solidFill>
              </a:rPr>
              <a:t>In this study, we let the numbers speak—and the message was clear: remote work is more than a flexible option; it is a practical model that creates real value for employees, organizations, and society. We therefore encourage policymakers and business leaders to rely on data-driven research when shaping future work policies, ensuring a better balance between productivity, quality of life, and the needs of the future workforce.</a:t>
            </a:r>
          </a:p>
        </p:txBody>
      </p:sp>
      <p:sp>
        <p:nvSpPr>
          <p:cNvPr id="22" name="Shape 11"/>
          <p:cNvSpPr/>
          <p:nvPr/>
        </p:nvSpPr>
        <p:spPr>
          <a:xfrm>
            <a:off x="3218807" y="2487168"/>
            <a:ext cx="1298448" cy="0"/>
          </a:xfrm>
          <a:prstGeom prst="line">
            <a:avLst/>
          </a:prstGeom>
          <a:noFill/>
          <a:ln w="9525">
            <a:solidFill>
              <a:srgbClr val="BA7517"/>
            </a:solidFill>
            <a:prstDash val="solid"/>
          </a:ln>
        </p:spPr>
      </p:sp>
    </p:spTree>
    <p:extLst>
      <p:ext uri="{BB962C8B-B14F-4D97-AF65-F5344CB8AC3E}">
        <p14:creationId xmlns:p14="http://schemas.microsoft.com/office/powerpoint/2010/main" val="21691713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D9E75"/>
          </a:solidFill>
          <a:ln w="12700">
            <a:solidFill>
              <a:srgbClr val="1D9E75"/>
            </a:solidFill>
            <a:prstDash val="solid"/>
          </a:ln>
        </p:spPr>
      </p:sp>
      <p:sp>
        <p:nvSpPr>
          <p:cNvPr id="3" name="Shape 1"/>
          <p:cNvSpPr/>
          <p:nvPr/>
        </p:nvSpPr>
        <p:spPr>
          <a:xfrm>
            <a:off x="6035040" y="-1280160"/>
            <a:ext cx="5486400" cy="5486400"/>
          </a:xfrm>
          <a:prstGeom prst="ellipse">
            <a:avLst/>
          </a:prstGeom>
          <a:solidFill>
            <a:srgbClr val="2D3A8C">
              <a:alpha val="45000"/>
            </a:srgbClr>
          </a:solidFill>
          <a:ln w="12700">
            <a:solidFill>
              <a:srgbClr val="2D3A8C">
                <a:alpha val="45000"/>
              </a:srgbClr>
            </a:solidFill>
            <a:prstDash val="solid"/>
          </a:ln>
        </p:spPr>
      </p:sp>
      <p:sp>
        <p:nvSpPr>
          <p:cNvPr id="4" name="Shape 2"/>
          <p:cNvSpPr/>
          <p:nvPr/>
        </p:nvSpPr>
        <p:spPr>
          <a:xfrm>
            <a:off x="7002780" y="368808"/>
            <a:ext cx="2926080" cy="2926080"/>
          </a:xfrm>
          <a:prstGeom prst="ellipse">
            <a:avLst/>
          </a:prstGeom>
          <a:solidFill>
            <a:srgbClr val="185FA5">
              <a:alpha val="28000"/>
            </a:srgbClr>
          </a:solidFill>
          <a:ln w="12700">
            <a:solidFill>
              <a:srgbClr val="185FA5">
                <a:alpha val="28000"/>
              </a:srgbClr>
            </a:solidFill>
            <a:prstDash val="solid"/>
          </a:ln>
        </p:spPr>
      </p:sp>
      <p:sp>
        <p:nvSpPr>
          <p:cNvPr id="5" name="Text 3"/>
          <p:cNvSpPr/>
          <p:nvPr/>
        </p:nvSpPr>
        <p:spPr>
          <a:xfrm>
            <a:off x="411480" y="914400"/>
            <a:ext cx="640080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411480" y="1325880"/>
            <a:ext cx="7315200" cy="9144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Data Analysis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478536" y="3691128"/>
            <a:ext cx="1828800" cy="22860"/>
          </a:xfrm>
          <a:prstGeom prst="rect">
            <a:avLst/>
          </a:prstGeom>
          <a:solidFill>
            <a:srgbClr val="1D9E75"/>
          </a:solidFill>
          <a:ln w="12700">
            <a:solidFill>
              <a:srgbClr val="1D9E75"/>
            </a:solidFill>
            <a:prstDash val="solid"/>
          </a:ln>
        </p:spPr>
      </p:sp>
      <p:sp>
        <p:nvSpPr>
          <p:cNvPr id="10" name="Text 8"/>
          <p:cNvSpPr/>
          <p:nvPr/>
        </p:nvSpPr>
        <p:spPr>
          <a:xfrm>
            <a:off x="411480" y="2971800"/>
            <a:ext cx="1463040" cy="29260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10 Industries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2148840" y="2971800"/>
            <a:ext cx="1463040" cy="29260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30 Variables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3703320" y="2971800"/>
            <a:ext cx="1463040" cy="29260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Star Schema</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5257800" y="2971800"/>
            <a:ext cx="1463040" cy="29260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 BI Tools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583680" y="2971800"/>
            <a:ext cx="1463040" cy="29260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Rectangle 18"/>
          <p:cNvSpPr/>
          <p:nvPr/>
        </p:nvSpPr>
        <p:spPr>
          <a:xfrm>
            <a:off x="256032" y="914400"/>
            <a:ext cx="5693664" cy="2585323"/>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We sincerely thank the Digital Egypt Pioneers Initiative </a:t>
            </a: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(DEPI) </a:t>
            </a: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for providing us with this valuable learning opportunity and supporting our professional development.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We also extend our heartfelt gratitude to </a:t>
            </a:r>
            <a:r>
              <a:rPr kumimoji="0" lang="en-GB" sz="1800" b="1" i="0" u="none" strike="noStrike" kern="1200" cap="none" spc="0" normalizeH="0" baseline="0" noProof="0" dirty="0" err="1">
                <a:ln>
                  <a:noFill/>
                </a:ln>
                <a:solidFill>
                  <a:prstClr val="black"/>
                </a:solidFill>
                <a:effectLst/>
                <a:uLnTx/>
                <a:uFillTx/>
                <a:latin typeface="Calibri" panose="020F0502020204030204"/>
                <a:ea typeface="+mn-ea"/>
                <a:cs typeface="+mn-cs"/>
              </a:rPr>
              <a:t>Dr.</a:t>
            </a: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 Ahmed Ismail </a:t>
            </a: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our technical instructor, for his guidance, dedication, and continuous support throughout this project, as well as to all instructors and mentors whose efforts and commitment have enriched our learning journey.</a:t>
            </a:r>
          </a:p>
        </p:txBody>
      </p:sp>
      <p:sp>
        <p:nvSpPr>
          <p:cNvPr id="20" name="Text 6"/>
          <p:cNvSpPr/>
          <p:nvPr/>
        </p:nvSpPr>
        <p:spPr>
          <a:xfrm>
            <a:off x="6163056" y="1352193"/>
            <a:ext cx="3514344" cy="430887"/>
          </a:xfrm>
          <a:prstGeom prst="rect">
            <a:avLst/>
          </a:prstGeom>
          <a:noFill/>
          <a:ln/>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Montserrat Medium" pitchFamily="34" charset="0"/>
                <a:ea typeface="Montserrat Medium" pitchFamily="34" charset="-122"/>
                <a:cs typeface="Montserrat Medium" pitchFamily="34" charset="-120"/>
              </a:rPr>
              <a:t>Acknowledgments</a:t>
            </a:r>
            <a:endParaRPr kumimoji="0" lang="en-US" sz="2800" b="1" i="0" u="none" strike="noStrike" kern="1200" cap="none" spc="0" normalizeH="0" baseline="0" noProof="0" dirty="0">
              <a:ln>
                <a:noFill/>
              </a:ln>
              <a:solidFill>
                <a:prstClr val="white"/>
              </a:solidFill>
              <a:effectLst/>
              <a:uLnTx/>
              <a:uFillTx/>
              <a:latin typeface="Calibri" panose="020F0502020204030204"/>
            </a:endParaRPr>
          </a:p>
        </p:txBody>
      </p:sp>
    </p:spTree>
    <p:extLst>
      <p:ext uri="{BB962C8B-B14F-4D97-AF65-F5344CB8AC3E}">
        <p14:creationId xmlns:p14="http://schemas.microsoft.com/office/powerpoint/2010/main" val="902612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D9E75"/>
          </a:solidFill>
          <a:ln w="12700">
            <a:solidFill>
              <a:srgbClr val="1D9E75"/>
            </a:solidFill>
            <a:prstDash val="solid"/>
          </a:ln>
        </p:spPr>
      </p:sp>
      <p:sp>
        <p:nvSpPr>
          <p:cNvPr id="3" name="Shape 1"/>
          <p:cNvSpPr/>
          <p:nvPr/>
        </p:nvSpPr>
        <p:spPr>
          <a:xfrm>
            <a:off x="6035040" y="-1280160"/>
            <a:ext cx="5486400" cy="5486400"/>
          </a:xfrm>
          <a:prstGeom prst="ellipse">
            <a:avLst/>
          </a:prstGeom>
          <a:solidFill>
            <a:srgbClr val="2D3A8C">
              <a:alpha val="45000"/>
            </a:srgbClr>
          </a:solidFill>
          <a:ln w="12700">
            <a:solidFill>
              <a:srgbClr val="2D3A8C">
                <a:alpha val="45000"/>
              </a:srgbClr>
            </a:solidFill>
            <a:prstDash val="solid"/>
          </a:ln>
        </p:spPr>
      </p:sp>
      <p:sp>
        <p:nvSpPr>
          <p:cNvPr id="4" name="Shape 2"/>
          <p:cNvSpPr/>
          <p:nvPr/>
        </p:nvSpPr>
        <p:spPr>
          <a:xfrm>
            <a:off x="7132320" y="457200"/>
            <a:ext cx="2926080" cy="2926080"/>
          </a:xfrm>
          <a:prstGeom prst="ellipse">
            <a:avLst/>
          </a:prstGeom>
          <a:solidFill>
            <a:srgbClr val="185FA5">
              <a:alpha val="28000"/>
            </a:srgbClr>
          </a:solidFill>
          <a:ln w="12700">
            <a:solidFill>
              <a:srgbClr val="185FA5">
                <a:alpha val="28000"/>
              </a:srgbClr>
            </a:solidFill>
            <a:prstDash val="solid"/>
          </a:ln>
        </p:spPr>
      </p:sp>
      <p:sp>
        <p:nvSpPr>
          <p:cNvPr id="5" name="Text 3"/>
          <p:cNvSpPr/>
          <p:nvPr/>
        </p:nvSpPr>
        <p:spPr>
          <a:xfrm>
            <a:off x="411480" y="914400"/>
            <a:ext cx="640080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0" cap="none" spc="600" normalizeH="0" baseline="0" noProof="0" dirty="0">
                <a:ln>
                  <a:noFill/>
                </a:ln>
                <a:solidFill>
                  <a:srgbClr val="1D9E75"/>
                </a:solidFill>
                <a:effectLst/>
                <a:uLnTx/>
                <a:uFillTx/>
                <a:latin typeface="Calibri" pitchFamily="34" charset="0"/>
                <a:ea typeface="Calibri" pitchFamily="34" charset="-122"/>
                <a:cs typeface="Calibri" pitchFamily="34" charset="-120"/>
              </a:rPr>
              <a:t>REMOTE WORK</a:t>
            </a:r>
            <a:endParaRPr kumimoji="0" lang="en-US" sz="4000" b="0" i="0" u="none" strike="noStrike" kern="1200" cap="none" spc="0" normalizeH="0" baseline="0" noProof="0" dirty="0">
              <a:ln>
                <a:noFill/>
              </a:ln>
              <a:solidFill>
                <a:prstClr val="black"/>
              </a:solidFill>
              <a:effectLst/>
              <a:uLnTx/>
              <a:uFillTx/>
              <a:latin typeface="Calibri" panose="020F0502020204030204"/>
            </a:endParaRPr>
          </a:p>
        </p:txBody>
      </p:sp>
      <p:sp>
        <p:nvSpPr>
          <p:cNvPr id="6" name="Text 4"/>
          <p:cNvSpPr/>
          <p:nvPr/>
        </p:nvSpPr>
        <p:spPr>
          <a:xfrm>
            <a:off x="411480" y="1325880"/>
            <a:ext cx="7315200" cy="9144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Data Analysis</a:t>
            </a:r>
            <a:endParaRPr kumimoji="0" lang="en-US" sz="1200" b="0" i="0" u="none" strike="noStrike" kern="1200" cap="none" spc="0" normalizeH="0" baseline="0" noProof="0" dirty="0">
              <a:ln>
                <a:noFill/>
              </a:ln>
              <a:solidFill>
                <a:prstClr val="black"/>
              </a:solidFill>
              <a:effectLst/>
              <a:uLnTx/>
              <a:uFillTx/>
              <a:latin typeface="Calibri" panose="020F0502020204030204"/>
            </a:endParaRPr>
          </a:p>
        </p:txBody>
      </p:sp>
      <p:sp>
        <p:nvSpPr>
          <p:cNvPr id="7" name="Text 5"/>
          <p:cNvSpPr/>
          <p:nvPr/>
        </p:nvSpPr>
        <p:spPr>
          <a:xfrm>
            <a:off x="411480" y="2267712"/>
            <a:ext cx="6858000"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1"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Evidence-Based Insights from 1,500 Remote Employees Across 10 Industries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411480" y="2788920"/>
            <a:ext cx="1828800" cy="22860"/>
          </a:xfrm>
          <a:prstGeom prst="rect">
            <a:avLst/>
          </a:prstGeom>
          <a:solidFill>
            <a:srgbClr val="1D9E75"/>
          </a:solidFill>
          <a:ln w="12700">
            <a:solidFill>
              <a:srgbClr val="1D9E75"/>
            </a:solidFill>
            <a:prstDash val="solid"/>
          </a:ln>
        </p:spPr>
      </p:sp>
      <p:sp>
        <p:nvSpPr>
          <p:cNvPr id="9" name="Shape 7"/>
          <p:cNvSpPr/>
          <p:nvPr/>
        </p:nvSpPr>
        <p:spPr>
          <a:xfrm>
            <a:off x="411480" y="2971800"/>
            <a:ext cx="1463040" cy="292608"/>
          </a:xfrm>
          <a:prstGeom prst="rect">
            <a:avLst/>
          </a:prstGeom>
          <a:solidFill>
            <a:srgbClr val="2D3A8C"/>
          </a:solidFill>
          <a:ln w="12700">
            <a:solidFill>
              <a:srgbClr val="185FA5"/>
            </a:solidFill>
            <a:prstDash val="solid"/>
          </a:ln>
        </p:spPr>
      </p:sp>
      <p:sp>
        <p:nvSpPr>
          <p:cNvPr id="10" name="Text 8"/>
          <p:cNvSpPr/>
          <p:nvPr/>
        </p:nvSpPr>
        <p:spPr>
          <a:xfrm>
            <a:off x="411480" y="2971800"/>
            <a:ext cx="1463040" cy="29260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10 Industries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2148840" y="2971800"/>
            <a:ext cx="1463040" cy="292608"/>
          </a:xfrm>
          <a:prstGeom prst="rect">
            <a:avLst/>
          </a:prstGeom>
          <a:solidFill>
            <a:srgbClr val="2D3A8C"/>
          </a:solidFill>
          <a:ln w="12700">
            <a:solidFill>
              <a:srgbClr val="185FA5"/>
            </a:solidFill>
            <a:prstDash val="solid"/>
          </a:ln>
        </p:spPr>
      </p:sp>
      <p:sp>
        <p:nvSpPr>
          <p:cNvPr id="12" name="Text 10"/>
          <p:cNvSpPr/>
          <p:nvPr/>
        </p:nvSpPr>
        <p:spPr>
          <a:xfrm>
            <a:off x="2148840" y="2971800"/>
            <a:ext cx="1463040" cy="29260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30 Variables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3703320" y="2971800"/>
            <a:ext cx="1463040" cy="292608"/>
          </a:xfrm>
          <a:prstGeom prst="rect">
            <a:avLst/>
          </a:prstGeom>
          <a:solidFill>
            <a:srgbClr val="2D3A8C"/>
          </a:solidFill>
          <a:ln w="12700">
            <a:solidFill>
              <a:srgbClr val="185FA5"/>
            </a:solidFill>
            <a:prstDash val="solid"/>
          </a:ln>
        </p:spPr>
      </p:sp>
      <p:sp>
        <p:nvSpPr>
          <p:cNvPr id="14" name="Text 12"/>
          <p:cNvSpPr/>
          <p:nvPr/>
        </p:nvSpPr>
        <p:spPr>
          <a:xfrm>
            <a:off x="3703320" y="2971800"/>
            <a:ext cx="1463040" cy="29260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Star Schema</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5257800" y="2971800"/>
            <a:ext cx="1463040" cy="292608"/>
          </a:xfrm>
          <a:prstGeom prst="rect">
            <a:avLst/>
          </a:prstGeom>
          <a:solidFill>
            <a:srgbClr val="2D3A8C"/>
          </a:solidFill>
          <a:ln w="12700">
            <a:solidFill>
              <a:srgbClr val="185FA5"/>
            </a:solidFill>
            <a:prstDash val="solid"/>
          </a:ln>
        </p:spPr>
      </p:sp>
      <p:sp>
        <p:nvSpPr>
          <p:cNvPr id="16" name="Text 14"/>
          <p:cNvSpPr/>
          <p:nvPr/>
        </p:nvSpPr>
        <p:spPr>
          <a:xfrm>
            <a:off x="5257800" y="2971800"/>
            <a:ext cx="1463040" cy="29260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 BI Tools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6583680" y="2971800"/>
            <a:ext cx="1463040" cy="292608"/>
          </a:xfrm>
          <a:prstGeom prst="rect">
            <a:avLst/>
          </a:prstGeom>
          <a:solidFill>
            <a:srgbClr val="2D3A8C"/>
          </a:solidFill>
          <a:ln w="12700">
            <a:solidFill>
              <a:srgbClr val="185FA5"/>
            </a:solidFill>
            <a:prstDash val="solid"/>
          </a:ln>
        </p:spPr>
      </p:sp>
      <p:sp>
        <p:nvSpPr>
          <p:cNvPr id="18" name="Text 16"/>
          <p:cNvSpPr/>
          <p:nvPr/>
        </p:nvSpPr>
        <p:spPr>
          <a:xfrm>
            <a:off x="6583680" y="2971800"/>
            <a:ext cx="1463040" cy="29260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Graduation Project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79749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Shape 1"/>
          <p:cNvSpPr/>
          <p:nvPr/>
        </p:nvSpPr>
        <p:spPr>
          <a:xfrm>
            <a:off x="0" y="0"/>
            <a:ext cx="109728" cy="777240"/>
          </a:xfrm>
          <a:prstGeom prst="rect">
            <a:avLst/>
          </a:prstGeom>
          <a:solidFill>
            <a:srgbClr val="1D9E75"/>
          </a:solidFill>
          <a:ln w="12700">
            <a:solidFill>
              <a:srgbClr val="1D9E75"/>
            </a:solidFill>
            <a:prstDash val="solid"/>
          </a:ln>
        </p:spPr>
      </p:sp>
      <p:sp>
        <p:nvSpPr>
          <p:cNvPr id="4" name="Text 2"/>
          <p:cNvSpPr/>
          <p:nvPr/>
        </p:nvSpPr>
        <p:spPr>
          <a:xfrm>
            <a:off x="274320" y="0"/>
            <a:ext cx="8686800" cy="7772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Table of Contents</a:t>
            </a:r>
            <a:endParaRPr lang="en-US" sz="2200" dirty="0"/>
          </a:p>
        </p:txBody>
      </p:sp>
      <p:sp>
        <p:nvSpPr>
          <p:cNvPr id="5" name="Shape 3"/>
          <p:cNvSpPr/>
          <p:nvPr/>
        </p:nvSpPr>
        <p:spPr>
          <a:xfrm>
            <a:off x="0" y="4892040"/>
            <a:ext cx="9144000" cy="251460"/>
          </a:xfrm>
          <a:prstGeom prst="rect">
            <a:avLst/>
          </a:prstGeom>
          <a:solidFill>
            <a:srgbClr val="1E2761"/>
          </a:solidFill>
          <a:ln w="12700">
            <a:solidFill>
              <a:srgbClr val="1E2761"/>
            </a:solidFill>
            <a:prstDash val="solid"/>
          </a:ln>
        </p:spPr>
      </p:sp>
      <p:sp>
        <p:nvSpPr>
          <p:cNvPr id="6" name="Text 4"/>
          <p:cNvSpPr/>
          <p:nvPr/>
        </p:nvSpPr>
        <p:spPr>
          <a:xfrm>
            <a:off x="0" y="4892040"/>
            <a:ext cx="9144000" cy="251460"/>
          </a:xfrm>
          <a:prstGeom prst="rect">
            <a:avLst/>
          </a:prstGeom>
          <a:noFill/>
          <a:ln/>
        </p:spPr>
        <p:txBody>
          <a:bodyPr wrap="square"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Remote Work Productivity Analysis  ·  Slide 2 of 26</a:t>
            </a:r>
            <a:endParaRPr lang="en-US" sz="800" dirty="0"/>
          </a:p>
        </p:txBody>
      </p:sp>
      <p:sp>
        <p:nvSpPr>
          <p:cNvPr id="7" name="Shape 5"/>
          <p:cNvSpPr/>
          <p:nvPr/>
        </p:nvSpPr>
        <p:spPr>
          <a:xfrm>
            <a:off x="228600" y="932688"/>
            <a:ext cx="4315968" cy="621792"/>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8" name="Shape 6"/>
          <p:cNvSpPr/>
          <p:nvPr/>
        </p:nvSpPr>
        <p:spPr>
          <a:xfrm>
            <a:off x="228600" y="932688"/>
            <a:ext cx="4315968" cy="54864"/>
          </a:xfrm>
          <a:prstGeom prst="rect">
            <a:avLst/>
          </a:prstGeom>
          <a:solidFill>
            <a:srgbClr val="185FA5"/>
          </a:solidFill>
          <a:ln w="12700">
            <a:solidFill>
              <a:srgbClr val="185FA5"/>
            </a:solidFill>
            <a:prstDash val="solid"/>
          </a:ln>
        </p:spPr>
      </p:sp>
      <p:sp>
        <p:nvSpPr>
          <p:cNvPr id="9" name="Shape 7"/>
          <p:cNvSpPr/>
          <p:nvPr/>
        </p:nvSpPr>
        <p:spPr>
          <a:xfrm>
            <a:off x="228600" y="932688"/>
            <a:ext cx="475488" cy="621792"/>
          </a:xfrm>
          <a:prstGeom prst="rect">
            <a:avLst/>
          </a:prstGeom>
          <a:solidFill>
            <a:srgbClr val="185FA5"/>
          </a:solidFill>
          <a:ln w="12700">
            <a:solidFill>
              <a:srgbClr val="185FA5"/>
            </a:solidFill>
            <a:prstDash val="solid"/>
          </a:ln>
        </p:spPr>
      </p:sp>
      <p:sp>
        <p:nvSpPr>
          <p:cNvPr id="10" name="Text 8"/>
          <p:cNvSpPr/>
          <p:nvPr/>
        </p:nvSpPr>
        <p:spPr>
          <a:xfrm>
            <a:off x="228600" y="932688"/>
            <a:ext cx="475488" cy="62179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11" name="Text 9"/>
          <p:cNvSpPr/>
          <p:nvPr/>
        </p:nvSpPr>
        <p:spPr>
          <a:xfrm>
            <a:off x="758952" y="996696"/>
            <a:ext cx="3246120" cy="237744"/>
          </a:xfrm>
          <a:prstGeom prst="rect">
            <a:avLst/>
          </a:prstGeom>
          <a:noFill/>
          <a:ln/>
        </p:spPr>
        <p:txBody>
          <a:bodyPr wrap="square"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Project Overview</a:t>
            </a:r>
            <a:endParaRPr lang="en-US" sz="1100" dirty="0"/>
          </a:p>
        </p:txBody>
      </p:sp>
      <p:sp>
        <p:nvSpPr>
          <p:cNvPr id="12" name="Text 10"/>
          <p:cNvSpPr/>
          <p:nvPr/>
        </p:nvSpPr>
        <p:spPr>
          <a:xfrm>
            <a:off x="758952" y="1243584"/>
            <a:ext cx="3017520" cy="237744"/>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Background, purpose, and scope of the study</a:t>
            </a:r>
            <a:endParaRPr lang="en-US" sz="850" dirty="0"/>
          </a:p>
        </p:txBody>
      </p:sp>
      <p:sp>
        <p:nvSpPr>
          <p:cNvPr id="13" name="Text 11"/>
          <p:cNvSpPr/>
          <p:nvPr/>
        </p:nvSpPr>
        <p:spPr>
          <a:xfrm>
            <a:off x="3776472" y="1243584"/>
            <a:ext cx="694944" cy="237744"/>
          </a:xfrm>
          <a:prstGeom prst="rect">
            <a:avLst/>
          </a:prstGeom>
          <a:noFill/>
          <a:ln/>
        </p:spPr>
        <p:txBody>
          <a:bodyPr wrap="square" rtlCol="0" anchor="ctr"/>
          <a:lstStyle/>
          <a:p>
            <a:pPr marL="0" indent="0" algn="r">
              <a:buNone/>
            </a:pPr>
            <a:r>
              <a:rPr lang="en-US" sz="800" b="1" dirty="0">
                <a:solidFill>
                  <a:srgbClr val="185FA5"/>
                </a:solidFill>
                <a:latin typeface="Calibri" pitchFamily="34" charset="0"/>
                <a:ea typeface="Calibri" pitchFamily="34" charset="-122"/>
                <a:cs typeface="Calibri" pitchFamily="34" charset="-120"/>
              </a:rPr>
              <a:t>Slide 3–4</a:t>
            </a:r>
            <a:endParaRPr lang="en-US" sz="800" dirty="0"/>
          </a:p>
        </p:txBody>
      </p:sp>
      <p:sp>
        <p:nvSpPr>
          <p:cNvPr id="14" name="Shape 12"/>
          <p:cNvSpPr/>
          <p:nvPr/>
        </p:nvSpPr>
        <p:spPr>
          <a:xfrm>
            <a:off x="4690872" y="932688"/>
            <a:ext cx="4315968" cy="621792"/>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15" name="Shape 13"/>
          <p:cNvSpPr/>
          <p:nvPr/>
        </p:nvSpPr>
        <p:spPr>
          <a:xfrm>
            <a:off x="4690872" y="932688"/>
            <a:ext cx="4315968" cy="54864"/>
          </a:xfrm>
          <a:prstGeom prst="rect">
            <a:avLst/>
          </a:prstGeom>
          <a:solidFill>
            <a:srgbClr val="1D9E75"/>
          </a:solidFill>
          <a:ln w="12700">
            <a:solidFill>
              <a:srgbClr val="1D9E75"/>
            </a:solidFill>
            <a:prstDash val="solid"/>
          </a:ln>
        </p:spPr>
      </p:sp>
      <p:sp>
        <p:nvSpPr>
          <p:cNvPr id="16" name="Shape 14"/>
          <p:cNvSpPr/>
          <p:nvPr/>
        </p:nvSpPr>
        <p:spPr>
          <a:xfrm>
            <a:off x="4690872" y="932688"/>
            <a:ext cx="475488" cy="621792"/>
          </a:xfrm>
          <a:prstGeom prst="rect">
            <a:avLst/>
          </a:prstGeom>
          <a:solidFill>
            <a:srgbClr val="1D9E75"/>
          </a:solidFill>
          <a:ln w="12700">
            <a:solidFill>
              <a:srgbClr val="1D9E75"/>
            </a:solidFill>
            <a:prstDash val="solid"/>
          </a:ln>
        </p:spPr>
      </p:sp>
      <p:sp>
        <p:nvSpPr>
          <p:cNvPr id="17" name="Text 15"/>
          <p:cNvSpPr/>
          <p:nvPr/>
        </p:nvSpPr>
        <p:spPr>
          <a:xfrm>
            <a:off x="4690872" y="932688"/>
            <a:ext cx="475488" cy="62179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8" name="Text 16"/>
          <p:cNvSpPr/>
          <p:nvPr/>
        </p:nvSpPr>
        <p:spPr>
          <a:xfrm>
            <a:off x="5221224" y="996696"/>
            <a:ext cx="3246120" cy="237744"/>
          </a:xfrm>
          <a:prstGeom prst="rect">
            <a:avLst/>
          </a:prstGeom>
          <a:noFill/>
          <a:ln/>
        </p:spPr>
        <p:txBody>
          <a:bodyPr wrap="square"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Database Overview</a:t>
            </a:r>
            <a:endParaRPr lang="en-US" sz="1100" dirty="0"/>
          </a:p>
        </p:txBody>
      </p:sp>
      <p:sp>
        <p:nvSpPr>
          <p:cNvPr id="19" name="Text 17"/>
          <p:cNvSpPr/>
          <p:nvPr/>
        </p:nvSpPr>
        <p:spPr>
          <a:xfrm>
            <a:off x="5221224" y="1243584"/>
            <a:ext cx="3017520" cy="237744"/>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Star schema design, tables, and relationships</a:t>
            </a:r>
            <a:endParaRPr lang="en-US" sz="850" dirty="0"/>
          </a:p>
        </p:txBody>
      </p:sp>
      <p:sp>
        <p:nvSpPr>
          <p:cNvPr id="20" name="Text 18"/>
          <p:cNvSpPr/>
          <p:nvPr/>
        </p:nvSpPr>
        <p:spPr>
          <a:xfrm>
            <a:off x="8238744" y="1243584"/>
            <a:ext cx="694944" cy="237744"/>
          </a:xfrm>
          <a:prstGeom prst="rect">
            <a:avLst/>
          </a:prstGeom>
          <a:noFill/>
          <a:ln/>
        </p:spPr>
        <p:txBody>
          <a:bodyPr wrap="square" rtlCol="0" anchor="ctr"/>
          <a:lstStyle/>
          <a:p>
            <a:pPr marL="0" indent="0" algn="r">
              <a:buNone/>
            </a:pPr>
            <a:r>
              <a:rPr lang="en-US" sz="800" b="1" dirty="0">
                <a:solidFill>
                  <a:srgbClr val="1D9E75"/>
                </a:solidFill>
                <a:latin typeface="Calibri" pitchFamily="34" charset="0"/>
                <a:ea typeface="Calibri" pitchFamily="34" charset="-122"/>
                <a:cs typeface="Calibri" pitchFamily="34" charset="-120"/>
              </a:rPr>
              <a:t>Slide 5–6</a:t>
            </a:r>
            <a:endParaRPr lang="en-US" sz="800" dirty="0"/>
          </a:p>
        </p:txBody>
      </p:sp>
      <p:sp>
        <p:nvSpPr>
          <p:cNvPr id="21" name="Shape 19"/>
          <p:cNvSpPr/>
          <p:nvPr/>
        </p:nvSpPr>
        <p:spPr>
          <a:xfrm>
            <a:off x="228600" y="1636776"/>
            <a:ext cx="4315968" cy="621792"/>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22" name="Shape 20"/>
          <p:cNvSpPr/>
          <p:nvPr/>
        </p:nvSpPr>
        <p:spPr>
          <a:xfrm>
            <a:off x="228600" y="1636776"/>
            <a:ext cx="4315968" cy="54864"/>
          </a:xfrm>
          <a:prstGeom prst="rect">
            <a:avLst/>
          </a:prstGeom>
          <a:solidFill>
            <a:srgbClr val="185FA5"/>
          </a:solidFill>
          <a:ln w="12700">
            <a:solidFill>
              <a:srgbClr val="185FA5"/>
            </a:solidFill>
            <a:prstDash val="solid"/>
          </a:ln>
        </p:spPr>
      </p:sp>
      <p:sp>
        <p:nvSpPr>
          <p:cNvPr id="23" name="Shape 21"/>
          <p:cNvSpPr/>
          <p:nvPr/>
        </p:nvSpPr>
        <p:spPr>
          <a:xfrm>
            <a:off x="228600" y="1636776"/>
            <a:ext cx="475488" cy="621792"/>
          </a:xfrm>
          <a:prstGeom prst="rect">
            <a:avLst/>
          </a:prstGeom>
          <a:solidFill>
            <a:srgbClr val="185FA5"/>
          </a:solidFill>
          <a:ln w="12700">
            <a:solidFill>
              <a:srgbClr val="185FA5"/>
            </a:solidFill>
            <a:prstDash val="solid"/>
          </a:ln>
        </p:spPr>
      </p:sp>
      <p:sp>
        <p:nvSpPr>
          <p:cNvPr id="24" name="Text 22"/>
          <p:cNvSpPr/>
          <p:nvPr/>
        </p:nvSpPr>
        <p:spPr>
          <a:xfrm>
            <a:off x="228600" y="1636776"/>
            <a:ext cx="475488" cy="62179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25" name="Text 23"/>
          <p:cNvSpPr/>
          <p:nvPr/>
        </p:nvSpPr>
        <p:spPr>
          <a:xfrm>
            <a:off x="758952" y="1700784"/>
            <a:ext cx="3246120" cy="237744"/>
          </a:xfrm>
          <a:prstGeom prst="rect">
            <a:avLst/>
          </a:prstGeom>
          <a:noFill/>
          <a:ln/>
        </p:spPr>
        <p:txBody>
          <a:bodyPr wrap="square"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Business Questions</a:t>
            </a:r>
            <a:endParaRPr lang="en-US" sz="1100" dirty="0"/>
          </a:p>
        </p:txBody>
      </p:sp>
      <p:sp>
        <p:nvSpPr>
          <p:cNvPr id="26" name="Text 24"/>
          <p:cNvSpPr/>
          <p:nvPr/>
        </p:nvSpPr>
        <p:spPr>
          <a:xfrm>
            <a:off x="758952" y="1947672"/>
            <a:ext cx="3017520" cy="237744"/>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Key analytical questions this project addresses</a:t>
            </a:r>
            <a:endParaRPr lang="en-US" sz="850" dirty="0"/>
          </a:p>
        </p:txBody>
      </p:sp>
      <p:sp>
        <p:nvSpPr>
          <p:cNvPr id="27" name="Text 25"/>
          <p:cNvSpPr/>
          <p:nvPr/>
        </p:nvSpPr>
        <p:spPr>
          <a:xfrm>
            <a:off x="3776472" y="1947672"/>
            <a:ext cx="694944" cy="237744"/>
          </a:xfrm>
          <a:prstGeom prst="rect">
            <a:avLst/>
          </a:prstGeom>
          <a:noFill/>
          <a:ln/>
        </p:spPr>
        <p:txBody>
          <a:bodyPr wrap="square" rtlCol="0" anchor="ctr"/>
          <a:lstStyle/>
          <a:p>
            <a:pPr marL="0" indent="0" algn="r">
              <a:buNone/>
            </a:pPr>
            <a:r>
              <a:rPr lang="en-US" sz="800" b="1" dirty="0">
                <a:solidFill>
                  <a:srgbClr val="185FA5"/>
                </a:solidFill>
                <a:latin typeface="Calibri" pitchFamily="34" charset="0"/>
                <a:ea typeface="Calibri" pitchFamily="34" charset="-122"/>
                <a:cs typeface="Calibri" pitchFamily="34" charset="-120"/>
              </a:rPr>
              <a:t>Slide 7</a:t>
            </a:r>
            <a:endParaRPr lang="en-US" sz="800" dirty="0"/>
          </a:p>
        </p:txBody>
      </p:sp>
      <p:sp>
        <p:nvSpPr>
          <p:cNvPr id="28" name="Shape 26"/>
          <p:cNvSpPr/>
          <p:nvPr/>
        </p:nvSpPr>
        <p:spPr>
          <a:xfrm>
            <a:off x="4690872" y="1636776"/>
            <a:ext cx="4315968" cy="621792"/>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29" name="Shape 27"/>
          <p:cNvSpPr/>
          <p:nvPr/>
        </p:nvSpPr>
        <p:spPr>
          <a:xfrm>
            <a:off x="4690872" y="1636776"/>
            <a:ext cx="4315968" cy="54864"/>
          </a:xfrm>
          <a:prstGeom prst="rect">
            <a:avLst/>
          </a:prstGeom>
          <a:solidFill>
            <a:srgbClr val="BA7517"/>
          </a:solidFill>
          <a:ln w="12700">
            <a:solidFill>
              <a:srgbClr val="BA7517"/>
            </a:solidFill>
            <a:prstDash val="solid"/>
          </a:ln>
        </p:spPr>
      </p:sp>
      <p:sp>
        <p:nvSpPr>
          <p:cNvPr id="30" name="Shape 28"/>
          <p:cNvSpPr/>
          <p:nvPr/>
        </p:nvSpPr>
        <p:spPr>
          <a:xfrm>
            <a:off x="4690872" y="1636776"/>
            <a:ext cx="475488" cy="621792"/>
          </a:xfrm>
          <a:prstGeom prst="rect">
            <a:avLst/>
          </a:prstGeom>
          <a:solidFill>
            <a:srgbClr val="BA7517"/>
          </a:solidFill>
          <a:ln w="12700">
            <a:solidFill>
              <a:srgbClr val="BA7517"/>
            </a:solidFill>
            <a:prstDash val="solid"/>
          </a:ln>
        </p:spPr>
      </p:sp>
      <p:sp>
        <p:nvSpPr>
          <p:cNvPr id="31" name="Text 29"/>
          <p:cNvSpPr/>
          <p:nvPr/>
        </p:nvSpPr>
        <p:spPr>
          <a:xfrm>
            <a:off x="4690872" y="1636776"/>
            <a:ext cx="475488" cy="62179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32" name="Text 30"/>
          <p:cNvSpPr/>
          <p:nvPr/>
        </p:nvSpPr>
        <p:spPr>
          <a:xfrm>
            <a:off x="5221224" y="1700784"/>
            <a:ext cx="3246120" cy="237744"/>
          </a:xfrm>
          <a:prstGeom prst="rect">
            <a:avLst/>
          </a:prstGeom>
          <a:noFill/>
          <a:ln/>
        </p:spPr>
        <p:txBody>
          <a:bodyPr wrap="square"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Data Cleaning Process</a:t>
            </a:r>
            <a:endParaRPr lang="en-US" sz="1100" dirty="0"/>
          </a:p>
        </p:txBody>
      </p:sp>
      <p:sp>
        <p:nvSpPr>
          <p:cNvPr id="33" name="Text 31"/>
          <p:cNvSpPr/>
          <p:nvPr/>
        </p:nvSpPr>
        <p:spPr>
          <a:xfrm>
            <a:off x="5221224" y="1947672"/>
            <a:ext cx="3017520" cy="237744"/>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Cleaning steps, transformations, and quality checks</a:t>
            </a:r>
            <a:endParaRPr lang="en-US" sz="850" dirty="0"/>
          </a:p>
        </p:txBody>
      </p:sp>
      <p:sp>
        <p:nvSpPr>
          <p:cNvPr id="34" name="Text 32"/>
          <p:cNvSpPr/>
          <p:nvPr/>
        </p:nvSpPr>
        <p:spPr>
          <a:xfrm>
            <a:off x="8238744" y="1947672"/>
            <a:ext cx="694944" cy="237744"/>
          </a:xfrm>
          <a:prstGeom prst="rect">
            <a:avLst/>
          </a:prstGeom>
          <a:noFill/>
          <a:ln/>
        </p:spPr>
        <p:txBody>
          <a:bodyPr wrap="square" rtlCol="0" anchor="ctr"/>
          <a:lstStyle/>
          <a:p>
            <a:pPr marL="0" indent="0" algn="r">
              <a:buNone/>
            </a:pPr>
            <a:r>
              <a:rPr lang="en-US" sz="800" b="1" dirty="0">
                <a:solidFill>
                  <a:srgbClr val="BA7517"/>
                </a:solidFill>
                <a:latin typeface="Calibri" pitchFamily="34" charset="0"/>
                <a:ea typeface="Calibri" pitchFamily="34" charset="-122"/>
                <a:cs typeface="Calibri" pitchFamily="34" charset="-120"/>
              </a:rPr>
              <a:t>Slide 8–9</a:t>
            </a:r>
            <a:endParaRPr lang="en-US" sz="800" dirty="0"/>
          </a:p>
        </p:txBody>
      </p:sp>
      <p:sp>
        <p:nvSpPr>
          <p:cNvPr id="35" name="Shape 33"/>
          <p:cNvSpPr/>
          <p:nvPr/>
        </p:nvSpPr>
        <p:spPr>
          <a:xfrm>
            <a:off x="228600" y="2340864"/>
            <a:ext cx="4315968" cy="621792"/>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36" name="Shape 34"/>
          <p:cNvSpPr/>
          <p:nvPr/>
        </p:nvSpPr>
        <p:spPr>
          <a:xfrm>
            <a:off x="228600" y="2340864"/>
            <a:ext cx="4315968" cy="54864"/>
          </a:xfrm>
          <a:prstGeom prst="rect">
            <a:avLst/>
          </a:prstGeom>
          <a:solidFill>
            <a:srgbClr val="1D9E75"/>
          </a:solidFill>
          <a:ln w="12700">
            <a:solidFill>
              <a:srgbClr val="1D9E75"/>
            </a:solidFill>
            <a:prstDash val="solid"/>
          </a:ln>
        </p:spPr>
      </p:sp>
      <p:sp>
        <p:nvSpPr>
          <p:cNvPr id="37" name="Shape 35"/>
          <p:cNvSpPr/>
          <p:nvPr/>
        </p:nvSpPr>
        <p:spPr>
          <a:xfrm>
            <a:off x="228600" y="2340864"/>
            <a:ext cx="475488" cy="621792"/>
          </a:xfrm>
          <a:prstGeom prst="rect">
            <a:avLst/>
          </a:prstGeom>
          <a:solidFill>
            <a:srgbClr val="1D9E75"/>
          </a:solidFill>
          <a:ln w="12700">
            <a:solidFill>
              <a:srgbClr val="1D9E75"/>
            </a:solidFill>
            <a:prstDash val="solid"/>
          </a:ln>
        </p:spPr>
      </p:sp>
      <p:sp>
        <p:nvSpPr>
          <p:cNvPr id="38" name="Text 36"/>
          <p:cNvSpPr/>
          <p:nvPr/>
        </p:nvSpPr>
        <p:spPr>
          <a:xfrm>
            <a:off x="228600" y="2340864"/>
            <a:ext cx="475488" cy="62179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39" name="Text 37"/>
          <p:cNvSpPr/>
          <p:nvPr/>
        </p:nvSpPr>
        <p:spPr>
          <a:xfrm>
            <a:off x="758952" y="2404872"/>
            <a:ext cx="3246120" cy="237744"/>
          </a:xfrm>
          <a:prstGeom prst="rect">
            <a:avLst/>
          </a:prstGeom>
          <a:noFill/>
          <a:ln/>
        </p:spPr>
        <p:txBody>
          <a:bodyPr wrap="square"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Dashboards</a:t>
            </a:r>
            <a:endParaRPr lang="en-US" sz="1100" dirty="0"/>
          </a:p>
        </p:txBody>
      </p:sp>
      <p:sp>
        <p:nvSpPr>
          <p:cNvPr id="40" name="Text 38"/>
          <p:cNvSpPr/>
          <p:nvPr/>
        </p:nvSpPr>
        <p:spPr>
          <a:xfrm>
            <a:off x="758952" y="2651760"/>
            <a:ext cx="3017520" cy="237744"/>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Excel, Power BI, and Tableau interactive dashboards</a:t>
            </a:r>
            <a:endParaRPr lang="en-US" sz="850" dirty="0"/>
          </a:p>
        </p:txBody>
      </p:sp>
      <p:sp>
        <p:nvSpPr>
          <p:cNvPr id="41" name="Text 39"/>
          <p:cNvSpPr/>
          <p:nvPr/>
        </p:nvSpPr>
        <p:spPr>
          <a:xfrm>
            <a:off x="3776472" y="2651760"/>
            <a:ext cx="694944" cy="237744"/>
          </a:xfrm>
          <a:prstGeom prst="rect">
            <a:avLst/>
          </a:prstGeom>
          <a:noFill/>
          <a:ln/>
        </p:spPr>
        <p:txBody>
          <a:bodyPr wrap="square" rtlCol="0" anchor="ctr"/>
          <a:lstStyle/>
          <a:p>
            <a:pPr marL="0" indent="0" algn="r">
              <a:buNone/>
            </a:pPr>
            <a:r>
              <a:rPr lang="en-US" sz="800" b="1" dirty="0">
                <a:solidFill>
                  <a:srgbClr val="1D9E75"/>
                </a:solidFill>
                <a:latin typeface="Calibri" pitchFamily="34" charset="0"/>
                <a:ea typeface="Calibri" pitchFamily="34" charset="-122"/>
                <a:cs typeface="Calibri" pitchFamily="34" charset="-120"/>
              </a:rPr>
              <a:t>Slide 10–12</a:t>
            </a:r>
            <a:endParaRPr lang="en-US" sz="800" dirty="0"/>
          </a:p>
        </p:txBody>
      </p:sp>
      <p:sp>
        <p:nvSpPr>
          <p:cNvPr id="42" name="Shape 40"/>
          <p:cNvSpPr/>
          <p:nvPr/>
        </p:nvSpPr>
        <p:spPr>
          <a:xfrm>
            <a:off x="4690872" y="2340864"/>
            <a:ext cx="4315968" cy="621792"/>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43" name="Shape 41"/>
          <p:cNvSpPr/>
          <p:nvPr/>
        </p:nvSpPr>
        <p:spPr>
          <a:xfrm>
            <a:off x="4690872" y="2340864"/>
            <a:ext cx="4315968" cy="54864"/>
          </a:xfrm>
          <a:prstGeom prst="rect">
            <a:avLst/>
          </a:prstGeom>
          <a:solidFill>
            <a:srgbClr val="185FA5"/>
          </a:solidFill>
          <a:ln w="12700">
            <a:solidFill>
              <a:srgbClr val="185FA5"/>
            </a:solidFill>
            <a:prstDash val="solid"/>
          </a:ln>
        </p:spPr>
      </p:sp>
      <p:sp>
        <p:nvSpPr>
          <p:cNvPr id="44" name="Shape 42"/>
          <p:cNvSpPr/>
          <p:nvPr/>
        </p:nvSpPr>
        <p:spPr>
          <a:xfrm>
            <a:off x="4690872" y="2340864"/>
            <a:ext cx="475488" cy="621792"/>
          </a:xfrm>
          <a:prstGeom prst="rect">
            <a:avLst/>
          </a:prstGeom>
          <a:solidFill>
            <a:srgbClr val="185FA5"/>
          </a:solidFill>
          <a:ln w="12700">
            <a:solidFill>
              <a:srgbClr val="185FA5"/>
            </a:solidFill>
            <a:prstDash val="solid"/>
          </a:ln>
        </p:spPr>
      </p:sp>
      <p:sp>
        <p:nvSpPr>
          <p:cNvPr id="45" name="Text 43"/>
          <p:cNvSpPr/>
          <p:nvPr/>
        </p:nvSpPr>
        <p:spPr>
          <a:xfrm>
            <a:off x="4690872" y="2340864"/>
            <a:ext cx="475488" cy="62179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6" name="Text 44"/>
          <p:cNvSpPr/>
          <p:nvPr/>
        </p:nvSpPr>
        <p:spPr>
          <a:xfrm>
            <a:off x="5221224" y="2404872"/>
            <a:ext cx="3246120" cy="237744"/>
          </a:xfrm>
          <a:prstGeom prst="rect">
            <a:avLst/>
          </a:prstGeom>
          <a:noFill/>
          <a:ln/>
        </p:spPr>
        <p:txBody>
          <a:bodyPr wrap="square"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KPI Analysis</a:t>
            </a:r>
            <a:endParaRPr lang="en-US" sz="1100" dirty="0"/>
          </a:p>
        </p:txBody>
      </p:sp>
      <p:sp>
        <p:nvSpPr>
          <p:cNvPr id="47" name="Text 45"/>
          <p:cNvSpPr/>
          <p:nvPr/>
        </p:nvSpPr>
        <p:spPr>
          <a:xfrm>
            <a:off x="5221224" y="2651760"/>
            <a:ext cx="3017520" cy="237744"/>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10 headline metrics and performance benchmarks</a:t>
            </a:r>
            <a:endParaRPr lang="en-US" sz="850" dirty="0"/>
          </a:p>
        </p:txBody>
      </p:sp>
      <p:sp>
        <p:nvSpPr>
          <p:cNvPr id="48" name="Text 46"/>
          <p:cNvSpPr/>
          <p:nvPr/>
        </p:nvSpPr>
        <p:spPr>
          <a:xfrm>
            <a:off x="8238744" y="2651760"/>
            <a:ext cx="694944" cy="237744"/>
          </a:xfrm>
          <a:prstGeom prst="rect">
            <a:avLst/>
          </a:prstGeom>
          <a:noFill/>
          <a:ln/>
        </p:spPr>
        <p:txBody>
          <a:bodyPr wrap="square" rtlCol="0" anchor="ctr"/>
          <a:lstStyle/>
          <a:p>
            <a:pPr marL="0" indent="0" algn="r">
              <a:buNone/>
            </a:pPr>
            <a:r>
              <a:rPr lang="en-US" sz="800" b="1" dirty="0">
                <a:solidFill>
                  <a:srgbClr val="185FA5"/>
                </a:solidFill>
                <a:latin typeface="Calibri" pitchFamily="34" charset="0"/>
                <a:ea typeface="Calibri" pitchFamily="34" charset="-122"/>
                <a:cs typeface="Calibri" pitchFamily="34" charset="-120"/>
              </a:rPr>
              <a:t>Slide 13–14</a:t>
            </a:r>
            <a:endParaRPr lang="en-US" sz="800" dirty="0"/>
          </a:p>
        </p:txBody>
      </p:sp>
      <p:sp>
        <p:nvSpPr>
          <p:cNvPr id="49" name="Shape 47"/>
          <p:cNvSpPr/>
          <p:nvPr/>
        </p:nvSpPr>
        <p:spPr>
          <a:xfrm>
            <a:off x="228600" y="3044952"/>
            <a:ext cx="4315968" cy="621792"/>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50" name="Shape 48"/>
          <p:cNvSpPr/>
          <p:nvPr/>
        </p:nvSpPr>
        <p:spPr>
          <a:xfrm>
            <a:off x="228600" y="3044952"/>
            <a:ext cx="4315968" cy="54864"/>
          </a:xfrm>
          <a:prstGeom prst="rect">
            <a:avLst/>
          </a:prstGeom>
          <a:solidFill>
            <a:srgbClr val="1D9E75"/>
          </a:solidFill>
          <a:ln w="12700">
            <a:solidFill>
              <a:srgbClr val="1D9E75"/>
            </a:solidFill>
            <a:prstDash val="solid"/>
          </a:ln>
        </p:spPr>
      </p:sp>
      <p:sp>
        <p:nvSpPr>
          <p:cNvPr id="51" name="Shape 49"/>
          <p:cNvSpPr/>
          <p:nvPr/>
        </p:nvSpPr>
        <p:spPr>
          <a:xfrm>
            <a:off x="228600" y="3044952"/>
            <a:ext cx="475488" cy="621792"/>
          </a:xfrm>
          <a:prstGeom prst="rect">
            <a:avLst/>
          </a:prstGeom>
          <a:solidFill>
            <a:srgbClr val="1D9E75"/>
          </a:solidFill>
          <a:ln w="12700">
            <a:solidFill>
              <a:srgbClr val="1D9E75"/>
            </a:solidFill>
            <a:prstDash val="solid"/>
          </a:ln>
        </p:spPr>
      </p:sp>
      <p:sp>
        <p:nvSpPr>
          <p:cNvPr id="52" name="Text 50"/>
          <p:cNvSpPr/>
          <p:nvPr/>
        </p:nvSpPr>
        <p:spPr>
          <a:xfrm>
            <a:off x="228600" y="3044952"/>
            <a:ext cx="475488" cy="62179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53" name="Text 51"/>
          <p:cNvSpPr/>
          <p:nvPr/>
        </p:nvSpPr>
        <p:spPr>
          <a:xfrm>
            <a:off x="758952" y="3108960"/>
            <a:ext cx="3246120" cy="237744"/>
          </a:xfrm>
          <a:prstGeom prst="rect">
            <a:avLst/>
          </a:prstGeom>
          <a:noFill/>
          <a:ln/>
        </p:spPr>
        <p:txBody>
          <a:bodyPr wrap="square"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Key Business Insights</a:t>
            </a:r>
            <a:endParaRPr lang="en-US" sz="1100" dirty="0"/>
          </a:p>
        </p:txBody>
      </p:sp>
      <p:sp>
        <p:nvSpPr>
          <p:cNvPr id="54" name="Text 52"/>
          <p:cNvSpPr/>
          <p:nvPr/>
        </p:nvSpPr>
        <p:spPr>
          <a:xfrm>
            <a:off x="758952" y="3355848"/>
            <a:ext cx="3017520" cy="237744"/>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8 evidence-based findings with root cause analysis</a:t>
            </a:r>
            <a:endParaRPr lang="en-US" sz="850" dirty="0"/>
          </a:p>
        </p:txBody>
      </p:sp>
      <p:sp>
        <p:nvSpPr>
          <p:cNvPr id="55" name="Text 53"/>
          <p:cNvSpPr/>
          <p:nvPr/>
        </p:nvSpPr>
        <p:spPr>
          <a:xfrm>
            <a:off x="3776472" y="3355848"/>
            <a:ext cx="694944" cy="237744"/>
          </a:xfrm>
          <a:prstGeom prst="rect">
            <a:avLst/>
          </a:prstGeom>
          <a:noFill/>
          <a:ln/>
        </p:spPr>
        <p:txBody>
          <a:bodyPr wrap="square" rtlCol="0" anchor="ctr"/>
          <a:lstStyle/>
          <a:p>
            <a:pPr marL="0" indent="0" algn="r">
              <a:buNone/>
            </a:pPr>
            <a:r>
              <a:rPr lang="en-US" sz="800" b="1" dirty="0">
                <a:solidFill>
                  <a:srgbClr val="1D9E75"/>
                </a:solidFill>
                <a:latin typeface="Calibri" pitchFamily="34" charset="0"/>
                <a:ea typeface="Calibri" pitchFamily="34" charset="-122"/>
                <a:cs typeface="Calibri" pitchFamily="34" charset="-120"/>
              </a:rPr>
              <a:t>Slide 15–16</a:t>
            </a:r>
            <a:endParaRPr lang="en-US" sz="800" dirty="0"/>
          </a:p>
        </p:txBody>
      </p:sp>
      <p:sp>
        <p:nvSpPr>
          <p:cNvPr id="56" name="Shape 54"/>
          <p:cNvSpPr/>
          <p:nvPr/>
        </p:nvSpPr>
        <p:spPr>
          <a:xfrm>
            <a:off x="4690872" y="3044952"/>
            <a:ext cx="4315968" cy="621792"/>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57" name="Shape 55"/>
          <p:cNvSpPr/>
          <p:nvPr/>
        </p:nvSpPr>
        <p:spPr>
          <a:xfrm>
            <a:off x="4690872" y="3044952"/>
            <a:ext cx="4315968" cy="54864"/>
          </a:xfrm>
          <a:prstGeom prst="rect">
            <a:avLst/>
          </a:prstGeom>
          <a:solidFill>
            <a:srgbClr val="BA7517"/>
          </a:solidFill>
          <a:ln w="12700">
            <a:solidFill>
              <a:srgbClr val="BA7517"/>
            </a:solidFill>
            <a:prstDash val="solid"/>
          </a:ln>
        </p:spPr>
      </p:sp>
      <p:sp>
        <p:nvSpPr>
          <p:cNvPr id="58" name="Shape 56"/>
          <p:cNvSpPr/>
          <p:nvPr/>
        </p:nvSpPr>
        <p:spPr>
          <a:xfrm>
            <a:off x="4690872" y="3044952"/>
            <a:ext cx="475488" cy="621792"/>
          </a:xfrm>
          <a:prstGeom prst="rect">
            <a:avLst/>
          </a:prstGeom>
          <a:solidFill>
            <a:srgbClr val="BA7517"/>
          </a:solidFill>
          <a:ln w="12700">
            <a:solidFill>
              <a:srgbClr val="BA7517"/>
            </a:solidFill>
            <a:prstDash val="solid"/>
          </a:ln>
        </p:spPr>
      </p:sp>
      <p:sp>
        <p:nvSpPr>
          <p:cNvPr id="59" name="Text 57"/>
          <p:cNvSpPr/>
          <p:nvPr/>
        </p:nvSpPr>
        <p:spPr>
          <a:xfrm>
            <a:off x="4690872" y="3044952"/>
            <a:ext cx="475488" cy="62179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60" name="Text 58"/>
          <p:cNvSpPr/>
          <p:nvPr/>
        </p:nvSpPr>
        <p:spPr>
          <a:xfrm>
            <a:off x="5221224" y="3108960"/>
            <a:ext cx="3246120" cy="237744"/>
          </a:xfrm>
          <a:prstGeom prst="rect">
            <a:avLst/>
          </a:prstGeom>
          <a:noFill/>
          <a:ln/>
        </p:spPr>
        <p:txBody>
          <a:bodyPr wrap="square"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Performance Drivers</a:t>
            </a:r>
            <a:endParaRPr lang="en-US" sz="1100" dirty="0"/>
          </a:p>
        </p:txBody>
      </p:sp>
      <p:sp>
        <p:nvSpPr>
          <p:cNvPr id="61" name="Text 59"/>
          <p:cNvSpPr/>
          <p:nvPr/>
        </p:nvSpPr>
        <p:spPr>
          <a:xfrm>
            <a:off x="5221224" y="3355848"/>
            <a:ext cx="3017520" cy="237744"/>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Correlation analysis — what actually moves the needle</a:t>
            </a:r>
            <a:endParaRPr lang="en-US" sz="850" dirty="0"/>
          </a:p>
        </p:txBody>
      </p:sp>
      <p:sp>
        <p:nvSpPr>
          <p:cNvPr id="62" name="Text 60"/>
          <p:cNvSpPr/>
          <p:nvPr/>
        </p:nvSpPr>
        <p:spPr>
          <a:xfrm>
            <a:off x="8238744" y="3355848"/>
            <a:ext cx="694944" cy="237744"/>
          </a:xfrm>
          <a:prstGeom prst="rect">
            <a:avLst/>
          </a:prstGeom>
          <a:noFill/>
          <a:ln/>
        </p:spPr>
        <p:txBody>
          <a:bodyPr wrap="square" rtlCol="0" anchor="ctr"/>
          <a:lstStyle/>
          <a:p>
            <a:pPr marL="0" indent="0" algn="r">
              <a:buNone/>
            </a:pPr>
            <a:r>
              <a:rPr lang="en-US" sz="800" b="1" dirty="0">
                <a:solidFill>
                  <a:srgbClr val="BA7517"/>
                </a:solidFill>
                <a:latin typeface="Calibri" pitchFamily="34" charset="0"/>
                <a:ea typeface="Calibri" pitchFamily="34" charset="-122"/>
                <a:cs typeface="Calibri" pitchFamily="34" charset="-120"/>
              </a:rPr>
              <a:t>Slide 17</a:t>
            </a:r>
            <a:endParaRPr lang="en-US" sz="800" dirty="0"/>
          </a:p>
        </p:txBody>
      </p:sp>
      <p:sp>
        <p:nvSpPr>
          <p:cNvPr id="63" name="Shape 61"/>
          <p:cNvSpPr/>
          <p:nvPr/>
        </p:nvSpPr>
        <p:spPr>
          <a:xfrm>
            <a:off x="228600" y="3749040"/>
            <a:ext cx="4315968" cy="621792"/>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64" name="Shape 62"/>
          <p:cNvSpPr/>
          <p:nvPr/>
        </p:nvSpPr>
        <p:spPr>
          <a:xfrm>
            <a:off x="228600" y="3749040"/>
            <a:ext cx="4315968" cy="54864"/>
          </a:xfrm>
          <a:prstGeom prst="rect">
            <a:avLst/>
          </a:prstGeom>
          <a:solidFill>
            <a:srgbClr val="185FA5"/>
          </a:solidFill>
          <a:ln w="12700">
            <a:solidFill>
              <a:srgbClr val="185FA5"/>
            </a:solidFill>
            <a:prstDash val="solid"/>
          </a:ln>
        </p:spPr>
      </p:sp>
      <p:sp>
        <p:nvSpPr>
          <p:cNvPr id="65" name="Shape 63"/>
          <p:cNvSpPr/>
          <p:nvPr/>
        </p:nvSpPr>
        <p:spPr>
          <a:xfrm>
            <a:off x="228600" y="3749040"/>
            <a:ext cx="475488" cy="621792"/>
          </a:xfrm>
          <a:prstGeom prst="rect">
            <a:avLst/>
          </a:prstGeom>
          <a:solidFill>
            <a:srgbClr val="185FA5"/>
          </a:solidFill>
          <a:ln w="12700">
            <a:solidFill>
              <a:srgbClr val="185FA5"/>
            </a:solidFill>
            <a:prstDash val="solid"/>
          </a:ln>
        </p:spPr>
      </p:sp>
      <p:sp>
        <p:nvSpPr>
          <p:cNvPr id="66" name="Text 64"/>
          <p:cNvSpPr/>
          <p:nvPr/>
        </p:nvSpPr>
        <p:spPr>
          <a:xfrm>
            <a:off x="228600" y="3749040"/>
            <a:ext cx="475488" cy="62179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67" name="Text 65"/>
          <p:cNvSpPr/>
          <p:nvPr/>
        </p:nvSpPr>
        <p:spPr>
          <a:xfrm>
            <a:off x="758952" y="3813048"/>
            <a:ext cx="3246120" cy="237744"/>
          </a:xfrm>
          <a:prstGeom prst="rect">
            <a:avLst/>
          </a:prstGeom>
          <a:noFill/>
          <a:ln/>
        </p:spPr>
        <p:txBody>
          <a:bodyPr wrap="square"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Business Questions Answered</a:t>
            </a:r>
            <a:endParaRPr lang="en-US" sz="1100" dirty="0"/>
          </a:p>
        </p:txBody>
      </p:sp>
      <p:sp>
        <p:nvSpPr>
          <p:cNvPr id="68" name="Text 66"/>
          <p:cNvSpPr/>
          <p:nvPr/>
        </p:nvSpPr>
        <p:spPr>
          <a:xfrm>
            <a:off x="758952" y="4059936"/>
            <a:ext cx="3017520" cy="237744"/>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Data-driven answers to each analytical question</a:t>
            </a:r>
            <a:endParaRPr lang="en-US" sz="850" dirty="0"/>
          </a:p>
        </p:txBody>
      </p:sp>
      <p:sp>
        <p:nvSpPr>
          <p:cNvPr id="69" name="Text 67"/>
          <p:cNvSpPr/>
          <p:nvPr/>
        </p:nvSpPr>
        <p:spPr>
          <a:xfrm>
            <a:off x="3776472" y="4059936"/>
            <a:ext cx="694944" cy="237744"/>
          </a:xfrm>
          <a:prstGeom prst="rect">
            <a:avLst/>
          </a:prstGeom>
          <a:noFill/>
          <a:ln/>
        </p:spPr>
        <p:txBody>
          <a:bodyPr wrap="square" rtlCol="0" anchor="ctr"/>
          <a:lstStyle/>
          <a:p>
            <a:pPr marL="0" indent="0" algn="r">
              <a:buNone/>
            </a:pPr>
            <a:r>
              <a:rPr lang="en-US" sz="800" b="1" dirty="0">
                <a:solidFill>
                  <a:srgbClr val="185FA5"/>
                </a:solidFill>
                <a:latin typeface="Calibri" pitchFamily="34" charset="0"/>
                <a:ea typeface="Calibri" pitchFamily="34" charset="-122"/>
                <a:cs typeface="Calibri" pitchFamily="34" charset="-120"/>
              </a:rPr>
              <a:t>Slide 18–21</a:t>
            </a:r>
            <a:endParaRPr lang="en-US" sz="800" dirty="0"/>
          </a:p>
        </p:txBody>
      </p:sp>
      <p:sp>
        <p:nvSpPr>
          <p:cNvPr id="70" name="Shape 68"/>
          <p:cNvSpPr/>
          <p:nvPr/>
        </p:nvSpPr>
        <p:spPr>
          <a:xfrm>
            <a:off x="4690872" y="3749040"/>
            <a:ext cx="4315968" cy="621792"/>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71" name="Shape 69"/>
          <p:cNvSpPr/>
          <p:nvPr/>
        </p:nvSpPr>
        <p:spPr>
          <a:xfrm>
            <a:off x="4690872" y="3749040"/>
            <a:ext cx="4315968" cy="54864"/>
          </a:xfrm>
          <a:prstGeom prst="rect">
            <a:avLst/>
          </a:prstGeom>
          <a:solidFill>
            <a:srgbClr val="1D9E75"/>
          </a:solidFill>
          <a:ln w="12700">
            <a:solidFill>
              <a:srgbClr val="1D9E75"/>
            </a:solidFill>
            <a:prstDash val="solid"/>
          </a:ln>
        </p:spPr>
      </p:sp>
      <p:sp>
        <p:nvSpPr>
          <p:cNvPr id="72" name="Shape 70"/>
          <p:cNvSpPr/>
          <p:nvPr/>
        </p:nvSpPr>
        <p:spPr>
          <a:xfrm>
            <a:off x="4690872" y="3749040"/>
            <a:ext cx="475488" cy="621792"/>
          </a:xfrm>
          <a:prstGeom prst="rect">
            <a:avLst/>
          </a:prstGeom>
          <a:solidFill>
            <a:srgbClr val="1D9E75"/>
          </a:solidFill>
          <a:ln w="12700">
            <a:solidFill>
              <a:srgbClr val="1D9E75"/>
            </a:solidFill>
            <a:prstDash val="solid"/>
          </a:ln>
        </p:spPr>
      </p:sp>
      <p:sp>
        <p:nvSpPr>
          <p:cNvPr id="73" name="Text 71"/>
          <p:cNvSpPr/>
          <p:nvPr/>
        </p:nvSpPr>
        <p:spPr>
          <a:xfrm>
            <a:off x="4690872" y="3749040"/>
            <a:ext cx="475488" cy="62179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74" name="Text 72"/>
          <p:cNvSpPr/>
          <p:nvPr/>
        </p:nvSpPr>
        <p:spPr>
          <a:xfrm>
            <a:off x="5221224" y="3813048"/>
            <a:ext cx="3246120" cy="237744"/>
          </a:xfrm>
          <a:prstGeom prst="rect">
            <a:avLst/>
          </a:prstGeom>
          <a:noFill/>
          <a:ln/>
        </p:spPr>
        <p:txBody>
          <a:bodyPr wrap="square"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Executive Conclusion</a:t>
            </a:r>
            <a:endParaRPr lang="en-US" sz="1100" dirty="0"/>
          </a:p>
        </p:txBody>
      </p:sp>
      <p:sp>
        <p:nvSpPr>
          <p:cNvPr id="75" name="Text 73"/>
          <p:cNvSpPr/>
          <p:nvPr/>
        </p:nvSpPr>
        <p:spPr>
          <a:xfrm>
            <a:off x="5221224" y="4059936"/>
            <a:ext cx="3017520" cy="237744"/>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Summary findings and strategic recommendations</a:t>
            </a:r>
            <a:endParaRPr lang="en-US" sz="850" dirty="0"/>
          </a:p>
        </p:txBody>
      </p:sp>
      <p:sp>
        <p:nvSpPr>
          <p:cNvPr id="76" name="Text 74"/>
          <p:cNvSpPr/>
          <p:nvPr/>
        </p:nvSpPr>
        <p:spPr>
          <a:xfrm>
            <a:off x="8238744" y="4059936"/>
            <a:ext cx="694944" cy="237744"/>
          </a:xfrm>
          <a:prstGeom prst="rect">
            <a:avLst/>
          </a:prstGeom>
          <a:noFill/>
          <a:ln/>
        </p:spPr>
        <p:txBody>
          <a:bodyPr wrap="square" rtlCol="0" anchor="ctr"/>
          <a:lstStyle/>
          <a:p>
            <a:pPr marL="0" indent="0" algn="r">
              <a:buNone/>
            </a:pPr>
            <a:r>
              <a:rPr lang="en-US" sz="800" b="1" dirty="0">
                <a:solidFill>
                  <a:srgbClr val="1D9E75"/>
                </a:solidFill>
                <a:latin typeface="Calibri" pitchFamily="34" charset="0"/>
                <a:ea typeface="Calibri" pitchFamily="34" charset="-122"/>
                <a:cs typeface="Calibri" pitchFamily="34" charset="-120"/>
              </a:rPr>
              <a:t>Slide 22–24</a:t>
            </a:r>
            <a:endParaRPr lang="en-US" sz="800" dirty="0"/>
          </a:p>
        </p:txBody>
      </p:sp>
      <p:sp>
        <p:nvSpPr>
          <p:cNvPr id="77" name="Shape 75"/>
          <p:cNvSpPr/>
          <p:nvPr/>
        </p:nvSpPr>
        <p:spPr>
          <a:xfrm>
            <a:off x="228600" y="4453128"/>
            <a:ext cx="4315968" cy="621792"/>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78" name="Shape 76"/>
          <p:cNvSpPr/>
          <p:nvPr/>
        </p:nvSpPr>
        <p:spPr>
          <a:xfrm>
            <a:off x="228600" y="4453128"/>
            <a:ext cx="4315968" cy="54864"/>
          </a:xfrm>
          <a:prstGeom prst="rect">
            <a:avLst/>
          </a:prstGeom>
          <a:solidFill>
            <a:srgbClr val="BA7517"/>
          </a:solidFill>
          <a:ln w="12700">
            <a:solidFill>
              <a:srgbClr val="BA7517"/>
            </a:solidFill>
            <a:prstDash val="solid"/>
          </a:ln>
        </p:spPr>
      </p:sp>
      <p:sp>
        <p:nvSpPr>
          <p:cNvPr id="79" name="Shape 77"/>
          <p:cNvSpPr/>
          <p:nvPr/>
        </p:nvSpPr>
        <p:spPr>
          <a:xfrm>
            <a:off x="228600" y="4453128"/>
            <a:ext cx="475488" cy="621792"/>
          </a:xfrm>
          <a:prstGeom prst="rect">
            <a:avLst/>
          </a:prstGeom>
          <a:solidFill>
            <a:srgbClr val="BA7517"/>
          </a:solidFill>
          <a:ln w="12700">
            <a:solidFill>
              <a:srgbClr val="BA7517"/>
            </a:solidFill>
            <a:prstDash val="solid"/>
          </a:ln>
        </p:spPr>
      </p:sp>
      <p:sp>
        <p:nvSpPr>
          <p:cNvPr id="80" name="Text 78"/>
          <p:cNvSpPr/>
          <p:nvPr/>
        </p:nvSpPr>
        <p:spPr>
          <a:xfrm>
            <a:off x="228600" y="4453128"/>
            <a:ext cx="475488" cy="62179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81" name="Text 79"/>
          <p:cNvSpPr/>
          <p:nvPr/>
        </p:nvSpPr>
        <p:spPr>
          <a:xfrm>
            <a:off x="758952" y="4517136"/>
            <a:ext cx="3246120" cy="237744"/>
          </a:xfrm>
          <a:prstGeom prst="rect">
            <a:avLst/>
          </a:prstGeom>
          <a:noFill/>
          <a:ln/>
        </p:spPr>
        <p:txBody>
          <a:bodyPr wrap="square"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Action Plan</a:t>
            </a:r>
            <a:endParaRPr lang="en-US" sz="1100" dirty="0"/>
          </a:p>
        </p:txBody>
      </p:sp>
      <p:sp>
        <p:nvSpPr>
          <p:cNvPr id="82" name="Text 80"/>
          <p:cNvSpPr/>
          <p:nvPr/>
        </p:nvSpPr>
        <p:spPr>
          <a:xfrm>
            <a:off x="758952" y="4764024"/>
            <a:ext cx="3017520" cy="237744"/>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Prioritised 8-initiative roadmap with expected impact</a:t>
            </a:r>
            <a:endParaRPr lang="en-US" sz="850" dirty="0"/>
          </a:p>
        </p:txBody>
      </p:sp>
      <p:sp>
        <p:nvSpPr>
          <p:cNvPr id="83" name="Text 81"/>
          <p:cNvSpPr/>
          <p:nvPr/>
        </p:nvSpPr>
        <p:spPr>
          <a:xfrm>
            <a:off x="3776472" y="4764024"/>
            <a:ext cx="694944" cy="237744"/>
          </a:xfrm>
          <a:prstGeom prst="rect">
            <a:avLst/>
          </a:prstGeom>
          <a:noFill/>
          <a:ln/>
        </p:spPr>
        <p:txBody>
          <a:bodyPr wrap="square" rtlCol="0" anchor="ctr"/>
          <a:lstStyle/>
          <a:p>
            <a:pPr marL="0" indent="0" algn="r">
              <a:buNone/>
            </a:pPr>
            <a:r>
              <a:rPr lang="en-US" sz="800" b="1" dirty="0">
                <a:solidFill>
                  <a:srgbClr val="BA7517"/>
                </a:solidFill>
                <a:latin typeface="Calibri" pitchFamily="34" charset="0"/>
                <a:ea typeface="Calibri" pitchFamily="34" charset="-122"/>
                <a:cs typeface="Calibri" pitchFamily="34" charset="-120"/>
              </a:rPr>
              <a:t>Slide 25</a:t>
            </a:r>
            <a:endParaRPr lang="en-US" sz="800" dirty="0"/>
          </a:p>
        </p:txBody>
      </p:sp>
      <p:sp>
        <p:nvSpPr>
          <p:cNvPr id="84" name="Shape 82"/>
          <p:cNvSpPr/>
          <p:nvPr/>
        </p:nvSpPr>
        <p:spPr>
          <a:xfrm>
            <a:off x="4690872" y="4453128"/>
            <a:ext cx="4315968" cy="621792"/>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85" name="Shape 83"/>
          <p:cNvSpPr/>
          <p:nvPr/>
        </p:nvSpPr>
        <p:spPr>
          <a:xfrm>
            <a:off x="4690872" y="4453128"/>
            <a:ext cx="4315968" cy="54864"/>
          </a:xfrm>
          <a:prstGeom prst="rect">
            <a:avLst/>
          </a:prstGeom>
          <a:solidFill>
            <a:srgbClr val="1E2761"/>
          </a:solidFill>
          <a:ln w="12700">
            <a:solidFill>
              <a:srgbClr val="1E2761"/>
            </a:solidFill>
            <a:prstDash val="solid"/>
          </a:ln>
        </p:spPr>
      </p:sp>
      <p:sp>
        <p:nvSpPr>
          <p:cNvPr id="86" name="Shape 84"/>
          <p:cNvSpPr/>
          <p:nvPr/>
        </p:nvSpPr>
        <p:spPr>
          <a:xfrm>
            <a:off x="4690872" y="4453128"/>
            <a:ext cx="475488" cy="621792"/>
          </a:xfrm>
          <a:prstGeom prst="rect">
            <a:avLst/>
          </a:prstGeom>
          <a:solidFill>
            <a:srgbClr val="1E2761"/>
          </a:solidFill>
          <a:ln w="12700">
            <a:solidFill>
              <a:srgbClr val="1E2761"/>
            </a:solidFill>
            <a:prstDash val="solid"/>
          </a:ln>
        </p:spPr>
      </p:sp>
      <p:sp>
        <p:nvSpPr>
          <p:cNvPr id="87" name="Text 85"/>
          <p:cNvSpPr/>
          <p:nvPr/>
        </p:nvSpPr>
        <p:spPr>
          <a:xfrm>
            <a:off x="4690872" y="4453128"/>
            <a:ext cx="475488" cy="62179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88" name="Text 86"/>
          <p:cNvSpPr/>
          <p:nvPr/>
        </p:nvSpPr>
        <p:spPr>
          <a:xfrm>
            <a:off x="5221224" y="4517136"/>
            <a:ext cx="3246120" cy="237744"/>
          </a:xfrm>
          <a:prstGeom prst="rect">
            <a:avLst/>
          </a:prstGeom>
          <a:noFill/>
          <a:ln/>
        </p:spPr>
        <p:txBody>
          <a:bodyPr wrap="square"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Talking Points</a:t>
            </a:r>
            <a:endParaRPr lang="en-US" sz="1100" dirty="0"/>
          </a:p>
        </p:txBody>
      </p:sp>
      <p:sp>
        <p:nvSpPr>
          <p:cNvPr id="89" name="Text 87"/>
          <p:cNvSpPr/>
          <p:nvPr/>
        </p:nvSpPr>
        <p:spPr>
          <a:xfrm>
            <a:off x="5221224" y="4764024"/>
            <a:ext cx="3017520" cy="237744"/>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Presentation-ready lines for defence or executive delivery</a:t>
            </a:r>
            <a:endParaRPr lang="en-US" sz="850" dirty="0"/>
          </a:p>
        </p:txBody>
      </p:sp>
      <p:sp>
        <p:nvSpPr>
          <p:cNvPr id="90" name="Text 88"/>
          <p:cNvSpPr/>
          <p:nvPr/>
        </p:nvSpPr>
        <p:spPr>
          <a:xfrm>
            <a:off x="8238744" y="4764024"/>
            <a:ext cx="694944" cy="237744"/>
          </a:xfrm>
          <a:prstGeom prst="rect">
            <a:avLst/>
          </a:prstGeom>
          <a:noFill/>
          <a:ln/>
        </p:spPr>
        <p:txBody>
          <a:bodyPr wrap="square" rtlCol="0" anchor="ctr"/>
          <a:lstStyle/>
          <a:p>
            <a:pPr marL="0" indent="0" algn="r">
              <a:buNone/>
            </a:pPr>
            <a:r>
              <a:rPr lang="en-US" sz="800" b="1" dirty="0">
                <a:solidFill>
                  <a:srgbClr val="1E2761"/>
                </a:solidFill>
                <a:latin typeface="Calibri" pitchFamily="34" charset="0"/>
                <a:ea typeface="Calibri" pitchFamily="34" charset="-122"/>
                <a:cs typeface="Calibri" pitchFamily="34" charset="-120"/>
              </a:rPr>
              <a:t>Slide 26</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Shape 1"/>
          <p:cNvSpPr/>
          <p:nvPr/>
        </p:nvSpPr>
        <p:spPr>
          <a:xfrm>
            <a:off x="0" y="0"/>
            <a:ext cx="109728" cy="777240"/>
          </a:xfrm>
          <a:prstGeom prst="rect">
            <a:avLst/>
          </a:prstGeom>
          <a:solidFill>
            <a:srgbClr val="1D9E75"/>
          </a:solidFill>
          <a:ln w="12700">
            <a:solidFill>
              <a:srgbClr val="1D9E75"/>
            </a:solidFill>
            <a:prstDash val="solid"/>
          </a:ln>
        </p:spPr>
      </p:sp>
      <p:sp>
        <p:nvSpPr>
          <p:cNvPr id="4" name="Text 2"/>
          <p:cNvSpPr/>
          <p:nvPr/>
        </p:nvSpPr>
        <p:spPr>
          <a:xfrm>
            <a:off x="274320" y="0"/>
            <a:ext cx="8686800" cy="7772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Project Overview</a:t>
            </a:r>
            <a:endParaRPr lang="en-US" sz="2200" dirty="0"/>
          </a:p>
        </p:txBody>
      </p:sp>
      <p:sp>
        <p:nvSpPr>
          <p:cNvPr id="5" name="Text 3"/>
          <p:cNvSpPr/>
          <p:nvPr/>
        </p:nvSpPr>
        <p:spPr>
          <a:xfrm>
            <a:off x="274320" y="512064"/>
            <a:ext cx="8686800" cy="265176"/>
          </a:xfrm>
          <a:prstGeom prst="rect">
            <a:avLst/>
          </a:prstGeom>
          <a:noFill/>
          <a:ln/>
        </p:spPr>
        <p:txBody>
          <a:bodyPr wrap="square" rtlCol="0" anchor="ctr"/>
          <a:lstStyle/>
          <a:p>
            <a:pPr marL="0" indent="0">
              <a:buNone/>
            </a:pPr>
            <a:r>
              <a:rPr lang="en-US" sz="950" b="1" dirty="0">
                <a:solidFill>
                  <a:schemeClr val="bg1"/>
                </a:solidFill>
                <a:latin typeface="Calibri" pitchFamily="34" charset="0"/>
                <a:ea typeface="Calibri" pitchFamily="34" charset="-122"/>
                <a:cs typeface="Calibri" pitchFamily="34" charset="-120"/>
              </a:rPr>
              <a:t>What this project is about</a:t>
            </a:r>
            <a:endParaRPr lang="en-US" sz="950" b="1" dirty="0">
              <a:solidFill>
                <a:schemeClr val="bg1"/>
              </a:solidFill>
            </a:endParaRPr>
          </a:p>
        </p:txBody>
      </p:sp>
      <p:sp>
        <p:nvSpPr>
          <p:cNvPr id="6" name="Shape 4"/>
          <p:cNvSpPr/>
          <p:nvPr/>
        </p:nvSpPr>
        <p:spPr>
          <a:xfrm>
            <a:off x="0" y="4892040"/>
            <a:ext cx="9144000" cy="251460"/>
          </a:xfrm>
          <a:prstGeom prst="rect">
            <a:avLst/>
          </a:prstGeom>
          <a:solidFill>
            <a:srgbClr val="1E2761"/>
          </a:solidFill>
          <a:ln w="12700">
            <a:solidFill>
              <a:srgbClr val="1E2761"/>
            </a:solidFill>
            <a:prstDash val="solid"/>
          </a:ln>
        </p:spPr>
      </p:sp>
      <p:sp>
        <p:nvSpPr>
          <p:cNvPr id="7" name="Text 5"/>
          <p:cNvSpPr/>
          <p:nvPr/>
        </p:nvSpPr>
        <p:spPr>
          <a:xfrm>
            <a:off x="0" y="4892040"/>
            <a:ext cx="9144000" cy="251460"/>
          </a:xfrm>
          <a:prstGeom prst="rect">
            <a:avLst/>
          </a:prstGeom>
          <a:noFill/>
          <a:ln/>
        </p:spPr>
        <p:txBody>
          <a:bodyPr wrap="square"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Remote Work Productivity Analysis  ·  Slide 6 of 41</a:t>
            </a:r>
            <a:endParaRPr lang="en-US" sz="800" dirty="0"/>
          </a:p>
        </p:txBody>
      </p:sp>
      <p:sp>
        <p:nvSpPr>
          <p:cNvPr id="8" name="Shape 6"/>
          <p:cNvSpPr/>
          <p:nvPr/>
        </p:nvSpPr>
        <p:spPr>
          <a:xfrm>
            <a:off x="228600" y="960120"/>
            <a:ext cx="4206240" cy="3794760"/>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9" name="Shape 7"/>
          <p:cNvSpPr/>
          <p:nvPr/>
        </p:nvSpPr>
        <p:spPr>
          <a:xfrm>
            <a:off x="228600" y="960120"/>
            <a:ext cx="4206240" cy="54864"/>
          </a:xfrm>
          <a:prstGeom prst="rect">
            <a:avLst/>
          </a:prstGeom>
          <a:solidFill>
            <a:srgbClr val="185FA5"/>
          </a:solidFill>
          <a:ln w="12700">
            <a:solidFill>
              <a:srgbClr val="185FA5"/>
            </a:solidFill>
            <a:prstDash val="solid"/>
          </a:ln>
        </p:spPr>
      </p:sp>
      <p:sp>
        <p:nvSpPr>
          <p:cNvPr id="10" name="Text 8"/>
          <p:cNvSpPr/>
          <p:nvPr/>
        </p:nvSpPr>
        <p:spPr>
          <a:xfrm>
            <a:off x="347472" y="1078992"/>
            <a:ext cx="3931920" cy="320040"/>
          </a:xfrm>
          <a:prstGeom prst="rect">
            <a:avLst/>
          </a:prstGeom>
          <a:noFill/>
          <a:ln/>
        </p:spPr>
        <p:txBody>
          <a:bodyPr wrap="square"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About This Project</a:t>
            </a:r>
            <a:endParaRPr lang="en-US" sz="1300" dirty="0"/>
          </a:p>
        </p:txBody>
      </p:sp>
      <p:sp>
        <p:nvSpPr>
          <p:cNvPr id="11" name="Text 9"/>
          <p:cNvSpPr/>
          <p:nvPr/>
        </p:nvSpPr>
        <p:spPr>
          <a:xfrm>
            <a:off x="347472" y="1463040"/>
            <a:ext cx="3977640" cy="59436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Remote work has reshaped the modern workplace — yet most organisations lack data-driven policies to manage it effectively.</a:t>
            </a:r>
            <a:endParaRPr lang="en-US" sz="1000" dirty="0"/>
          </a:p>
        </p:txBody>
      </p:sp>
      <p:sp>
        <p:nvSpPr>
          <p:cNvPr id="12" name="Text 10"/>
          <p:cNvSpPr/>
          <p:nvPr/>
        </p:nvSpPr>
        <p:spPr>
          <a:xfrm>
            <a:off x="347472" y="2121408"/>
            <a:ext cx="3977640" cy="59436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This graduation project analyses a dataset of 1,500 remote employees across 10 industries, 11 departments, and 5 job levels to answer a critical question:</a:t>
            </a:r>
            <a:endParaRPr lang="en-US" sz="1000" dirty="0"/>
          </a:p>
        </p:txBody>
      </p:sp>
      <p:sp>
        <p:nvSpPr>
          <p:cNvPr id="13" name="Text 11"/>
          <p:cNvSpPr/>
          <p:nvPr/>
        </p:nvSpPr>
        <p:spPr>
          <a:xfrm>
            <a:off x="347472" y="2779776"/>
            <a:ext cx="3977640" cy="594360"/>
          </a:xfrm>
          <a:prstGeom prst="rect">
            <a:avLst/>
          </a:prstGeom>
          <a:noFill/>
          <a:ln/>
        </p:spPr>
        <p:txBody>
          <a:bodyPr wrap="square" rtlCol="0" anchor="ctr"/>
          <a:lstStyle/>
          <a:p>
            <a:pPr marL="0" indent="0">
              <a:buNone/>
            </a:pPr>
            <a:r>
              <a:rPr lang="en-US" sz="1100" b="1" i="1" dirty="0">
                <a:solidFill>
                  <a:srgbClr val="185FA5"/>
                </a:solidFill>
                <a:latin typeface="Calibri" pitchFamily="34" charset="0"/>
                <a:ea typeface="Calibri" pitchFamily="34" charset="-122"/>
                <a:cs typeface="Calibri" pitchFamily="34" charset="-120"/>
              </a:rPr>
              <a:t>"What factors actually determine remote worker productivity?"</a:t>
            </a:r>
            <a:endParaRPr lang="en-US" sz="1100" dirty="0"/>
          </a:p>
        </p:txBody>
      </p:sp>
      <p:sp>
        <p:nvSpPr>
          <p:cNvPr id="14" name="Text 12"/>
          <p:cNvSpPr/>
          <p:nvPr/>
        </p:nvSpPr>
        <p:spPr>
          <a:xfrm>
            <a:off x="347472" y="3438144"/>
            <a:ext cx="3977640" cy="59436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The analysis uses a star-schema data model, three BI tools (Excel, Power BI, Tableau), and 30 measured variables to deliver evidence-based insights and actionable recommendations.</a:t>
            </a:r>
            <a:endParaRPr lang="en-US" sz="1000" dirty="0"/>
          </a:p>
        </p:txBody>
      </p:sp>
      <p:sp>
        <p:nvSpPr>
          <p:cNvPr id="15" name="Shape 13"/>
          <p:cNvSpPr/>
          <p:nvPr/>
        </p:nvSpPr>
        <p:spPr>
          <a:xfrm>
            <a:off x="4709160" y="960120"/>
            <a:ext cx="4206240" cy="3794760"/>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16" name="Shape 14"/>
          <p:cNvSpPr/>
          <p:nvPr/>
        </p:nvSpPr>
        <p:spPr>
          <a:xfrm>
            <a:off x="4709160" y="960120"/>
            <a:ext cx="4206240" cy="54864"/>
          </a:xfrm>
          <a:prstGeom prst="rect">
            <a:avLst/>
          </a:prstGeom>
          <a:solidFill>
            <a:srgbClr val="1D9E75"/>
          </a:solidFill>
          <a:ln w="12700">
            <a:solidFill>
              <a:srgbClr val="1D9E75"/>
            </a:solidFill>
            <a:prstDash val="solid"/>
          </a:ln>
        </p:spPr>
      </p:sp>
      <p:sp>
        <p:nvSpPr>
          <p:cNvPr id="17" name="Text 15"/>
          <p:cNvSpPr/>
          <p:nvPr/>
        </p:nvSpPr>
        <p:spPr>
          <a:xfrm>
            <a:off x="4828032" y="1078992"/>
            <a:ext cx="3931920" cy="320040"/>
          </a:xfrm>
          <a:prstGeom prst="rect">
            <a:avLst/>
          </a:prstGeom>
          <a:noFill/>
          <a:ln/>
        </p:spPr>
        <p:txBody>
          <a:bodyPr wrap="square"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Study Scope</a:t>
            </a:r>
            <a:endParaRPr lang="en-US" sz="1300" dirty="0"/>
          </a:p>
        </p:txBody>
      </p:sp>
      <p:sp>
        <p:nvSpPr>
          <p:cNvPr id="18" name="Text 16"/>
          <p:cNvSpPr/>
          <p:nvPr/>
        </p:nvSpPr>
        <p:spPr>
          <a:xfrm>
            <a:off x="4828032" y="1463040"/>
            <a:ext cx="347472" cy="347472"/>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19" name="Text 17"/>
          <p:cNvSpPr/>
          <p:nvPr/>
        </p:nvSpPr>
        <p:spPr>
          <a:xfrm>
            <a:off x="5212080" y="1490472"/>
            <a:ext cx="1188720" cy="292608"/>
          </a:xfrm>
          <a:prstGeom prst="rect">
            <a:avLst/>
          </a:prstGeom>
          <a:noFill/>
          <a:ln/>
        </p:spPr>
        <p:txBody>
          <a:bodyPr wrap="square"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Employees</a:t>
            </a:r>
            <a:endParaRPr lang="en-US" sz="950" dirty="0"/>
          </a:p>
        </p:txBody>
      </p:sp>
      <p:sp>
        <p:nvSpPr>
          <p:cNvPr id="20" name="Text 18"/>
          <p:cNvSpPr/>
          <p:nvPr/>
        </p:nvSpPr>
        <p:spPr>
          <a:xfrm>
            <a:off x="6492240" y="1490472"/>
            <a:ext cx="2286000" cy="292608"/>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1,500 remote workers</a:t>
            </a:r>
            <a:endParaRPr lang="en-US" sz="950" dirty="0"/>
          </a:p>
        </p:txBody>
      </p:sp>
      <p:sp>
        <p:nvSpPr>
          <p:cNvPr id="21" name="Shape 19"/>
          <p:cNvSpPr/>
          <p:nvPr/>
        </p:nvSpPr>
        <p:spPr>
          <a:xfrm>
            <a:off x="4828032" y="1847088"/>
            <a:ext cx="3931920" cy="0"/>
          </a:xfrm>
          <a:prstGeom prst="line">
            <a:avLst/>
          </a:prstGeom>
          <a:noFill/>
          <a:ln w="6350">
            <a:solidFill>
              <a:srgbClr val="D1D9EE"/>
            </a:solidFill>
            <a:prstDash val="solid"/>
          </a:ln>
        </p:spPr>
      </p:sp>
      <p:sp>
        <p:nvSpPr>
          <p:cNvPr id="22" name="Text 20"/>
          <p:cNvSpPr/>
          <p:nvPr/>
        </p:nvSpPr>
        <p:spPr>
          <a:xfrm>
            <a:off x="4828032" y="1920240"/>
            <a:ext cx="347472" cy="347472"/>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23" name="Text 21"/>
          <p:cNvSpPr/>
          <p:nvPr/>
        </p:nvSpPr>
        <p:spPr>
          <a:xfrm>
            <a:off x="5212080" y="1947672"/>
            <a:ext cx="1188720" cy="292608"/>
          </a:xfrm>
          <a:prstGeom prst="rect">
            <a:avLst/>
          </a:prstGeom>
          <a:noFill/>
          <a:ln/>
        </p:spPr>
        <p:txBody>
          <a:bodyPr wrap="square"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Industries</a:t>
            </a:r>
            <a:endParaRPr lang="en-US" sz="950" dirty="0"/>
          </a:p>
        </p:txBody>
      </p:sp>
      <p:sp>
        <p:nvSpPr>
          <p:cNvPr id="24" name="Text 22"/>
          <p:cNvSpPr/>
          <p:nvPr/>
        </p:nvSpPr>
        <p:spPr>
          <a:xfrm>
            <a:off x="6492240" y="1947672"/>
            <a:ext cx="2286000" cy="292608"/>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10 (Healthcare, Finance, Tech…)</a:t>
            </a:r>
            <a:endParaRPr lang="en-US" sz="950" dirty="0"/>
          </a:p>
        </p:txBody>
      </p:sp>
      <p:sp>
        <p:nvSpPr>
          <p:cNvPr id="25" name="Shape 23"/>
          <p:cNvSpPr/>
          <p:nvPr/>
        </p:nvSpPr>
        <p:spPr>
          <a:xfrm>
            <a:off x="4828032" y="2304288"/>
            <a:ext cx="3931920" cy="0"/>
          </a:xfrm>
          <a:prstGeom prst="line">
            <a:avLst/>
          </a:prstGeom>
          <a:noFill/>
          <a:ln w="6350">
            <a:solidFill>
              <a:srgbClr val="D1D9EE"/>
            </a:solidFill>
            <a:prstDash val="solid"/>
          </a:ln>
        </p:spPr>
      </p:sp>
      <p:sp>
        <p:nvSpPr>
          <p:cNvPr id="26" name="Text 24"/>
          <p:cNvSpPr/>
          <p:nvPr/>
        </p:nvSpPr>
        <p:spPr>
          <a:xfrm>
            <a:off x="4828032" y="2377440"/>
            <a:ext cx="347472" cy="347472"/>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27" name="Text 25"/>
          <p:cNvSpPr/>
          <p:nvPr/>
        </p:nvSpPr>
        <p:spPr>
          <a:xfrm>
            <a:off x="5212080" y="2404872"/>
            <a:ext cx="1188720" cy="292608"/>
          </a:xfrm>
          <a:prstGeom prst="rect">
            <a:avLst/>
          </a:prstGeom>
          <a:noFill/>
          <a:ln/>
        </p:spPr>
        <p:txBody>
          <a:bodyPr wrap="square"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Departments</a:t>
            </a:r>
            <a:endParaRPr lang="en-US" sz="950" dirty="0"/>
          </a:p>
        </p:txBody>
      </p:sp>
      <p:sp>
        <p:nvSpPr>
          <p:cNvPr id="28" name="Text 26"/>
          <p:cNvSpPr/>
          <p:nvPr/>
        </p:nvSpPr>
        <p:spPr>
          <a:xfrm>
            <a:off x="6492240" y="2404872"/>
            <a:ext cx="2286000" cy="292608"/>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11 (Engineering, Design, HR…)</a:t>
            </a:r>
            <a:endParaRPr lang="en-US" sz="950" dirty="0"/>
          </a:p>
        </p:txBody>
      </p:sp>
      <p:sp>
        <p:nvSpPr>
          <p:cNvPr id="29" name="Shape 27"/>
          <p:cNvSpPr/>
          <p:nvPr/>
        </p:nvSpPr>
        <p:spPr>
          <a:xfrm>
            <a:off x="4828032" y="2761488"/>
            <a:ext cx="3931920" cy="0"/>
          </a:xfrm>
          <a:prstGeom prst="line">
            <a:avLst/>
          </a:prstGeom>
          <a:noFill/>
          <a:ln w="6350">
            <a:solidFill>
              <a:srgbClr val="D1D9EE"/>
            </a:solidFill>
            <a:prstDash val="solid"/>
          </a:ln>
        </p:spPr>
      </p:sp>
      <p:sp>
        <p:nvSpPr>
          <p:cNvPr id="30" name="Text 28"/>
          <p:cNvSpPr/>
          <p:nvPr/>
        </p:nvSpPr>
        <p:spPr>
          <a:xfrm>
            <a:off x="4828032" y="2834640"/>
            <a:ext cx="347472" cy="347472"/>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31" name="Text 29"/>
          <p:cNvSpPr/>
          <p:nvPr/>
        </p:nvSpPr>
        <p:spPr>
          <a:xfrm>
            <a:off x="5212080" y="2862072"/>
            <a:ext cx="1188720" cy="292608"/>
          </a:xfrm>
          <a:prstGeom prst="rect">
            <a:avLst/>
          </a:prstGeom>
          <a:noFill/>
          <a:ln/>
        </p:spPr>
        <p:txBody>
          <a:bodyPr wrap="square"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Job Levels</a:t>
            </a:r>
            <a:endParaRPr lang="en-US" sz="950" dirty="0"/>
          </a:p>
        </p:txBody>
      </p:sp>
      <p:sp>
        <p:nvSpPr>
          <p:cNvPr id="32" name="Text 30"/>
          <p:cNvSpPr/>
          <p:nvPr/>
        </p:nvSpPr>
        <p:spPr>
          <a:xfrm>
            <a:off x="6492240" y="2862072"/>
            <a:ext cx="2286000" cy="292608"/>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5 (Junior → Director)</a:t>
            </a:r>
            <a:endParaRPr lang="en-US" sz="950" dirty="0"/>
          </a:p>
        </p:txBody>
      </p:sp>
      <p:sp>
        <p:nvSpPr>
          <p:cNvPr id="33" name="Shape 31"/>
          <p:cNvSpPr/>
          <p:nvPr/>
        </p:nvSpPr>
        <p:spPr>
          <a:xfrm>
            <a:off x="4828032" y="3218688"/>
            <a:ext cx="3931920" cy="0"/>
          </a:xfrm>
          <a:prstGeom prst="line">
            <a:avLst/>
          </a:prstGeom>
          <a:noFill/>
          <a:ln w="6350">
            <a:solidFill>
              <a:srgbClr val="D1D9EE"/>
            </a:solidFill>
            <a:prstDash val="solid"/>
          </a:ln>
        </p:spPr>
      </p:sp>
      <p:sp>
        <p:nvSpPr>
          <p:cNvPr id="34" name="Text 32"/>
          <p:cNvSpPr/>
          <p:nvPr/>
        </p:nvSpPr>
        <p:spPr>
          <a:xfrm>
            <a:off x="4828032" y="3291840"/>
            <a:ext cx="347472" cy="347472"/>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35" name="Text 33"/>
          <p:cNvSpPr/>
          <p:nvPr/>
        </p:nvSpPr>
        <p:spPr>
          <a:xfrm>
            <a:off x="5212080" y="3319272"/>
            <a:ext cx="1188720" cy="292608"/>
          </a:xfrm>
          <a:prstGeom prst="rect">
            <a:avLst/>
          </a:prstGeom>
          <a:noFill/>
          <a:ln/>
        </p:spPr>
        <p:txBody>
          <a:bodyPr wrap="square"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Variables</a:t>
            </a:r>
            <a:endParaRPr lang="en-US" sz="950" dirty="0"/>
          </a:p>
        </p:txBody>
      </p:sp>
      <p:sp>
        <p:nvSpPr>
          <p:cNvPr id="36" name="Text 34"/>
          <p:cNvSpPr/>
          <p:nvPr/>
        </p:nvSpPr>
        <p:spPr>
          <a:xfrm>
            <a:off x="6492240" y="3319272"/>
            <a:ext cx="2286000" cy="292608"/>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30 measured dimensions</a:t>
            </a:r>
            <a:endParaRPr lang="en-US" sz="950" dirty="0"/>
          </a:p>
        </p:txBody>
      </p:sp>
      <p:sp>
        <p:nvSpPr>
          <p:cNvPr id="37" name="Shape 35"/>
          <p:cNvSpPr/>
          <p:nvPr/>
        </p:nvSpPr>
        <p:spPr>
          <a:xfrm>
            <a:off x="4828032" y="3675888"/>
            <a:ext cx="3931920" cy="0"/>
          </a:xfrm>
          <a:prstGeom prst="line">
            <a:avLst/>
          </a:prstGeom>
          <a:noFill/>
          <a:ln w="6350">
            <a:solidFill>
              <a:srgbClr val="D1D9EE"/>
            </a:solidFill>
            <a:prstDash val="solid"/>
          </a:ln>
        </p:spPr>
      </p:sp>
      <p:sp>
        <p:nvSpPr>
          <p:cNvPr id="38" name="Text 36"/>
          <p:cNvSpPr/>
          <p:nvPr/>
        </p:nvSpPr>
        <p:spPr>
          <a:xfrm>
            <a:off x="4828032" y="3749040"/>
            <a:ext cx="347472" cy="347472"/>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39" name="Text 37"/>
          <p:cNvSpPr/>
          <p:nvPr/>
        </p:nvSpPr>
        <p:spPr>
          <a:xfrm>
            <a:off x="5212080" y="3776472"/>
            <a:ext cx="1188720" cy="292608"/>
          </a:xfrm>
          <a:prstGeom prst="rect">
            <a:avLst/>
          </a:prstGeom>
          <a:noFill/>
          <a:ln/>
        </p:spPr>
        <p:txBody>
          <a:bodyPr wrap="square"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BI Tools</a:t>
            </a:r>
            <a:endParaRPr lang="en-US" sz="950" dirty="0"/>
          </a:p>
        </p:txBody>
      </p:sp>
      <p:sp>
        <p:nvSpPr>
          <p:cNvPr id="40" name="Text 38"/>
          <p:cNvSpPr/>
          <p:nvPr/>
        </p:nvSpPr>
        <p:spPr>
          <a:xfrm>
            <a:off x="6492240" y="3776472"/>
            <a:ext cx="2286000" cy="292608"/>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Excel · Power BI · Tableau</a:t>
            </a:r>
            <a:endParaRPr lang="en-US" sz="950" dirty="0"/>
          </a:p>
        </p:txBody>
      </p:sp>
      <p:sp>
        <p:nvSpPr>
          <p:cNvPr id="41" name="Shape 39"/>
          <p:cNvSpPr/>
          <p:nvPr/>
        </p:nvSpPr>
        <p:spPr>
          <a:xfrm>
            <a:off x="4828032" y="4133088"/>
            <a:ext cx="3931920" cy="0"/>
          </a:xfrm>
          <a:prstGeom prst="line">
            <a:avLst/>
          </a:prstGeom>
          <a:noFill/>
          <a:ln w="6350">
            <a:solidFill>
              <a:srgbClr val="D1D9EE"/>
            </a:solidFill>
            <a:prstDash val="solid"/>
          </a:ln>
        </p:spPr>
      </p:sp>
      <p:sp>
        <p:nvSpPr>
          <p:cNvPr id="42" name="Text 40"/>
          <p:cNvSpPr/>
          <p:nvPr/>
        </p:nvSpPr>
        <p:spPr>
          <a:xfrm>
            <a:off x="4828032" y="4206240"/>
            <a:ext cx="347472" cy="347472"/>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43" name="Text 41"/>
          <p:cNvSpPr/>
          <p:nvPr/>
        </p:nvSpPr>
        <p:spPr>
          <a:xfrm>
            <a:off x="5212080" y="4233672"/>
            <a:ext cx="1188720" cy="292608"/>
          </a:xfrm>
          <a:prstGeom prst="rect">
            <a:avLst/>
          </a:prstGeom>
          <a:noFill/>
          <a:ln/>
        </p:spPr>
        <p:txBody>
          <a:bodyPr wrap="square"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Data Model</a:t>
            </a:r>
            <a:endParaRPr lang="en-US" sz="950" dirty="0"/>
          </a:p>
        </p:txBody>
      </p:sp>
      <p:sp>
        <p:nvSpPr>
          <p:cNvPr id="44" name="Text 42"/>
          <p:cNvSpPr/>
          <p:nvPr/>
        </p:nvSpPr>
        <p:spPr>
          <a:xfrm>
            <a:off x="6492240" y="4233672"/>
            <a:ext cx="2286000" cy="292608"/>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Star Schema (Fact + 4 Dims)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Shape 1"/>
          <p:cNvSpPr/>
          <p:nvPr/>
        </p:nvSpPr>
        <p:spPr>
          <a:xfrm>
            <a:off x="0" y="0"/>
            <a:ext cx="109728" cy="777240"/>
          </a:xfrm>
          <a:prstGeom prst="rect">
            <a:avLst/>
          </a:prstGeom>
          <a:solidFill>
            <a:srgbClr val="1D9E75"/>
          </a:solidFill>
          <a:ln w="12700">
            <a:solidFill>
              <a:srgbClr val="1D9E75"/>
            </a:solidFill>
            <a:prstDash val="solid"/>
          </a:ln>
        </p:spPr>
      </p:sp>
      <p:sp>
        <p:nvSpPr>
          <p:cNvPr id="4" name="Text 2"/>
          <p:cNvSpPr/>
          <p:nvPr/>
        </p:nvSpPr>
        <p:spPr>
          <a:xfrm>
            <a:off x="274320" y="0"/>
            <a:ext cx="8686800" cy="7772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Project Goals</a:t>
            </a:r>
            <a:endParaRPr lang="en-US" sz="2200" dirty="0"/>
          </a:p>
        </p:txBody>
      </p:sp>
      <p:sp>
        <p:nvSpPr>
          <p:cNvPr id="5" name="Text 3"/>
          <p:cNvSpPr/>
          <p:nvPr/>
        </p:nvSpPr>
        <p:spPr>
          <a:xfrm>
            <a:off x="274320" y="512064"/>
            <a:ext cx="8686800" cy="265176"/>
          </a:xfrm>
          <a:prstGeom prst="rect">
            <a:avLst/>
          </a:prstGeom>
          <a:noFill/>
          <a:ln/>
        </p:spPr>
        <p:txBody>
          <a:bodyPr wrap="square" rtlCol="0" anchor="ctr"/>
          <a:lstStyle/>
          <a:p>
            <a:pPr marL="0" indent="0">
              <a:buNone/>
            </a:pPr>
            <a:r>
              <a:rPr lang="en-US" sz="950" b="1" dirty="0">
                <a:solidFill>
                  <a:schemeClr val="bg1"/>
                </a:solidFill>
                <a:latin typeface="Calibri" pitchFamily="34" charset="0"/>
                <a:ea typeface="Calibri" pitchFamily="34" charset="-122"/>
                <a:cs typeface="Calibri" pitchFamily="34" charset="-120"/>
              </a:rPr>
              <a:t>What we aim to achieve</a:t>
            </a:r>
            <a:endParaRPr lang="en-US" sz="950" b="1" dirty="0">
              <a:solidFill>
                <a:schemeClr val="bg1"/>
              </a:solidFill>
            </a:endParaRPr>
          </a:p>
        </p:txBody>
      </p:sp>
      <p:sp>
        <p:nvSpPr>
          <p:cNvPr id="6" name="Shape 4"/>
          <p:cNvSpPr/>
          <p:nvPr/>
        </p:nvSpPr>
        <p:spPr>
          <a:xfrm>
            <a:off x="0" y="4892040"/>
            <a:ext cx="9144000" cy="251460"/>
          </a:xfrm>
          <a:prstGeom prst="rect">
            <a:avLst/>
          </a:prstGeom>
          <a:solidFill>
            <a:srgbClr val="1E2761"/>
          </a:solidFill>
          <a:ln w="12700">
            <a:solidFill>
              <a:srgbClr val="1E2761"/>
            </a:solidFill>
            <a:prstDash val="solid"/>
          </a:ln>
        </p:spPr>
      </p:sp>
      <p:sp>
        <p:nvSpPr>
          <p:cNvPr id="7" name="Text 5"/>
          <p:cNvSpPr/>
          <p:nvPr/>
        </p:nvSpPr>
        <p:spPr>
          <a:xfrm>
            <a:off x="0" y="4892040"/>
            <a:ext cx="9144000" cy="251460"/>
          </a:xfrm>
          <a:prstGeom prst="rect">
            <a:avLst/>
          </a:prstGeom>
          <a:noFill/>
          <a:ln/>
        </p:spPr>
        <p:txBody>
          <a:bodyPr wrap="square"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Remote Work Productivity Analysis  ·  Slide 7 of 41</a:t>
            </a:r>
            <a:endParaRPr lang="en-US" sz="800" dirty="0"/>
          </a:p>
        </p:txBody>
      </p:sp>
      <p:sp>
        <p:nvSpPr>
          <p:cNvPr id="8" name="Shape 6"/>
          <p:cNvSpPr/>
          <p:nvPr/>
        </p:nvSpPr>
        <p:spPr>
          <a:xfrm>
            <a:off x="228600" y="932688"/>
            <a:ext cx="4315968" cy="1143000"/>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9" name="Shape 7"/>
          <p:cNvSpPr/>
          <p:nvPr/>
        </p:nvSpPr>
        <p:spPr>
          <a:xfrm>
            <a:off x="228600" y="932688"/>
            <a:ext cx="4315968" cy="54864"/>
          </a:xfrm>
          <a:prstGeom prst="rect">
            <a:avLst/>
          </a:prstGeom>
          <a:solidFill>
            <a:srgbClr val="185FA5"/>
          </a:solidFill>
          <a:ln w="12700">
            <a:solidFill>
              <a:srgbClr val="185FA5"/>
            </a:solidFill>
            <a:prstDash val="solid"/>
          </a:ln>
        </p:spPr>
      </p:sp>
      <p:sp>
        <p:nvSpPr>
          <p:cNvPr id="10" name="Shape 8"/>
          <p:cNvSpPr/>
          <p:nvPr/>
        </p:nvSpPr>
        <p:spPr>
          <a:xfrm>
            <a:off x="338328" y="1060704"/>
            <a:ext cx="347472" cy="347472"/>
          </a:xfrm>
          <a:prstGeom prst="ellipse">
            <a:avLst/>
          </a:prstGeom>
          <a:solidFill>
            <a:srgbClr val="185FA5"/>
          </a:solidFill>
          <a:ln w="12700">
            <a:solidFill>
              <a:srgbClr val="185FA5"/>
            </a:solidFill>
            <a:prstDash val="solid"/>
          </a:ln>
        </p:spPr>
      </p:sp>
      <p:sp>
        <p:nvSpPr>
          <p:cNvPr id="11" name="Text 9"/>
          <p:cNvSpPr/>
          <p:nvPr/>
        </p:nvSpPr>
        <p:spPr>
          <a:xfrm>
            <a:off x="338328" y="1060704"/>
            <a:ext cx="347472"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01</a:t>
            </a:r>
            <a:endParaRPr lang="en-US" sz="1000" dirty="0"/>
          </a:p>
        </p:txBody>
      </p:sp>
      <p:sp>
        <p:nvSpPr>
          <p:cNvPr id="12" name="Text 10"/>
          <p:cNvSpPr/>
          <p:nvPr/>
        </p:nvSpPr>
        <p:spPr>
          <a:xfrm>
            <a:off x="777240" y="1042416"/>
            <a:ext cx="3657600" cy="292608"/>
          </a:xfrm>
          <a:prstGeom prst="rect">
            <a:avLst/>
          </a:prstGeom>
          <a:noFill/>
          <a:ln/>
        </p:spPr>
        <p:txBody>
          <a:bodyPr wrap="square"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Identify Productivity Drivers</a:t>
            </a:r>
            <a:endParaRPr lang="en-US" sz="1100" dirty="0"/>
          </a:p>
        </p:txBody>
      </p:sp>
      <p:sp>
        <p:nvSpPr>
          <p:cNvPr id="13" name="Text 11"/>
          <p:cNvSpPr/>
          <p:nvPr/>
        </p:nvSpPr>
        <p:spPr>
          <a:xfrm>
            <a:off x="338328" y="1408176"/>
            <a:ext cx="4096512" cy="566928"/>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Determine which variables (manager support, WFH days, home office quality, etc.) have the strongest correlation with remote worker productivity.</a:t>
            </a:r>
            <a:endParaRPr lang="en-US" sz="900" dirty="0"/>
          </a:p>
        </p:txBody>
      </p:sp>
      <p:sp>
        <p:nvSpPr>
          <p:cNvPr id="14" name="Shape 12"/>
          <p:cNvSpPr/>
          <p:nvPr/>
        </p:nvSpPr>
        <p:spPr>
          <a:xfrm>
            <a:off x="4690872" y="932688"/>
            <a:ext cx="4315968" cy="1143000"/>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15" name="Shape 13"/>
          <p:cNvSpPr/>
          <p:nvPr/>
        </p:nvSpPr>
        <p:spPr>
          <a:xfrm>
            <a:off x="4690872" y="932688"/>
            <a:ext cx="4315968" cy="54864"/>
          </a:xfrm>
          <a:prstGeom prst="rect">
            <a:avLst/>
          </a:prstGeom>
          <a:solidFill>
            <a:srgbClr val="1D9E75"/>
          </a:solidFill>
          <a:ln w="12700">
            <a:solidFill>
              <a:srgbClr val="1D9E75"/>
            </a:solidFill>
            <a:prstDash val="solid"/>
          </a:ln>
        </p:spPr>
      </p:sp>
      <p:sp>
        <p:nvSpPr>
          <p:cNvPr id="16" name="Shape 14"/>
          <p:cNvSpPr/>
          <p:nvPr/>
        </p:nvSpPr>
        <p:spPr>
          <a:xfrm>
            <a:off x="4800600" y="1060704"/>
            <a:ext cx="347472" cy="347472"/>
          </a:xfrm>
          <a:prstGeom prst="ellipse">
            <a:avLst/>
          </a:prstGeom>
          <a:solidFill>
            <a:srgbClr val="1D9E75"/>
          </a:solidFill>
          <a:ln w="12700">
            <a:solidFill>
              <a:srgbClr val="1D9E75"/>
            </a:solidFill>
            <a:prstDash val="solid"/>
          </a:ln>
        </p:spPr>
      </p:sp>
      <p:sp>
        <p:nvSpPr>
          <p:cNvPr id="17" name="Text 15"/>
          <p:cNvSpPr/>
          <p:nvPr/>
        </p:nvSpPr>
        <p:spPr>
          <a:xfrm>
            <a:off x="4800600" y="1060704"/>
            <a:ext cx="347472"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02</a:t>
            </a:r>
            <a:endParaRPr lang="en-US" sz="1000" dirty="0"/>
          </a:p>
        </p:txBody>
      </p:sp>
      <p:sp>
        <p:nvSpPr>
          <p:cNvPr id="18" name="Text 16"/>
          <p:cNvSpPr/>
          <p:nvPr/>
        </p:nvSpPr>
        <p:spPr>
          <a:xfrm>
            <a:off x="5239512" y="1042416"/>
            <a:ext cx="3657600" cy="292608"/>
          </a:xfrm>
          <a:prstGeom prst="rect">
            <a:avLst/>
          </a:prstGeom>
          <a:noFill/>
          <a:ln/>
        </p:spPr>
        <p:txBody>
          <a:bodyPr wrap="square"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Analyse KPI Performance</a:t>
            </a:r>
            <a:endParaRPr lang="en-US" sz="1100" dirty="0"/>
          </a:p>
        </p:txBody>
      </p:sp>
      <p:sp>
        <p:nvSpPr>
          <p:cNvPr id="19" name="Text 17"/>
          <p:cNvSpPr/>
          <p:nvPr/>
        </p:nvSpPr>
        <p:spPr>
          <a:xfrm>
            <a:off x="4800600" y="1408176"/>
            <a:ext cx="4096512" cy="566928"/>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Measure and benchmark 10 key performance indicators across industries, job levels, and demographic segments.</a:t>
            </a:r>
            <a:endParaRPr lang="en-US" sz="900" dirty="0"/>
          </a:p>
        </p:txBody>
      </p:sp>
      <p:sp>
        <p:nvSpPr>
          <p:cNvPr id="20" name="Shape 18"/>
          <p:cNvSpPr/>
          <p:nvPr/>
        </p:nvSpPr>
        <p:spPr>
          <a:xfrm>
            <a:off x="228600" y="2194560"/>
            <a:ext cx="4315968" cy="1143000"/>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21" name="Shape 19"/>
          <p:cNvSpPr/>
          <p:nvPr/>
        </p:nvSpPr>
        <p:spPr>
          <a:xfrm>
            <a:off x="228600" y="2194560"/>
            <a:ext cx="4315968" cy="54864"/>
          </a:xfrm>
          <a:prstGeom prst="rect">
            <a:avLst/>
          </a:prstGeom>
          <a:solidFill>
            <a:srgbClr val="BA7517"/>
          </a:solidFill>
          <a:ln w="12700">
            <a:solidFill>
              <a:srgbClr val="BA7517"/>
            </a:solidFill>
            <a:prstDash val="solid"/>
          </a:ln>
        </p:spPr>
      </p:sp>
      <p:sp>
        <p:nvSpPr>
          <p:cNvPr id="22" name="Shape 20"/>
          <p:cNvSpPr/>
          <p:nvPr/>
        </p:nvSpPr>
        <p:spPr>
          <a:xfrm>
            <a:off x="338328" y="2322576"/>
            <a:ext cx="347472" cy="347472"/>
          </a:xfrm>
          <a:prstGeom prst="ellipse">
            <a:avLst/>
          </a:prstGeom>
          <a:solidFill>
            <a:srgbClr val="BA7517"/>
          </a:solidFill>
          <a:ln w="12700">
            <a:solidFill>
              <a:srgbClr val="BA7517"/>
            </a:solidFill>
            <a:prstDash val="solid"/>
          </a:ln>
        </p:spPr>
      </p:sp>
      <p:sp>
        <p:nvSpPr>
          <p:cNvPr id="23" name="Text 21"/>
          <p:cNvSpPr/>
          <p:nvPr/>
        </p:nvSpPr>
        <p:spPr>
          <a:xfrm>
            <a:off x="338328" y="2322576"/>
            <a:ext cx="347472"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03</a:t>
            </a:r>
            <a:endParaRPr lang="en-US" sz="1000" dirty="0"/>
          </a:p>
        </p:txBody>
      </p:sp>
      <p:sp>
        <p:nvSpPr>
          <p:cNvPr id="24" name="Text 22"/>
          <p:cNvSpPr/>
          <p:nvPr/>
        </p:nvSpPr>
        <p:spPr>
          <a:xfrm>
            <a:off x="777240" y="2304288"/>
            <a:ext cx="3657600" cy="292608"/>
          </a:xfrm>
          <a:prstGeom prst="rect">
            <a:avLst/>
          </a:prstGeom>
          <a:noFill/>
          <a:ln/>
        </p:spPr>
        <p:txBody>
          <a:bodyPr wrap="square"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Build a Scalable Data Model</a:t>
            </a:r>
            <a:endParaRPr lang="en-US" sz="1100" dirty="0"/>
          </a:p>
        </p:txBody>
      </p:sp>
      <p:sp>
        <p:nvSpPr>
          <p:cNvPr id="25" name="Text 23"/>
          <p:cNvSpPr/>
          <p:nvPr/>
        </p:nvSpPr>
        <p:spPr>
          <a:xfrm>
            <a:off x="338328" y="2670048"/>
            <a:ext cx="4096512" cy="566928"/>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Design a normalised star-schema data model that enables flexible, accurate analysis without data redundancy.</a:t>
            </a:r>
            <a:endParaRPr lang="en-US" sz="900" dirty="0"/>
          </a:p>
        </p:txBody>
      </p:sp>
      <p:sp>
        <p:nvSpPr>
          <p:cNvPr id="26" name="Shape 24"/>
          <p:cNvSpPr/>
          <p:nvPr/>
        </p:nvSpPr>
        <p:spPr>
          <a:xfrm>
            <a:off x="4690872" y="2194560"/>
            <a:ext cx="4315968" cy="1143000"/>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27" name="Shape 25"/>
          <p:cNvSpPr/>
          <p:nvPr/>
        </p:nvSpPr>
        <p:spPr>
          <a:xfrm>
            <a:off x="4690872" y="2194560"/>
            <a:ext cx="4315968" cy="54864"/>
          </a:xfrm>
          <a:prstGeom prst="rect">
            <a:avLst/>
          </a:prstGeom>
          <a:solidFill>
            <a:srgbClr val="185FA5"/>
          </a:solidFill>
          <a:ln w="12700">
            <a:solidFill>
              <a:srgbClr val="185FA5"/>
            </a:solidFill>
            <a:prstDash val="solid"/>
          </a:ln>
        </p:spPr>
      </p:sp>
      <p:sp>
        <p:nvSpPr>
          <p:cNvPr id="28" name="Shape 26"/>
          <p:cNvSpPr/>
          <p:nvPr/>
        </p:nvSpPr>
        <p:spPr>
          <a:xfrm>
            <a:off x="4800600" y="2322576"/>
            <a:ext cx="347472" cy="347472"/>
          </a:xfrm>
          <a:prstGeom prst="ellipse">
            <a:avLst/>
          </a:prstGeom>
          <a:solidFill>
            <a:srgbClr val="185FA5"/>
          </a:solidFill>
          <a:ln w="12700">
            <a:solidFill>
              <a:srgbClr val="185FA5"/>
            </a:solidFill>
            <a:prstDash val="solid"/>
          </a:ln>
        </p:spPr>
      </p:sp>
      <p:sp>
        <p:nvSpPr>
          <p:cNvPr id="29" name="Text 27"/>
          <p:cNvSpPr/>
          <p:nvPr/>
        </p:nvSpPr>
        <p:spPr>
          <a:xfrm>
            <a:off x="4800600" y="2322576"/>
            <a:ext cx="347472"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04</a:t>
            </a:r>
            <a:endParaRPr lang="en-US" sz="1000" dirty="0"/>
          </a:p>
        </p:txBody>
      </p:sp>
      <p:sp>
        <p:nvSpPr>
          <p:cNvPr id="30" name="Text 28"/>
          <p:cNvSpPr/>
          <p:nvPr/>
        </p:nvSpPr>
        <p:spPr>
          <a:xfrm>
            <a:off x="5239512" y="2304288"/>
            <a:ext cx="3657600" cy="292608"/>
          </a:xfrm>
          <a:prstGeom prst="rect">
            <a:avLst/>
          </a:prstGeom>
          <a:noFill/>
          <a:ln/>
        </p:spPr>
        <p:txBody>
          <a:bodyPr wrap="square"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Answer Business Questions</a:t>
            </a:r>
            <a:endParaRPr lang="en-US" sz="1100" dirty="0"/>
          </a:p>
        </p:txBody>
      </p:sp>
      <p:sp>
        <p:nvSpPr>
          <p:cNvPr id="31" name="Text 29"/>
          <p:cNvSpPr/>
          <p:nvPr/>
        </p:nvSpPr>
        <p:spPr>
          <a:xfrm>
            <a:off x="4800600" y="2670048"/>
            <a:ext cx="4096512" cy="566928"/>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Provide data-driven answers to 8 core business questions related to remote work policy, management, and workspace investment.</a:t>
            </a:r>
            <a:endParaRPr lang="en-US" sz="900" dirty="0"/>
          </a:p>
        </p:txBody>
      </p:sp>
      <p:sp>
        <p:nvSpPr>
          <p:cNvPr id="32" name="Shape 30"/>
          <p:cNvSpPr/>
          <p:nvPr/>
        </p:nvSpPr>
        <p:spPr>
          <a:xfrm>
            <a:off x="228600" y="3456432"/>
            <a:ext cx="4315968" cy="1143000"/>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33" name="Shape 31"/>
          <p:cNvSpPr/>
          <p:nvPr/>
        </p:nvSpPr>
        <p:spPr>
          <a:xfrm>
            <a:off x="228600" y="3456432"/>
            <a:ext cx="4315968" cy="54864"/>
          </a:xfrm>
          <a:prstGeom prst="rect">
            <a:avLst/>
          </a:prstGeom>
          <a:solidFill>
            <a:srgbClr val="1D9E75"/>
          </a:solidFill>
          <a:ln w="12700">
            <a:solidFill>
              <a:srgbClr val="1D9E75"/>
            </a:solidFill>
            <a:prstDash val="solid"/>
          </a:ln>
        </p:spPr>
      </p:sp>
      <p:sp>
        <p:nvSpPr>
          <p:cNvPr id="34" name="Shape 32"/>
          <p:cNvSpPr/>
          <p:nvPr/>
        </p:nvSpPr>
        <p:spPr>
          <a:xfrm>
            <a:off x="338328" y="3584448"/>
            <a:ext cx="347472" cy="347472"/>
          </a:xfrm>
          <a:prstGeom prst="ellipse">
            <a:avLst/>
          </a:prstGeom>
          <a:solidFill>
            <a:srgbClr val="1D9E75"/>
          </a:solidFill>
          <a:ln w="12700">
            <a:solidFill>
              <a:srgbClr val="1D9E75"/>
            </a:solidFill>
            <a:prstDash val="solid"/>
          </a:ln>
        </p:spPr>
      </p:sp>
      <p:sp>
        <p:nvSpPr>
          <p:cNvPr id="35" name="Text 33"/>
          <p:cNvSpPr/>
          <p:nvPr/>
        </p:nvSpPr>
        <p:spPr>
          <a:xfrm>
            <a:off x="338328" y="3584448"/>
            <a:ext cx="347472"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05</a:t>
            </a:r>
            <a:endParaRPr lang="en-US" sz="1000" dirty="0"/>
          </a:p>
        </p:txBody>
      </p:sp>
      <p:sp>
        <p:nvSpPr>
          <p:cNvPr id="36" name="Text 34"/>
          <p:cNvSpPr/>
          <p:nvPr/>
        </p:nvSpPr>
        <p:spPr>
          <a:xfrm>
            <a:off x="777240" y="3566160"/>
            <a:ext cx="3657600" cy="292608"/>
          </a:xfrm>
          <a:prstGeom prst="rect">
            <a:avLst/>
          </a:prstGeom>
          <a:noFill/>
          <a:ln/>
        </p:spPr>
        <p:txBody>
          <a:bodyPr wrap="square"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Create Multi-Tool Dashboards</a:t>
            </a:r>
            <a:endParaRPr lang="en-US" sz="1100" dirty="0"/>
          </a:p>
        </p:txBody>
      </p:sp>
      <p:sp>
        <p:nvSpPr>
          <p:cNvPr id="37" name="Text 35"/>
          <p:cNvSpPr/>
          <p:nvPr/>
        </p:nvSpPr>
        <p:spPr>
          <a:xfrm>
            <a:off x="338328" y="3931920"/>
            <a:ext cx="4096512" cy="566928"/>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Build interactive dashboards in Excel, Power BI, and Tableau to demonstrate cross-platform BI competency.</a:t>
            </a:r>
            <a:endParaRPr lang="en-US" sz="900" dirty="0"/>
          </a:p>
        </p:txBody>
      </p:sp>
      <p:sp>
        <p:nvSpPr>
          <p:cNvPr id="38" name="Shape 36"/>
          <p:cNvSpPr/>
          <p:nvPr/>
        </p:nvSpPr>
        <p:spPr>
          <a:xfrm>
            <a:off x="4690872" y="3456432"/>
            <a:ext cx="4315968" cy="1143000"/>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39" name="Shape 37"/>
          <p:cNvSpPr/>
          <p:nvPr/>
        </p:nvSpPr>
        <p:spPr>
          <a:xfrm>
            <a:off x="4690872" y="3456432"/>
            <a:ext cx="4315968" cy="54864"/>
          </a:xfrm>
          <a:prstGeom prst="rect">
            <a:avLst/>
          </a:prstGeom>
          <a:solidFill>
            <a:srgbClr val="BA7517"/>
          </a:solidFill>
          <a:ln w="12700">
            <a:solidFill>
              <a:srgbClr val="BA7517"/>
            </a:solidFill>
            <a:prstDash val="solid"/>
          </a:ln>
        </p:spPr>
      </p:sp>
      <p:sp>
        <p:nvSpPr>
          <p:cNvPr id="40" name="Shape 38"/>
          <p:cNvSpPr/>
          <p:nvPr/>
        </p:nvSpPr>
        <p:spPr>
          <a:xfrm>
            <a:off x="4800600" y="3584448"/>
            <a:ext cx="347472" cy="347472"/>
          </a:xfrm>
          <a:prstGeom prst="ellipse">
            <a:avLst/>
          </a:prstGeom>
          <a:solidFill>
            <a:srgbClr val="BA7517"/>
          </a:solidFill>
          <a:ln w="12700">
            <a:solidFill>
              <a:srgbClr val="BA7517"/>
            </a:solidFill>
            <a:prstDash val="solid"/>
          </a:ln>
        </p:spPr>
      </p:sp>
      <p:sp>
        <p:nvSpPr>
          <p:cNvPr id="41" name="Text 39"/>
          <p:cNvSpPr/>
          <p:nvPr/>
        </p:nvSpPr>
        <p:spPr>
          <a:xfrm>
            <a:off x="4800600" y="3584448"/>
            <a:ext cx="347472"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06</a:t>
            </a:r>
            <a:endParaRPr lang="en-US" sz="1000" dirty="0"/>
          </a:p>
        </p:txBody>
      </p:sp>
      <p:sp>
        <p:nvSpPr>
          <p:cNvPr id="42" name="Text 40"/>
          <p:cNvSpPr/>
          <p:nvPr/>
        </p:nvSpPr>
        <p:spPr>
          <a:xfrm>
            <a:off x="5239512" y="3566160"/>
            <a:ext cx="3657600" cy="292608"/>
          </a:xfrm>
          <a:prstGeom prst="rect">
            <a:avLst/>
          </a:prstGeom>
          <a:noFill/>
          <a:ln/>
        </p:spPr>
        <p:txBody>
          <a:bodyPr wrap="square"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Deliver Strategic Recommendations</a:t>
            </a:r>
            <a:endParaRPr lang="en-US" sz="1100" dirty="0"/>
          </a:p>
        </p:txBody>
      </p:sp>
      <p:sp>
        <p:nvSpPr>
          <p:cNvPr id="43" name="Text 41"/>
          <p:cNvSpPr/>
          <p:nvPr/>
        </p:nvSpPr>
        <p:spPr>
          <a:xfrm>
            <a:off x="4800600" y="3931920"/>
            <a:ext cx="4096512" cy="566928"/>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Translate findings into a prioritised action plan with quantified expected impact — suitable for executive decision-making.</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Shape 1"/>
          <p:cNvSpPr/>
          <p:nvPr/>
        </p:nvSpPr>
        <p:spPr>
          <a:xfrm>
            <a:off x="0" y="0"/>
            <a:ext cx="109728" cy="777240"/>
          </a:xfrm>
          <a:prstGeom prst="rect">
            <a:avLst/>
          </a:prstGeom>
          <a:solidFill>
            <a:srgbClr val="1D9E75"/>
          </a:solidFill>
          <a:ln w="12700">
            <a:solidFill>
              <a:srgbClr val="1D9E75"/>
            </a:solidFill>
            <a:prstDash val="solid"/>
          </a:ln>
        </p:spPr>
      </p:sp>
      <p:sp>
        <p:nvSpPr>
          <p:cNvPr id="4" name="Text 2"/>
          <p:cNvSpPr/>
          <p:nvPr/>
        </p:nvSpPr>
        <p:spPr>
          <a:xfrm>
            <a:off x="274320" y="0"/>
            <a:ext cx="6400800" cy="7772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Business Questions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274320" y="475488"/>
            <a:ext cx="82296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chemeClr val="bg1"/>
                </a:solidFill>
                <a:effectLst/>
                <a:uLnTx/>
                <a:uFillTx/>
                <a:latin typeface="Calibri" pitchFamily="34" charset="0"/>
                <a:ea typeface="Calibri" pitchFamily="34" charset="-122"/>
                <a:cs typeface="Calibri" pitchFamily="34" charset="-120"/>
              </a:rPr>
              <a:t>8 analytical questions this project is designed to answer</a:t>
            </a:r>
            <a:endParaRPr kumimoji="0" lang="en-US" sz="95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6" name="Shape 4"/>
          <p:cNvSpPr/>
          <p:nvPr/>
        </p:nvSpPr>
        <p:spPr>
          <a:xfrm>
            <a:off x="228600" y="932688"/>
            <a:ext cx="4315968" cy="868680"/>
          </a:xfrm>
          <a:prstGeom prst="rect">
            <a:avLst/>
          </a:prstGeom>
          <a:solidFill>
            <a:srgbClr val="FFFFFF"/>
          </a:solidFill>
          <a:ln w="6350">
            <a:solidFill>
              <a:srgbClr val="D1D9EE"/>
            </a:solidFill>
            <a:prstDash val="solid"/>
          </a:ln>
          <a:effectLst>
            <a:outerShdw blurRad="76200" dist="25400" dir="8100000" algn="bl" rotWithShape="0">
              <a:srgbClr val="000000">
                <a:alpha val="8000"/>
              </a:srgbClr>
            </a:outerShdw>
          </a:effectLst>
        </p:spPr>
      </p:sp>
      <p:sp>
        <p:nvSpPr>
          <p:cNvPr id="7" name="Shape 5"/>
          <p:cNvSpPr/>
          <p:nvPr/>
        </p:nvSpPr>
        <p:spPr>
          <a:xfrm>
            <a:off x="228600" y="932688"/>
            <a:ext cx="530352" cy="868680"/>
          </a:xfrm>
          <a:prstGeom prst="rect">
            <a:avLst/>
          </a:prstGeom>
          <a:solidFill>
            <a:srgbClr val="185FA5"/>
          </a:solidFill>
          <a:ln w="12700">
            <a:solidFill>
              <a:srgbClr val="185FA5"/>
            </a:solidFill>
            <a:prstDash val="solid"/>
          </a:ln>
        </p:spPr>
      </p:sp>
      <p:sp>
        <p:nvSpPr>
          <p:cNvPr id="8" name="Text 6"/>
          <p:cNvSpPr/>
          <p:nvPr/>
        </p:nvSpPr>
        <p:spPr>
          <a:xfrm>
            <a:off x="228600" y="932688"/>
            <a:ext cx="530352" cy="8686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BQ1</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822960" y="1024128"/>
            <a:ext cx="3639312" cy="6858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Does the number of WFH days per week affect employee productivity, and is there an optimal hybrid arrangement?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4690872" y="932688"/>
            <a:ext cx="4315968" cy="868680"/>
          </a:xfrm>
          <a:prstGeom prst="rect">
            <a:avLst/>
          </a:prstGeom>
          <a:solidFill>
            <a:srgbClr val="FFFFFF"/>
          </a:solidFill>
          <a:ln w="6350">
            <a:solidFill>
              <a:srgbClr val="D1D9EE"/>
            </a:solidFill>
            <a:prstDash val="solid"/>
          </a:ln>
          <a:effectLst>
            <a:outerShdw blurRad="76200" dist="25400" dir="8100000" algn="bl" rotWithShape="0">
              <a:srgbClr val="000000">
                <a:alpha val="8000"/>
              </a:srgbClr>
            </a:outerShdw>
          </a:effectLst>
        </p:spPr>
      </p:sp>
      <p:sp>
        <p:nvSpPr>
          <p:cNvPr id="11" name="Shape 9"/>
          <p:cNvSpPr/>
          <p:nvPr/>
        </p:nvSpPr>
        <p:spPr>
          <a:xfrm>
            <a:off x="4690872" y="932688"/>
            <a:ext cx="530352" cy="868680"/>
          </a:xfrm>
          <a:prstGeom prst="rect">
            <a:avLst/>
          </a:prstGeom>
          <a:solidFill>
            <a:srgbClr val="185FA5"/>
          </a:solidFill>
          <a:ln w="12700">
            <a:solidFill>
              <a:srgbClr val="185FA5"/>
            </a:solidFill>
            <a:prstDash val="solid"/>
          </a:ln>
        </p:spPr>
      </p:sp>
      <p:sp>
        <p:nvSpPr>
          <p:cNvPr id="12" name="Text 10"/>
          <p:cNvSpPr/>
          <p:nvPr/>
        </p:nvSpPr>
        <p:spPr>
          <a:xfrm>
            <a:off x="4690872" y="932688"/>
            <a:ext cx="530352" cy="8686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BQ2</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5285232" y="1024128"/>
            <a:ext cx="3639312" cy="6858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How does manager support level correlate with productivity, job satisfaction, and task completion rate?</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228600" y="1920240"/>
            <a:ext cx="4315968" cy="868680"/>
          </a:xfrm>
          <a:prstGeom prst="rect">
            <a:avLst/>
          </a:prstGeom>
          <a:solidFill>
            <a:srgbClr val="FFFFFF"/>
          </a:solidFill>
          <a:ln w="6350">
            <a:solidFill>
              <a:srgbClr val="D1D9EE"/>
            </a:solidFill>
            <a:prstDash val="solid"/>
          </a:ln>
          <a:effectLst>
            <a:outerShdw blurRad="76200" dist="25400" dir="8100000" algn="bl" rotWithShape="0">
              <a:srgbClr val="000000">
                <a:alpha val="8000"/>
              </a:srgbClr>
            </a:outerShdw>
          </a:effectLst>
        </p:spPr>
      </p:sp>
      <p:sp>
        <p:nvSpPr>
          <p:cNvPr id="15" name="Shape 13"/>
          <p:cNvSpPr/>
          <p:nvPr/>
        </p:nvSpPr>
        <p:spPr>
          <a:xfrm>
            <a:off x="228600" y="1920240"/>
            <a:ext cx="530352" cy="868680"/>
          </a:xfrm>
          <a:prstGeom prst="rect">
            <a:avLst/>
          </a:prstGeom>
          <a:solidFill>
            <a:srgbClr val="1D9E75"/>
          </a:solidFill>
          <a:ln w="12700">
            <a:solidFill>
              <a:srgbClr val="1D9E75"/>
            </a:solidFill>
            <a:prstDash val="solid"/>
          </a:ln>
        </p:spPr>
      </p:sp>
      <p:sp>
        <p:nvSpPr>
          <p:cNvPr id="16" name="Text 14"/>
          <p:cNvSpPr/>
          <p:nvPr/>
        </p:nvSpPr>
        <p:spPr>
          <a:xfrm>
            <a:off x="228600" y="1920240"/>
            <a:ext cx="530352" cy="8686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BQ3</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822960" y="2011680"/>
            <a:ext cx="3639312" cy="6858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Do home office quality and internet speed significantly impact remote worker performance?</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4690872" y="1920240"/>
            <a:ext cx="4315968" cy="868680"/>
          </a:xfrm>
          <a:prstGeom prst="rect">
            <a:avLst/>
          </a:prstGeom>
          <a:solidFill>
            <a:srgbClr val="FFFFFF"/>
          </a:solidFill>
          <a:ln w="6350">
            <a:solidFill>
              <a:srgbClr val="D1D9EE"/>
            </a:solidFill>
            <a:prstDash val="solid"/>
          </a:ln>
          <a:effectLst>
            <a:outerShdw blurRad="76200" dist="25400" dir="8100000" algn="bl" rotWithShape="0">
              <a:srgbClr val="000000">
                <a:alpha val="8000"/>
              </a:srgbClr>
            </a:outerShdw>
          </a:effectLst>
        </p:spPr>
      </p:sp>
      <p:sp>
        <p:nvSpPr>
          <p:cNvPr id="19" name="Shape 17"/>
          <p:cNvSpPr/>
          <p:nvPr/>
        </p:nvSpPr>
        <p:spPr>
          <a:xfrm>
            <a:off x="4690872" y="1920240"/>
            <a:ext cx="530352" cy="868680"/>
          </a:xfrm>
          <a:prstGeom prst="rect">
            <a:avLst/>
          </a:prstGeom>
          <a:solidFill>
            <a:srgbClr val="1D9E75"/>
          </a:solidFill>
          <a:ln w="12700">
            <a:solidFill>
              <a:srgbClr val="1D9E75"/>
            </a:solidFill>
            <a:prstDash val="solid"/>
          </a:ln>
        </p:spPr>
      </p:sp>
      <p:sp>
        <p:nvSpPr>
          <p:cNvPr id="20" name="Text 18"/>
          <p:cNvSpPr/>
          <p:nvPr/>
        </p:nvSpPr>
        <p:spPr>
          <a:xfrm>
            <a:off x="4690872" y="1920240"/>
            <a:ext cx="530352" cy="8686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BQ4</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5285232" y="2011680"/>
            <a:ext cx="3639312" cy="6858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Which industries and departments show the highest and lowest productivity, and what explains the gap?</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228600" y="2907792"/>
            <a:ext cx="4315968" cy="868680"/>
          </a:xfrm>
          <a:prstGeom prst="rect">
            <a:avLst/>
          </a:prstGeom>
          <a:solidFill>
            <a:srgbClr val="FFFFFF"/>
          </a:solidFill>
          <a:ln w="6350">
            <a:solidFill>
              <a:srgbClr val="D1D9EE"/>
            </a:solidFill>
            <a:prstDash val="solid"/>
          </a:ln>
          <a:effectLst>
            <a:outerShdw blurRad="76200" dist="25400" dir="8100000" algn="bl" rotWithShape="0">
              <a:srgbClr val="000000">
                <a:alpha val="8000"/>
              </a:srgbClr>
            </a:outerShdw>
          </a:effectLst>
        </p:spPr>
      </p:sp>
      <p:sp>
        <p:nvSpPr>
          <p:cNvPr id="23" name="Shape 21"/>
          <p:cNvSpPr/>
          <p:nvPr/>
        </p:nvSpPr>
        <p:spPr>
          <a:xfrm>
            <a:off x="228600" y="2907792"/>
            <a:ext cx="530352" cy="868680"/>
          </a:xfrm>
          <a:prstGeom prst="rect">
            <a:avLst/>
          </a:prstGeom>
          <a:solidFill>
            <a:srgbClr val="BA7517"/>
          </a:solidFill>
          <a:ln w="12700">
            <a:solidFill>
              <a:srgbClr val="BA7517"/>
            </a:solidFill>
            <a:prstDash val="solid"/>
          </a:ln>
        </p:spPr>
      </p:sp>
      <p:sp>
        <p:nvSpPr>
          <p:cNvPr id="24" name="Text 22"/>
          <p:cNvSpPr/>
          <p:nvPr/>
        </p:nvSpPr>
        <p:spPr>
          <a:xfrm>
            <a:off x="228600" y="2907792"/>
            <a:ext cx="530352" cy="8686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BQ5</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822960" y="2999232"/>
            <a:ext cx="3639312" cy="6858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How do job level and years of experience relate to productivity across the organisation?</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4"/>
          <p:cNvSpPr/>
          <p:nvPr/>
        </p:nvSpPr>
        <p:spPr>
          <a:xfrm>
            <a:off x="4690872" y="2907792"/>
            <a:ext cx="4315968" cy="868680"/>
          </a:xfrm>
          <a:prstGeom prst="rect">
            <a:avLst/>
          </a:prstGeom>
          <a:solidFill>
            <a:srgbClr val="FFFFFF"/>
          </a:solidFill>
          <a:ln w="6350">
            <a:solidFill>
              <a:srgbClr val="D1D9EE"/>
            </a:solidFill>
            <a:prstDash val="solid"/>
          </a:ln>
          <a:effectLst>
            <a:outerShdw blurRad="76200" dist="25400" dir="8100000" algn="bl" rotWithShape="0">
              <a:srgbClr val="000000">
                <a:alpha val="8000"/>
              </a:srgbClr>
            </a:outerShdw>
          </a:effectLst>
        </p:spPr>
      </p:sp>
      <p:sp>
        <p:nvSpPr>
          <p:cNvPr id="27" name="Shape 25"/>
          <p:cNvSpPr/>
          <p:nvPr/>
        </p:nvSpPr>
        <p:spPr>
          <a:xfrm>
            <a:off x="4690872" y="2907792"/>
            <a:ext cx="530352" cy="868680"/>
          </a:xfrm>
          <a:prstGeom prst="rect">
            <a:avLst/>
          </a:prstGeom>
          <a:solidFill>
            <a:srgbClr val="BA7517"/>
          </a:solidFill>
          <a:ln w="12700">
            <a:solidFill>
              <a:srgbClr val="BA7517"/>
            </a:solidFill>
            <a:prstDash val="solid"/>
          </a:ln>
        </p:spPr>
      </p:sp>
      <p:sp>
        <p:nvSpPr>
          <p:cNvPr id="28" name="Text 26"/>
          <p:cNvSpPr/>
          <p:nvPr/>
        </p:nvSpPr>
        <p:spPr>
          <a:xfrm>
            <a:off x="4690872" y="2907792"/>
            <a:ext cx="530352" cy="8686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BQ6</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p:nvPr/>
        </p:nvSpPr>
        <p:spPr>
          <a:xfrm>
            <a:off x="5285232" y="2999232"/>
            <a:ext cx="3639312" cy="6858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Is there a measurable link between meeting frequency, team collaboration, and output quality?</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8"/>
          <p:cNvSpPr/>
          <p:nvPr/>
        </p:nvSpPr>
        <p:spPr>
          <a:xfrm>
            <a:off x="228600" y="3895344"/>
            <a:ext cx="4315968" cy="868680"/>
          </a:xfrm>
          <a:prstGeom prst="rect">
            <a:avLst/>
          </a:prstGeom>
          <a:solidFill>
            <a:srgbClr val="FFFFFF"/>
          </a:solidFill>
          <a:ln w="6350">
            <a:solidFill>
              <a:srgbClr val="D1D9EE"/>
            </a:solidFill>
            <a:prstDash val="solid"/>
          </a:ln>
          <a:effectLst>
            <a:outerShdw blurRad="76200" dist="25400" dir="8100000" algn="bl" rotWithShape="0">
              <a:srgbClr val="000000">
                <a:alpha val="8000"/>
              </a:srgbClr>
            </a:outerShdw>
          </a:effectLst>
        </p:spPr>
      </p:sp>
      <p:sp>
        <p:nvSpPr>
          <p:cNvPr id="31" name="Shape 29"/>
          <p:cNvSpPr/>
          <p:nvPr/>
        </p:nvSpPr>
        <p:spPr>
          <a:xfrm>
            <a:off x="228600" y="3895344"/>
            <a:ext cx="530352" cy="868680"/>
          </a:xfrm>
          <a:prstGeom prst="rect">
            <a:avLst/>
          </a:prstGeom>
          <a:solidFill>
            <a:srgbClr val="A32D2D"/>
          </a:solidFill>
          <a:ln w="12700">
            <a:solidFill>
              <a:srgbClr val="A32D2D"/>
            </a:solidFill>
            <a:prstDash val="solid"/>
          </a:ln>
        </p:spPr>
      </p:sp>
      <p:sp>
        <p:nvSpPr>
          <p:cNvPr id="32" name="Text 30"/>
          <p:cNvSpPr/>
          <p:nvPr/>
        </p:nvSpPr>
        <p:spPr>
          <a:xfrm>
            <a:off x="228600" y="3895344"/>
            <a:ext cx="530352" cy="8686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BQ7</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822960" y="3986784"/>
            <a:ext cx="3639312" cy="6858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Are there significant productivity differences by gender, education level, or demographic profile?</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32"/>
          <p:cNvSpPr/>
          <p:nvPr/>
        </p:nvSpPr>
        <p:spPr>
          <a:xfrm>
            <a:off x="4690872" y="3895344"/>
            <a:ext cx="4315968" cy="868680"/>
          </a:xfrm>
          <a:prstGeom prst="rect">
            <a:avLst/>
          </a:prstGeom>
          <a:solidFill>
            <a:srgbClr val="FFFFFF"/>
          </a:solidFill>
          <a:ln w="6350">
            <a:solidFill>
              <a:srgbClr val="D1D9EE"/>
            </a:solidFill>
            <a:prstDash val="solid"/>
          </a:ln>
          <a:effectLst>
            <a:outerShdw blurRad="76200" dist="25400" dir="8100000" algn="bl" rotWithShape="0">
              <a:srgbClr val="000000">
                <a:alpha val="8000"/>
              </a:srgbClr>
            </a:outerShdw>
          </a:effectLst>
        </p:spPr>
      </p:sp>
      <p:sp>
        <p:nvSpPr>
          <p:cNvPr id="35" name="Shape 33"/>
          <p:cNvSpPr/>
          <p:nvPr/>
        </p:nvSpPr>
        <p:spPr>
          <a:xfrm>
            <a:off x="4690872" y="3895344"/>
            <a:ext cx="530352" cy="868680"/>
          </a:xfrm>
          <a:prstGeom prst="rect">
            <a:avLst/>
          </a:prstGeom>
          <a:solidFill>
            <a:srgbClr val="185FA5"/>
          </a:solidFill>
          <a:ln w="12700">
            <a:solidFill>
              <a:srgbClr val="185FA5"/>
            </a:solidFill>
            <a:prstDash val="solid"/>
          </a:ln>
        </p:spPr>
      </p:sp>
      <p:sp>
        <p:nvSpPr>
          <p:cNvPr id="36" name="Text 34"/>
          <p:cNvSpPr/>
          <p:nvPr/>
        </p:nvSpPr>
        <p:spPr>
          <a:xfrm>
            <a:off x="4690872" y="3895344"/>
            <a:ext cx="530352" cy="8686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BQ8</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5"/>
          <p:cNvSpPr/>
          <p:nvPr/>
        </p:nvSpPr>
        <p:spPr>
          <a:xfrm>
            <a:off x="5285232" y="3986784"/>
            <a:ext cx="3639312" cy="6858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What combination of factors best predicts a high-performing vs low-performing remote employee?</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Shape 36"/>
          <p:cNvSpPr/>
          <p:nvPr/>
        </p:nvSpPr>
        <p:spPr>
          <a:xfrm>
            <a:off x="0" y="4892040"/>
            <a:ext cx="9144000" cy="251460"/>
          </a:xfrm>
          <a:prstGeom prst="rect">
            <a:avLst/>
          </a:prstGeom>
          <a:solidFill>
            <a:srgbClr val="1E2761"/>
          </a:solidFill>
          <a:ln w="12700">
            <a:solidFill>
              <a:srgbClr val="1E2761"/>
            </a:solidFill>
            <a:prstDash val="solid"/>
          </a:ln>
        </p:spPr>
      </p:sp>
      <p:sp>
        <p:nvSpPr>
          <p:cNvPr id="39" name="Text 37"/>
          <p:cNvSpPr/>
          <p:nvPr/>
        </p:nvSpPr>
        <p:spPr>
          <a:xfrm>
            <a:off x="0" y="4892040"/>
            <a:ext cx="9144000" cy="2514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Remote Work Productivity Analysis  ·  Business Questions</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52677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Shape 1"/>
          <p:cNvSpPr/>
          <p:nvPr/>
        </p:nvSpPr>
        <p:spPr>
          <a:xfrm>
            <a:off x="0" y="0"/>
            <a:ext cx="109728" cy="777240"/>
          </a:xfrm>
          <a:prstGeom prst="rect">
            <a:avLst/>
          </a:prstGeom>
          <a:solidFill>
            <a:srgbClr val="1D9E75"/>
          </a:solidFill>
          <a:ln w="12700">
            <a:solidFill>
              <a:srgbClr val="1D9E75"/>
            </a:solidFill>
            <a:prstDash val="solid"/>
          </a:ln>
        </p:spPr>
      </p:sp>
      <p:sp>
        <p:nvSpPr>
          <p:cNvPr id="4" name="Text 2"/>
          <p:cNvSpPr/>
          <p:nvPr/>
        </p:nvSpPr>
        <p:spPr>
          <a:xfrm>
            <a:off x="256032" y="0"/>
            <a:ext cx="8686800" cy="7772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Database Overview — Step 1:</a:t>
            </a:r>
            <a:r>
              <a:rPr kumimoji="0" lang="en-US" sz="2200" b="1" i="0" u="none" strike="noStrike" kern="1200" cap="none" spc="0" normalizeH="0" noProof="0" dirty="0">
                <a:ln>
                  <a:noFill/>
                </a:ln>
                <a:solidFill>
                  <a:srgbClr val="FFFFFF"/>
                </a:solidFill>
                <a:effectLst/>
                <a:uLnTx/>
                <a:uFillTx/>
                <a:latin typeface="Calibri" pitchFamily="34" charset="0"/>
                <a:ea typeface="Calibri" pitchFamily="34" charset="-122"/>
                <a:cs typeface="Calibri" pitchFamily="34" charset="-120"/>
              </a:rPr>
              <a:t> Scanning</a:t>
            </a: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Raw Source Files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256032" y="493776"/>
            <a:ext cx="8686800" cy="25603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chemeClr val="bg1"/>
                </a:solidFill>
                <a:effectLst/>
                <a:uLnTx/>
                <a:uFillTx/>
                <a:latin typeface="Calibri" pitchFamily="34" charset="0"/>
                <a:ea typeface="Calibri" pitchFamily="34" charset="-122"/>
                <a:cs typeface="Calibri" pitchFamily="34" charset="-120"/>
              </a:rPr>
              <a:t>Two original Excel workbooks · flat structure · all data in wide tables</a:t>
            </a:r>
            <a:endParaRPr kumimoji="0" lang="en-US" sz="95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6" name="Shape 4"/>
          <p:cNvSpPr/>
          <p:nvPr/>
        </p:nvSpPr>
        <p:spPr>
          <a:xfrm>
            <a:off x="0" y="4892040"/>
            <a:ext cx="9144000" cy="251460"/>
          </a:xfrm>
          <a:prstGeom prst="rect">
            <a:avLst/>
          </a:prstGeom>
          <a:solidFill>
            <a:srgbClr val="1E2761"/>
          </a:solidFill>
          <a:ln w="12700">
            <a:solidFill>
              <a:srgbClr val="1E2761"/>
            </a:solidFill>
            <a:prstDash val="solid"/>
          </a:ln>
        </p:spPr>
      </p:sp>
      <p:sp>
        <p:nvSpPr>
          <p:cNvPr id="7" name="Text 5"/>
          <p:cNvSpPr/>
          <p:nvPr/>
        </p:nvSpPr>
        <p:spPr>
          <a:xfrm>
            <a:off x="0" y="4892040"/>
            <a:ext cx="9144000" cy="2514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Remote Work Productivity Analysis  ·  Database Overview (1 of 2)</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228600" y="896112"/>
            <a:ext cx="8686800" cy="274320"/>
          </a:xfrm>
          <a:prstGeom prst="rect">
            <a:avLst/>
          </a:prstGeom>
          <a:solidFill>
            <a:srgbClr val="1E293B"/>
          </a:solidFill>
          <a:ln w="12700">
            <a:solidFill>
              <a:srgbClr val="1E293B"/>
            </a:solidFill>
            <a:prstDash val="solid"/>
          </a:ln>
        </p:spPr>
      </p:sp>
      <p:sp>
        <p:nvSpPr>
          <p:cNvPr id="9" name="Text 7"/>
          <p:cNvSpPr/>
          <p:nvPr/>
        </p:nvSpPr>
        <p:spPr>
          <a:xfrm>
            <a:off x="228600" y="896112"/>
            <a:ext cx="86868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BEFORE  —  Original flat files received for this project (2 sheets)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228600" y="1243584"/>
            <a:ext cx="4206240" cy="3493008"/>
          </a:xfrm>
          <a:prstGeom prst="rect">
            <a:avLst/>
          </a:prstGeom>
          <a:solidFill>
            <a:srgbClr val="FFFFFF"/>
          </a:solidFill>
          <a:ln w="15240">
            <a:solidFill>
              <a:srgbClr val="185FA5"/>
            </a:solidFill>
            <a:prstDash val="solid"/>
          </a:ln>
          <a:effectLst>
            <a:outerShdw blurRad="101600" dist="25400" dir="8100000" algn="bl" rotWithShape="0">
              <a:srgbClr val="000000">
                <a:alpha val="9000"/>
              </a:srgbClr>
            </a:outerShdw>
          </a:effectLst>
        </p:spPr>
      </p:sp>
      <p:sp>
        <p:nvSpPr>
          <p:cNvPr id="11" name="Shape 9"/>
          <p:cNvSpPr/>
          <p:nvPr/>
        </p:nvSpPr>
        <p:spPr>
          <a:xfrm>
            <a:off x="228600" y="1243584"/>
            <a:ext cx="4206240" cy="384048"/>
          </a:xfrm>
          <a:prstGeom prst="rect">
            <a:avLst/>
          </a:prstGeom>
          <a:solidFill>
            <a:srgbClr val="185FA5"/>
          </a:solidFill>
          <a:ln w="12700">
            <a:solidFill>
              <a:srgbClr val="185FA5"/>
            </a:solidFill>
            <a:prstDash val="solid"/>
          </a:ln>
        </p:spPr>
      </p:sp>
      <p:sp>
        <p:nvSpPr>
          <p:cNvPr id="12" name="Text 10"/>
          <p:cNvSpPr/>
          <p:nvPr/>
        </p:nvSpPr>
        <p:spPr>
          <a:xfrm>
            <a:off x="320040" y="1243584"/>
            <a:ext cx="4023360"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remote_work_productivity_csv.xlsx</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320040" y="1700784"/>
            <a:ext cx="4023360" cy="438912"/>
          </a:xfrm>
          <a:prstGeom prst="rect">
            <a:avLst/>
          </a:prstGeom>
          <a:solidFill>
            <a:srgbClr val="EBF3FB"/>
          </a:solidFill>
          <a:ln w="12700">
            <a:solidFill>
              <a:srgbClr val="D1D9EE"/>
            </a:solidFill>
            <a:prstDash val="solid"/>
          </a:ln>
        </p:spPr>
      </p:sp>
      <p:sp>
        <p:nvSpPr>
          <p:cNvPr id="14" name="Shape 12"/>
          <p:cNvSpPr/>
          <p:nvPr/>
        </p:nvSpPr>
        <p:spPr>
          <a:xfrm>
            <a:off x="320040" y="1700784"/>
            <a:ext cx="54864" cy="438912"/>
          </a:xfrm>
          <a:prstGeom prst="rect">
            <a:avLst/>
          </a:prstGeom>
          <a:solidFill>
            <a:srgbClr val="185FA5"/>
          </a:solidFill>
          <a:ln w="12700">
            <a:solidFill>
              <a:srgbClr val="185FA5"/>
            </a:solidFill>
            <a:prstDash val="solid"/>
          </a:ln>
        </p:spPr>
      </p:sp>
      <p:sp>
        <p:nvSpPr>
          <p:cNvPr id="15" name="Text 13"/>
          <p:cNvSpPr/>
          <p:nvPr/>
        </p:nvSpPr>
        <p:spPr>
          <a:xfrm>
            <a:off x="420624" y="1737360"/>
            <a:ext cx="2286000" cy="1828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remote_work_productivity</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420624" y="1929384"/>
            <a:ext cx="1371600" cy="16459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1,500 rows  ·  30 columns</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1920240" y="1755648"/>
            <a:ext cx="2331720" cy="32918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1"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Full flat dataset — all employee, job, environment &amp; KPI columns combined</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320040" y="2212848"/>
            <a:ext cx="4023360" cy="438912"/>
          </a:xfrm>
          <a:prstGeom prst="rect">
            <a:avLst/>
          </a:prstGeom>
          <a:solidFill>
            <a:srgbClr val="EBF3FB"/>
          </a:solidFill>
          <a:ln w="12700">
            <a:solidFill>
              <a:srgbClr val="D1D9EE"/>
            </a:solidFill>
            <a:prstDash val="solid"/>
          </a:ln>
        </p:spPr>
      </p:sp>
      <p:sp>
        <p:nvSpPr>
          <p:cNvPr id="19" name="Shape 17"/>
          <p:cNvSpPr/>
          <p:nvPr/>
        </p:nvSpPr>
        <p:spPr>
          <a:xfrm>
            <a:off x="320040" y="2212848"/>
            <a:ext cx="54864" cy="438912"/>
          </a:xfrm>
          <a:prstGeom prst="rect">
            <a:avLst/>
          </a:prstGeom>
          <a:solidFill>
            <a:srgbClr val="185FA5"/>
          </a:solidFill>
          <a:ln w="12700">
            <a:solidFill>
              <a:srgbClr val="185FA5"/>
            </a:solidFill>
            <a:prstDash val="solid"/>
          </a:ln>
        </p:spPr>
      </p:sp>
      <p:sp>
        <p:nvSpPr>
          <p:cNvPr id="20" name="Text 18"/>
          <p:cNvSpPr/>
          <p:nvPr/>
        </p:nvSpPr>
        <p:spPr>
          <a:xfrm>
            <a:off x="420624" y="2249424"/>
            <a:ext cx="2286000" cy="1828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Performance_Productivity</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20624" y="2441448"/>
            <a:ext cx="1371600" cy="16459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1,500 rows  ·  30 columns</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1920240" y="2267712"/>
            <a:ext cx="2331720" cy="32918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1"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Duplicate/alternate view of the same flat data</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1"/>
          <p:cNvSpPr/>
          <p:nvPr/>
        </p:nvSpPr>
        <p:spPr>
          <a:xfrm>
            <a:off x="320040" y="2724912"/>
            <a:ext cx="4023360" cy="438912"/>
          </a:xfrm>
          <a:prstGeom prst="rect">
            <a:avLst/>
          </a:prstGeom>
          <a:solidFill>
            <a:srgbClr val="F0F8FF"/>
          </a:solidFill>
          <a:ln w="12700">
            <a:solidFill>
              <a:srgbClr val="D1D9EE"/>
            </a:solidFill>
            <a:prstDash val="solid"/>
          </a:ln>
        </p:spPr>
      </p:sp>
      <p:sp>
        <p:nvSpPr>
          <p:cNvPr id="24" name="Shape 22"/>
          <p:cNvSpPr/>
          <p:nvPr/>
        </p:nvSpPr>
        <p:spPr>
          <a:xfrm>
            <a:off x="320040" y="2724912"/>
            <a:ext cx="54864" cy="438912"/>
          </a:xfrm>
          <a:prstGeom prst="rect">
            <a:avLst/>
          </a:prstGeom>
          <a:solidFill>
            <a:srgbClr val="1D9E75"/>
          </a:solidFill>
          <a:ln w="12700">
            <a:solidFill>
              <a:srgbClr val="1D9E75"/>
            </a:solidFill>
            <a:prstDash val="solid"/>
          </a:ln>
        </p:spPr>
      </p:sp>
      <p:sp>
        <p:nvSpPr>
          <p:cNvPr id="25" name="Text 23"/>
          <p:cNvSpPr/>
          <p:nvPr/>
        </p:nvSpPr>
        <p:spPr>
          <a:xfrm>
            <a:off x="420624" y="2761488"/>
            <a:ext cx="2286000" cy="1828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Employees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420624" y="2953512"/>
            <a:ext cx="1371600" cy="16459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1,500 rows  ·  7 columns</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1920240" y="2779776"/>
            <a:ext cx="2331720" cy="32918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1"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Employee demographics only (split manually)</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6"/>
          <p:cNvSpPr/>
          <p:nvPr/>
        </p:nvSpPr>
        <p:spPr>
          <a:xfrm>
            <a:off x="320040" y="3236976"/>
            <a:ext cx="4023360" cy="438912"/>
          </a:xfrm>
          <a:prstGeom prst="rect">
            <a:avLst/>
          </a:prstGeom>
          <a:solidFill>
            <a:srgbClr val="F0F8FF"/>
          </a:solidFill>
          <a:ln w="12700">
            <a:solidFill>
              <a:srgbClr val="D1D9EE"/>
            </a:solidFill>
            <a:prstDash val="solid"/>
          </a:ln>
        </p:spPr>
      </p:sp>
      <p:sp>
        <p:nvSpPr>
          <p:cNvPr id="29" name="Shape 27"/>
          <p:cNvSpPr/>
          <p:nvPr/>
        </p:nvSpPr>
        <p:spPr>
          <a:xfrm>
            <a:off x="320040" y="3236976"/>
            <a:ext cx="54864" cy="438912"/>
          </a:xfrm>
          <a:prstGeom prst="rect">
            <a:avLst/>
          </a:prstGeom>
          <a:solidFill>
            <a:srgbClr val="1D9E75"/>
          </a:solidFill>
          <a:ln w="12700">
            <a:solidFill>
              <a:srgbClr val="1D9E75"/>
            </a:solidFill>
            <a:prstDash val="solid"/>
          </a:ln>
        </p:spPr>
      </p:sp>
      <p:sp>
        <p:nvSpPr>
          <p:cNvPr id="30" name="Text 28"/>
          <p:cNvSpPr/>
          <p:nvPr/>
        </p:nvSpPr>
        <p:spPr>
          <a:xfrm>
            <a:off x="420624" y="3273552"/>
            <a:ext cx="2286000" cy="1828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Work Environment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9"/>
          <p:cNvSpPr/>
          <p:nvPr/>
        </p:nvSpPr>
        <p:spPr>
          <a:xfrm>
            <a:off x="420624" y="3465576"/>
            <a:ext cx="1371600" cy="16459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1,500 rows  ·  8 columns</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p:cNvSpPr/>
          <p:nvPr/>
        </p:nvSpPr>
        <p:spPr>
          <a:xfrm>
            <a:off x="1920240" y="3291840"/>
            <a:ext cx="2331720" cy="32918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1"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WFH, location, office quality, meetings</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Shape 31"/>
          <p:cNvSpPr/>
          <p:nvPr/>
        </p:nvSpPr>
        <p:spPr>
          <a:xfrm>
            <a:off x="320040" y="3749040"/>
            <a:ext cx="4023360" cy="438912"/>
          </a:xfrm>
          <a:prstGeom prst="rect">
            <a:avLst/>
          </a:prstGeom>
          <a:solidFill>
            <a:srgbClr val="F0F8FF"/>
          </a:solidFill>
          <a:ln w="12700">
            <a:solidFill>
              <a:srgbClr val="D1D9EE"/>
            </a:solidFill>
            <a:prstDash val="solid"/>
          </a:ln>
        </p:spPr>
      </p:sp>
      <p:sp>
        <p:nvSpPr>
          <p:cNvPr id="34" name="Shape 32"/>
          <p:cNvSpPr/>
          <p:nvPr/>
        </p:nvSpPr>
        <p:spPr>
          <a:xfrm>
            <a:off x="320040" y="3749040"/>
            <a:ext cx="54864" cy="438912"/>
          </a:xfrm>
          <a:prstGeom prst="rect">
            <a:avLst/>
          </a:prstGeom>
          <a:solidFill>
            <a:srgbClr val="1D9E75"/>
          </a:solidFill>
          <a:ln w="12700">
            <a:solidFill>
              <a:srgbClr val="1D9E75"/>
            </a:solidFill>
            <a:prstDash val="solid"/>
          </a:ln>
        </p:spPr>
      </p:sp>
      <p:sp>
        <p:nvSpPr>
          <p:cNvPr id="35" name="Text 33"/>
          <p:cNvSpPr/>
          <p:nvPr/>
        </p:nvSpPr>
        <p:spPr>
          <a:xfrm>
            <a:off x="420624" y="3785616"/>
            <a:ext cx="2286000" cy="1828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Company Info</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34"/>
          <p:cNvSpPr/>
          <p:nvPr/>
        </p:nvSpPr>
        <p:spPr>
          <a:xfrm>
            <a:off x="420624" y="3977640"/>
            <a:ext cx="1371600" cy="16459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1,500 rows  ·  5 columns</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5"/>
          <p:cNvSpPr/>
          <p:nvPr/>
        </p:nvSpPr>
        <p:spPr>
          <a:xfrm>
            <a:off x="1920240" y="3803904"/>
            <a:ext cx="2331720" cy="32918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1"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Department, job level, company size, industry</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Shape 36"/>
          <p:cNvSpPr/>
          <p:nvPr/>
        </p:nvSpPr>
        <p:spPr>
          <a:xfrm>
            <a:off x="320040" y="4315968"/>
            <a:ext cx="4023360" cy="292608"/>
          </a:xfrm>
          <a:prstGeom prst="rect">
            <a:avLst/>
          </a:prstGeom>
          <a:solidFill>
            <a:srgbClr val="FEF3E2"/>
          </a:solidFill>
          <a:ln w="12700">
            <a:solidFill>
              <a:srgbClr val="BA7517"/>
            </a:solidFill>
            <a:prstDash val="solid"/>
          </a:ln>
        </p:spPr>
      </p:sp>
      <p:sp>
        <p:nvSpPr>
          <p:cNvPr id="39" name="Text 37"/>
          <p:cNvSpPr/>
          <p:nvPr/>
        </p:nvSpPr>
        <p:spPr>
          <a:xfrm>
            <a:off x="411480" y="4315968"/>
            <a:ext cx="3840480" cy="29260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BA7517"/>
                </a:solidFill>
                <a:effectLst/>
                <a:uLnTx/>
                <a:uFillTx/>
                <a:latin typeface="Calibri" pitchFamily="34" charset="0"/>
                <a:ea typeface="Calibri" pitchFamily="34" charset="-122"/>
                <a:cs typeface="Calibri" pitchFamily="34" charset="-120"/>
              </a:rPr>
              <a:t>⚠  Problem: All 30 columns in one flat sheet — no relationships, heavy redundancy, not scalable</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Shape 38"/>
          <p:cNvSpPr/>
          <p:nvPr/>
        </p:nvSpPr>
        <p:spPr>
          <a:xfrm>
            <a:off x="4709160" y="1243584"/>
            <a:ext cx="4206240" cy="3493008"/>
          </a:xfrm>
          <a:prstGeom prst="rect">
            <a:avLst/>
          </a:prstGeom>
          <a:solidFill>
            <a:srgbClr val="FFFFFF"/>
          </a:solidFill>
          <a:ln w="15240">
            <a:solidFill>
              <a:srgbClr val="217346"/>
            </a:solidFill>
            <a:prstDash val="solid"/>
          </a:ln>
          <a:effectLst>
            <a:outerShdw blurRad="1290320000" dist="322580000" algn="bl" rotWithShape="0">
              <a:srgbClr val="000000">
                <a:alpha val="0"/>
              </a:srgbClr>
            </a:outerShdw>
          </a:effectLst>
        </p:spPr>
      </p:sp>
      <p:sp>
        <p:nvSpPr>
          <p:cNvPr id="41" name="Shape 39"/>
          <p:cNvSpPr/>
          <p:nvPr/>
        </p:nvSpPr>
        <p:spPr>
          <a:xfrm>
            <a:off x="4709160" y="1243584"/>
            <a:ext cx="4206240" cy="384048"/>
          </a:xfrm>
          <a:prstGeom prst="rect">
            <a:avLst/>
          </a:prstGeom>
          <a:solidFill>
            <a:srgbClr val="217346"/>
          </a:solidFill>
          <a:ln w="12700">
            <a:solidFill>
              <a:srgbClr val="217346"/>
            </a:solidFill>
            <a:prstDash val="solid"/>
          </a:ln>
        </p:spPr>
      </p:sp>
      <p:sp>
        <p:nvSpPr>
          <p:cNvPr id="42" name="Text 40"/>
          <p:cNvSpPr/>
          <p:nvPr/>
        </p:nvSpPr>
        <p:spPr>
          <a:xfrm>
            <a:off x="4800600" y="1243584"/>
            <a:ext cx="4023360" cy="38404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Remote_Work_Data_Model_excel.xlsx</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Shape 41"/>
          <p:cNvSpPr/>
          <p:nvPr/>
        </p:nvSpPr>
        <p:spPr>
          <a:xfrm>
            <a:off x="4800600" y="1700784"/>
            <a:ext cx="4023360" cy="438912"/>
          </a:xfrm>
          <a:prstGeom prst="rect">
            <a:avLst/>
          </a:prstGeom>
          <a:solidFill>
            <a:srgbClr val="EBF3FB"/>
          </a:solidFill>
          <a:ln w="12700">
            <a:solidFill>
              <a:srgbClr val="D1D9EE"/>
            </a:solidFill>
            <a:prstDash val="solid"/>
          </a:ln>
        </p:spPr>
      </p:sp>
      <p:sp>
        <p:nvSpPr>
          <p:cNvPr id="44" name="Shape 42"/>
          <p:cNvSpPr/>
          <p:nvPr/>
        </p:nvSpPr>
        <p:spPr>
          <a:xfrm>
            <a:off x="4800600" y="1700784"/>
            <a:ext cx="54864" cy="438912"/>
          </a:xfrm>
          <a:prstGeom prst="rect">
            <a:avLst/>
          </a:prstGeom>
          <a:solidFill>
            <a:srgbClr val="185FA5"/>
          </a:solidFill>
          <a:ln w="12700">
            <a:solidFill>
              <a:srgbClr val="185FA5"/>
            </a:solidFill>
            <a:prstDash val="solid"/>
          </a:ln>
        </p:spPr>
      </p:sp>
      <p:sp>
        <p:nvSpPr>
          <p:cNvPr id="45" name="Text 43"/>
          <p:cNvSpPr/>
          <p:nvPr/>
        </p:nvSpPr>
        <p:spPr>
          <a:xfrm>
            <a:off x="4901184" y="1737360"/>
            <a:ext cx="2286000" cy="1828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remote_work_productivity</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 name="Text 44"/>
          <p:cNvSpPr/>
          <p:nvPr/>
        </p:nvSpPr>
        <p:spPr>
          <a:xfrm>
            <a:off x="4901184" y="1929384"/>
            <a:ext cx="1371600" cy="16459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1,500 rows  ·  30 columns</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 name="Text 45"/>
          <p:cNvSpPr/>
          <p:nvPr/>
        </p:nvSpPr>
        <p:spPr>
          <a:xfrm>
            <a:off x="6400800" y="1755648"/>
            <a:ext cx="2331720" cy="32918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1"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Same flat source data — starting point for the model</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Shape 46"/>
          <p:cNvSpPr/>
          <p:nvPr/>
        </p:nvSpPr>
        <p:spPr>
          <a:xfrm>
            <a:off x="4800600" y="2212848"/>
            <a:ext cx="4023360" cy="438912"/>
          </a:xfrm>
          <a:prstGeom prst="rect">
            <a:avLst/>
          </a:prstGeom>
          <a:solidFill>
            <a:srgbClr val="F9F9F9"/>
          </a:solidFill>
          <a:ln w="12700">
            <a:solidFill>
              <a:srgbClr val="D1D9EE"/>
            </a:solidFill>
            <a:prstDash val="solid"/>
          </a:ln>
        </p:spPr>
      </p:sp>
      <p:sp>
        <p:nvSpPr>
          <p:cNvPr id="49" name="Shape 47"/>
          <p:cNvSpPr/>
          <p:nvPr/>
        </p:nvSpPr>
        <p:spPr>
          <a:xfrm>
            <a:off x="4800600" y="2212848"/>
            <a:ext cx="54864" cy="438912"/>
          </a:xfrm>
          <a:prstGeom prst="rect">
            <a:avLst/>
          </a:prstGeom>
          <a:solidFill>
            <a:srgbClr val="64748B"/>
          </a:solidFill>
          <a:ln w="12700">
            <a:solidFill>
              <a:srgbClr val="64748B"/>
            </a:solidFill>
            <a:prstDash val="solid"/>
          </a:ln>
        </p:spPr>
      </p:sp>
      <p:sp>
        <p:nvSpPr>
          <p:cNvPr id="50" name="Text 48"/>
          <p:cNvSpPr/>
          <p:nvPr/>
        </p:nvSpPr>
        <p:spPr>
          <a:xfrm>
            <a:off x="4901184" y="2249424"/>
            <a:ext cx="2286000" cy="1828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pivot table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 name="Text 49"/>
          <p:cNvSpPr/>
          <p:nvPr/>
        </p:nvSpPr>
        <p:spPr>
          <a:xfrm>
            <a:off x="4901184" y="2441448"/>
            <a:ext cx="1371600" cy="16459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41 rows  ·  15 columns</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2" name="Text 50"/>
          <p:cNvSpPr/>
          <p:nvPr/>
        </p:nvSpPr>
        <p:spPr>
          <a:xfrm>
            <a:off x="6400800" y="2267712"/>
            <a:ext cx="2331720" cy="32918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1"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Summary pivot — aggregated KPIs (not raw data)</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 name="Shape 51"/>
          <p:cNvSpPr/>
          <p:nvPr/>
        </p:nvSpPr>
        <p:spPr>
          <a:xfrm>
            <a:off x="4800600" y="2724912"/>
            <a:ext cx="4023360" cy="438912"/>
          </a:xfrm>
          <a:prstGeom prst="rect">
            <a:avLst/>
          </a:prstGeom>
          <a:solidFill>
            <a:srgbClr val="F9F9F9"/>
          </a:solidFill>
          <a:ln w="12700">
            <a:solidFill>
              <a:srgbClr val="D1D9EE"/>
            </a:solidFill>
            <a:prstDash val="solid"/>
          </a:ln>
        </p:spPr>
      </p:sp>
      <p:sp>
        <p:nvSpPr>
          <p:cNvPr id="54" name="Shape 52"/>
          <p:cNvSpPr/>
          <p:nvPr/>
        </p:nvSpPr>
        <p:spPr>
          <a:xfrm>
            <a:off x="4800600" y="2724912"/>
            <a:ext cx="54864" cy="438912"/>
          </a:xfrm>
          <a:prstGeom prst="rect">
            <a:avLst/>
          </a:prstGeom>
          <a:solidFill>
            <a:srgbClr val="64748B"/>
          </a:solidFill>
          <a:ln w="12700">
            <a:solidFill>
              <a:srgbClr val="64748B"/>
            </a:solidFill>
            <a:prstDash val="solid"/>
          </a:ln>
        </p:spPr>
      </p:sp>
      <p:sp>
        <p:nvSpPr>
          <p:cNvPr id="55" name="Text 53"/>
          <p:cNvSpPr/>
          <p:nvPr/>
        </p:nvSpPr>
        <p:spPr>
          <a:xfrm>
            <a:off x="4901184" y="2761488"/>
            <a:ext cx="2286000" cy="1828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charts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 name="Text 54"/>
          <p:cNvSpPr/>
          <p:nvPr/>
        </p:nvSpPr>
        <p:spPr>
          <a:xfrm>
            <a:off x="4901184" y="2953512"/>
            <a:ext cx="1371600" cy="16459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5 rows  ·  18 columns</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 name="Text 55"/>
          <p:cNvSpPr/>
          <p:nvPr/>
        </p:nvSpPr>
        <p:spPr>
          <a:xfrm>
            <a:off x="6400800" y="2779776"/>
            <a:ext cx="2331720" cy="32918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1"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Dashboard layout sheet — visual elements only</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 name="Shape 56"/>
          <p:cNvSpPr/>
          <p:nvPr/>
        </p:nvSpPr>
        <p:spPr>
          <a:xfrm>
            <a:off x="4800600" y="3236976"/>
            <a:ext cx="4023360" cy="438912"/>
          </a:xfrm>
          <a:prstGeom prst="rect">
            <a:avLst/>
          </a:prstGeom>
          <a:solidFill>
            <a:srgbClr val="EBF7F2"/>
          </a:solidFill>
          <a:ln w="12700">
            <a:solidFill>
              <a:srgbClr val="D1D9EE"/>
            </a:solidFill>
            <a:prstDash val="solid"/>
          </a:ln>
        </p:spPr>
      </p:sp>
      <p:sp>
        <p:nvSpPr>
          <p:cNvPr id="59" name="Shape 57"/>
          <p:cNvSpPr/>
          <p:nvPr/>
        </p:nvSpPr>
        <p:spPr>
          <a:xfrm>
            <a:off x="4800600" y="3236976"/>
            <a:ext cx="54864" cy="438912"/>
          </a:xfrm>
          <a:prstGeom prst="rect">
            <a:avLst/>
          </a:prstGeom>
          <a:solidFill>
            <a:srgbClr val="1D9E75"/>
          </a:solidFill>
          <a:ln w="12700">
            <a:solidFill>
              <a:srgbClr val="1D9E75"/>
            </a:solidFill>
            <a:prstDash val="solid"/>
          </a:ln>
        </p:spPr>
      </p:sp>
      <p:sp>
        <p:nvSpPr>
          <p:cNvPr id="60" name="Text 58"/>
          <p:cNvSpPr/>
          <p:nvPr/>
        </p:nvSpPr>
        <p:spPr>
          <a:xfrm>
            <a:off x="4901184" y="3273552"/>
            <a:ext cx="2286000" cy="1828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Fact_Productivity</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1" name="Text 59"/>
          <p:cNvSpPr/>
          <p:nvPr/>
        </p:nvSpPr>
        <p:spPr>
          <a:xfrm>
            <a:off x="4901184" y="3465576"/>
            <a:ext cx="1371600" cy="16459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1,500 rows  ·  31 columns</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2" name="Text 60"/>
          <p:cNvSpPr/>
          <p:nvPr/>
        </p:nvSpPr>
        <p:spPr>
          <a:xfrm>
            <a:off x="6400800" y="3291840"/>
            <a:ext cx="2331720" cy="32918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1" i="1" u="none" strike="noStrike" kern="1200" cap="none" spc="0" normalizeH="0" baseline="0" noProof="0" dirty="0">
                <a:ln>
                  <a:noFill/>
                </a:ln>
                <a:solidFill>
                  <a:srgbClr val="1D9E75"/>
                </a:solidFill>
                <a:effectLst/>
                <a:uLnTx/>
                <a:uFillTx/>
                <a:latin typeface="Calibri" pitchFamily="34" charset="0"/>
                <a:ea typeface="Calibri" pitchFamily="34" charset="-122"/>
                <a:cs typeface="Calibri" pitchFamily="34" charset="-120"/>
              </a:rPr>
              <a:t>✅ Fact table built with FK columns added</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3" name="Shape 61"/>
          <p:cNvSpPr/>
          <p:nvPr/>
        </p:nvSpPr>
        <p:spPr>
          <a:xfrm>
            <a:off x="4800600" y="3749040"/>
            <a:ext cx="4023360" cy="438912"/>
          </a:xfrm>
          <a:prstGeom prst="rect">
            <a:avLst/>
          </a:prstGeom>
          <a:solidFill>
            <a:srgbClr val="EBF7F2"/>
          </a:solidFill>
          <a:ln w="12700">
            <a:solidFill>
              <a:srgbClr val="D1D9EE"/>
            </a:solidFill>
            <a:prstDash val="solid"/>
          </a:ln>
        </p:spPr>
      </p:sp>
      <p:sp>
        <p:nvSpPr>
          <p:cNvPr id="64" name="Shape 62"/>
          <p:cNvSpPr/>
          <p:nvPr/>
        </p:nvSpPr>
        <p:spPr>
          <a:xfrm>
            <a:off x="4800600" y="3749040"/>
            <a:ext cx="54864" cy="438912"/>
          </a:xfrm>
          <a:prstGeom prst="rect">
            <a:avLst/>
          </a:prstGeom>
          <a:solidFill>
            <a:srgbClr val="1D9E75"/>
          </a:solidFill>
          <a:ln w="12700">
            <a:solidFill>
              <a:srgbClr val="1D9E75"/>
            </a:solidFill>
            <a:prstDash val="solid"/>
          </a:ln>
        </p:spPr>
      </p:sp>
      <p:sp>
        <p:nvSpPr>
          <p:cNvPr id="65" name="Text 63"/>
          <p:cNvSpPr/>
          <p:nvPr/>
        </p:nvSpPr>
        <p:spPr>
          <a:xfrm>
            <a:off x="4901184" y="3785616"/>
            <a:ext cx="2286000" cy="1828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Dim_Employee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 name="Text 64"/>
          <p:cNvSpPr/>
          <p:nvPr/>
        </p:nvSpPr>
        <p:spPr>
          <a:xfrm>
            <a:off x="4901184" y="3977640"/>
            <a:ext cx="1371600" cy="16459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1,500 rows  ·  6 columns</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 name="Text 65"/>
          <p:cNvSpPr/>
          <p:nvPr/>
        </p:nvSpPr>
        <p:spPr>
          <a:xfrm>
            <a:off x="6400800" y="3803904"/>
            <a:ext cx="2331720" cy="32918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1" i="1" u="none" strike="noStrike" kern="1200" cap="none" spc="0" normalizeH="0" baseline="0" noProof="0" dirty="0">
                <a:ln>
                  <a:noFill/>
                </a:ln>
                <a:solidFill>
                  <a:srgbClr val="1D9E75"/>
                </a:solidFill>
                <a:effectLst/>
                <a:uLnTx/>
                <a:uFillTx/>
                <a:latin typeface="Calibri" pitchFamily="34" charset="0"/>
                <a:ea typeface="Calibri" pitchFamily="34" charset="-122"/>
                <a:cs typeface="Calibri" pitchFamily="34" charset="-120"/>
              </a:rPr>
              <a:t>✅ Dim extracted — demographics</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8" name="Shape 66"/>
          <p:cNvSpPr/>
          <p:nvPr/>
        </p:nvSpPr>
        <p:spPr>
          <a:xfrm>
            <a:off x="4800600" y="4315968"/>
            <a:ext cx="4023360" cy="292608"/>
          </a:xfrm>
          <a:prstGeom prst="rect">
            <a:avLst/>
          </a:prstGeom>
          <a:solidFill>
            <a:srgbClr val="EBF7F2"/>
          </a:solidFill>
          <a:ln w="12700">
            <a:solidFill>
              <a:srgbClr val="1D9E75"/>
            </a:solidFill>
            <a:prstDash val="solid"/>
          </a:ln>
        </p:spPr>
      </p:sp>
      <p:sp>
        <p:nvSpPr>
          <p:cNvPr id="69" name="Text 67"/>
          <p:cNvSpPr/>
          <p:nvPr/>
        </p:nvSpPr>
        <p:spPr>
          <a:xfrm>
            <a:off x="4892040" y="4315968"/>
            <a:ext cx="3840480" cy="29260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1D9E75"/>
                </a:solidFill>
                <a:effectLst/>
                <a:uLnTx/>
                <a:uFillTx/>
                <a:latin typeface="Calibri" pitchFamily="34" charset="0"/>
                <a:ea typeface="Calibri" pitchFamily="34" charset="-122"/>
                <a:cs typeface="Calibri" pitchFamily="34" charset="-120"/>
              </a:rPr>
              <a:t>✅  This file already contains the split tables — built by normalising the flat source</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389421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Shape 1"/>
          <p:cNvSpPr/>
          <p:nvPr/>
        </p:nvSpPr>
        <p:spPr>
          <a:xfrm>
            <a:off x="0" y="0"/>
            <a:ext cx="109728" cy="777240"/>
          </a:xfrm>
          <a:prstGeom prst="rect">
            <a:avLst/>
          </a:prstGeom>
          <a:solidFill>
            <a:srgbClr val="1D9E75"/>
          </a:solidFill>
          <a:ln w="12700">
            <a:solidFill>
              <a:srgbClr val="1D9E75"/>
            </a:solidFill>
            <a:prstDash val="solid"/>
          </a:ln>
        </p:spPr>
      </p:sp>
      <p:sp>
        <p:nvSpPr>
          <p:cNvPr id="4" name="Text 2"/>
          <p:cNvSpPr/>
          <p:nvPr/>
        </p:nvSpPr>
        <p:spPr>
          <a:xfrm>
            <a:off x="274320" y="0"/>
            <a:ext cx="8686800" cy="777240"/>
          </a:xfrm>
          <a:prstGeom prst="rect">
            <a:avLst/>
          </a:prstGeom>
          <a:noFill/>
          <a:ln/>
        </p:spPr>
        <p:txBody>
          <a:bodyPr wrap="square" rtlCol="0" anchor="ctr"/>
          <a:lstStyle/>
          <a:p>
            <a:pPr lvl="0"/>
            <a:r>
              <a:rPr lang="en-US" sz="2200" b="1" dirty="0">
                <a:solidFill>
                  <a:srgbClr val="FFFFFF"/>
                </a:solidFill>
                <a:latin typeface="Calibri" pitchFamily="34" charset="0"/>
                <a:ea typeface="Calibri" pitchFamily="34" charset="-122"/>
                <a:cs typeface="Calibri" pitchFamily="34" charset="-120"/>
              </a:rPr>
              <a:t>Database Overview — Step 2: Data </a:t>
            </a: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Cleaning Process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274320" y="512064"/>
            <a:ext cx="8686800" cy="26517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chemeClr val="bg1"/>
                </a:solidFill>
                <a:effectLst/>
                <a:uLnTx/>
                <a:uFillTx/>
                <a:latin typeface="Calibri" pitchFamily="34" charset="0"/>
                <a:ea typeface="Calibri" pitchFamily="34" charset="-122"/>
                <a:cs typeface="Calibri" pitchFamily="34" charset="-120"/>
              </a:rPr>
              <a:t>Steps taken to ensure data quality and analytical accuracy</a:t>
            </a:r>
            <a:endParaRPr kumimoji="0" lang="en-US" sz="95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6" name="Shape 4"/>
          <p:cNvSpPr/>
          <p:nvPr/>
        </p:nvSpPr>
        <p:spPr>
          <a:xfrm>
            <a:off x="0" y="4892040"/>
            <a:ext cx="9144000" cy="251460"/>
          </a:xfrm>
          <a:prstGeom prst="rect">
            <a:avLst/>
          </a:prstGeom>
          <a:solidFill>
            <a:srgbClr val="1E2761"/>
          </a:solidFill>
          <a:ln w="12700">
            <a:solidFill>
              <a:srgbClr val="1E2761"/>
            </a:solidFill>
            <a:prstDash val="solid"/>
          </a:ln>
        </p:spPr>
      </p:sp>
      <p:sp>
        <p:nvSpPr>
          <p:cNvPr id="7" name="Text 5"/>
          <p:cNvSpPr/>
          <p:nvPr/>
        </p:nvSpPr>
        <p:spPr>
          <a:xfrm>
            <a:off x="0" y="4892040"/>
            <a:ext cx="9144000" cy="2514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Remote Work Productivity Analysis  ·  Slide 10 of 41</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228600" y="960120"/>
            <a:ext cx="4315968" cy="1133856"/>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9" name="Shape 7"/>
          <p:cNvSpPr/>
          <p:nvPr/>
        </p:nvSpPr>
        <p:spPr>
          <a:xfrm>
            <a:off x="228600" y="960120"/>
            <a:ext cx="4315968" cy="54864"/>
          </a:xfrm>
          <a:prstGeom prst="rect">
            <a:avLst/>
          </a:prstGeom>
          <a:solidFill>
            <a:srgbClr val="1D9E75"/>
          </a:solidFill>
          <a:ln w="12700">
            <a:solidFill>
              <a:srgbClr val="1D9E75"/>
            </a:solidFill>
            <a:prstDash val="solid"/>
          </a:ln>
        </p:spPr>
      </p:sp>
      <p:sp>
        <p:nvSpPr>
          <p:cNvPr id="10" name="Shape 8"/>
          <p:cNvSpPr/>
          <p:nvPr/>
        </p:nvSpPr>
        <p:spPr>
          <a:xfrm>
            <a:off x="338328" y="1088136"/>
            <a:ext cx="357632" cy="347472"/>
          </a:xfrm>
          <a:prstGeom prst="ellipse">
            <a:avLst/>
          </a:prstGeom>
          <a:solidFill>
            <a:srgbClr val="1D9E75"/>
          </a:solidFill>
          <a:ln w="12700">
            <a:solidFill>
              <a:srgbClr val="1D9E75"/>
            </a:solidFill>
            <a:prstDash val="solid"/>
          </a:ln>
        </p:spPr>
      </p:sp>
      <p:sp>
        <p:nvSpPr>
          <p:cNvPr id="11" name="Text 9"/>
          <p:cNvSpPr/>
          <p:nvPr/>
        </p:nvSpPr>
        <p:spPr>
          <a:xfrm>
            <a:off x="274320" y="1088136"/>
            <a:ext cx="411480" cy="34747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Step 1</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777240" y="1069848"/>
            <a:ext cx="3657600" cy="29260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Missing Value Check</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338328" y="1463040"/>
            <a:ext cx="4096512"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Scanned all 30 columns for nulls. No missing values found in key KPI fields. Categorical nulls in optional fields imputed or flagged.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4690872" y="960120"/>
            <a:ext cx="4315968" cy="1133856"/>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15" name="Shape 13"/>
          <p:cNvSpPr/>
          <p:nvPr/>
        </p:nvSpPr>
        <p:spPr>
          <a:xfrm>
            <a:off x="4690872" y="960120"/>
            <a:ext cx="4315968" cy="54864"/>
          </a:xfrm>
          <a:prstGeom prst="rect">
            <a:avLst/>
          </a:prstGeom>
          <a:solidFill>
            <a:srgbClr val="185FA5"/>
          </a:solidFill>
          <a:ln w="12700">
            <a:solidFill>
              <a:srgbClr val="185FA5"/>
            </a:solidFill>
            <a:prstDash val="solid"/>
          </a:ln>
        </p:spPr>
      </p:sp>
      <p:sp>
        <p:nvSpPr>
          <p:cNvPr id="16" name="Shape 14"/>
          <p:cNvSpPr/>
          <p:nvPr/>
        </p:nvSpPr>
        <p:spPr>
          <a:xfrm>
            <a:off x="4800600" y="1088136"/>
            <a:ext cx="347472" cy="347472"/>
          </a:xfrm>
          <a:prstGeom prst="ellipse">
            <a:avLst/>
          </a:prstGeom>
          <a:solidFill>
            <a:srgbClr val="185FA5"/>
          </a:solidFill>
          <a:ln w="12700">
            <a:solidFill>
              <a:srgbClr val="185FA5"/>
            </a:solidFill>
            <a:prstDash val="solid"/>
          </a:ln>
        </p:spPr>
      </p:sp>
      <p:sp>
        <p:nvSpPr>
          <p:cNvPr id="17" name="Text 15"/>
          <p:cNvSpPr/>
          <p:nvPr/>
        </p:nvSpPr>
        <p:spPr>
          <a:xfrm>
            <a:off x="4754880" y="1088136"/>
            <a:ext cx="393192" cy="34747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Step 2</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5239512" y="1069848"/>
            <a:ext cx="3657600" cy="29260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Duplicate Detection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4800600" y="1463040"/>
            <a:ext cx="4096512"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Checked Employee_ID uniqueness. Verified foreign key integrity across Fact and Dim tables. No duplicates detected.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228600" y="2221992"/>
            <a:ext cx="4315968" cy="1133856"/>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21" name="Shape 19"/>
          <p:cNvSpPr/>
          <p:nvPr/>
        </p:nvSpPr>
        <p:spPr>
          <a:xfrm>
            <a:off x="228600" y="2221992"/>
            <a:ext cx="4315968" cy="54864"/>
          </a:xfrm>
          <a:prstGeom prst="rect">
            <a:avLst/>
          </a:prstGeom>
          <a:solidFill>
            <a:srgbClr val="BA7517"/>
          </a:solidFill>
          <a:ln w="12700">
            <a:solidFill>
              <a:srgbClr val="BA7517"/>
            </a:solidFill>
            <a:prstDash val="solid"/>
          </a:ln>
        </p:spPr>
      </p:sp>
      <p:sp>
        <p:nvSpPr>
          <p:cNvPr id="22" name="Shape 20"/>
          <p:cNvSpPr/>
          <p:nvPr/>
        </p:nvSpPr>
        <p:spPr>
          <a:xfrm>
            <a:off x="338328" y="2350008"/>
            <a:ext cx="347472" cy="347472"/>
          </a:xfrm>
          <a:prstGeom prst="ellipse">
            <a:avLst/>
          </a:prstGeom>
          <a:solidFill>
            <a:srgbClr val="BA7517"/>
          </a:solidFill>
          <a:ln w="12700">
            <a:solidFill>
              <a:srgbClr val="BA7517"/>
            </a:solidFill>
            <a:prstDash val="solid"/>
          </a:ln>
        </p:spPr>
      </p:sp>
      <p:sp>
        <p:nvSpPr>
          <p:cNvPr id="23" name="Text 21"/>
          <p:cNvSpPr/>
          <p:nvPr/>
        </p:nvSpPr>
        <p:spPr>
          <a:xfrm>
            <a:off x="274320" y="2350008"/>
            <a:ext cx="411480" cy="34747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Step 3</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777240" y="2331720"/>
            <a:ext cx="3657600" cy="29260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Data Type Validation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338328" y="2724912"/>
            <a:ext cx="4096512"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Confirmed numeric types for all KPI scores (0–100 range). Validated date formats in Survey_Date. Standardised categorical string values.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4"/>
          <p:cNvSpPr/>
          <p:nvPr/>
        </p:nvSpPr>
        <p:spPr>
          <a:xfrm>
            <a:off x="4690872" y="2221992"/>
            <a:ext cx="4315968" cy="1133856"/>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27" name="Shape 25"/>
          <p:cNvSpPr/>
          <p:nvPr/>
        </p:nvSpPr>
        <p:spPr>
          <a:xfrm>
            <a:off x="4690872" y="2221992"/>
            <a:ext cx="4315968" cy="54864"/>
          </a:xfrm>
          <a:prstGeom prst="rect">
            <a:avLst/>
          </a:prstGeom>
          <a:solidFill>
            <a:srgbClr val="185FA5"/>
          </a:solidFill>
          <a:ln w="12700">
            <a:solidFill>
              <a:srgbClr val="185FA5"/>
            </a:solidFill>
            <a:prstDash val="solid"/>
          </a:ln>
        </p:spPr>
      </p:sp>
      <p:sp>
        <p:nvSpPr>
          <p:cNvPr id="28" name="Shape 26"/>
          <p:cNvSpPr/>
          <p:nvPr/>
        </p:nvSpPr>
        <p:spPr>
          <a:xfrm>
            <a:off x="4800600" y="2350008"/>
            <a:ext cx="347472" cy="347472"/>
          </a:xfrm>
          <a:prstGeom prst="ellipse">
            <a:avLst/>
          </a:prstGeom>
          <a:solidFill>
            <a:srgbClr val="185FA5"/>
          </a:solidFill>
          <a:ln w="12700">
            <a:solidFill>
              <a:srgbClr val="185FA5"/>
            </a:solidFill>
            <a:prstDash val="solid"/>
          </a:ln>
        </p:spPr>
      </p:sp>
      <p:sp>
        <p:nvSpPr>
          <p:cNvPr id="29" name="Text 27"/>
          <p:cNvSpPr/>
          <p:nvPr/>
        </p:nvSpPr>
        <p:spPr>
          <a:xfrm>
            <a:off x="4754880" y="2350008"/>
            <a:ext cx="393192" cy="34747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Step 4</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p:cNvSpPr/>
          <p:nvPr/>
        </p:nvSpPr>
        <p:spPr>
          <a:xfrm>
            <a:off x="5239512" y="2331720"/>
            <a:ext cx="3657600" cy="29260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Outlier Analysis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9"/>
          <p:cNvSpPr/>
          <p:nvPr/>
        </p:nvSpPr>
        <p:spPr>
          <a:xfrm>
            <a:off x="4800600" y="2724912"/>
            <a:ext cx="4096512"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Applied IQR method to Productivity_Score, Work_Hours, and Stress_Level. Retained valid outliers; flagged extreme entries for review.</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Shape 30"/>
          <p:cNvSpPr/>
          <p:nvPr/>
        </p:nvSpPr>
        <p:spPr>
          <a:xfrm>
            <a:off x="228600" y="3483864"/>
            <a:ext cx="4315968" cy="1133856"/>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33" name="Shape 31"/>
          <p:cNvSpPr/>
          <p:nvPr/>
        </p:nvSpPr>
        <p:spPr>
          <a:xfrm>
            <a:off x="228600" y="3483864"/>
            <a:ext cx="4315968" cy="54864"/>
          </a:xfrm>
          <a:prstGeom prst="rect">
            <a:avLst/>
          </a:prstGeom>
          <a:solidFill>
            <a:srgbClr val="1D9E75"/>
          </a:solidFill>
          <a:ln w="12700">
            <a:solidFill>
              <a:srgbClr val="1D9E75"/>
            </a:solidFill>
            <a:prstDash val="solid"/>
          </a:ln>
        </p:spPr>
      </p:sp>
      <p:sp>
        <p:nvSpPr>
          <p:cNvPr id="34" name="Shape 32"/>
          <p:cNvSpPr/>
          <p:nvPr/>
        </p:nvSpPr>
        <p:spPr>
          <a:xfrm>
            <a:off x="338328" y="3611880"/>
            <a:ext cx="347472" cy="347472"/>
          </a:xfrm>
          <a:prstGeom prst="ellipse">
            <a:avLst/>
          </a:prstGeom>
          <a:solidFill>
            <a:srgbClr val="1D9E75"/>
          </a:solidFill>
          <a:ln w="12700">
            <a:solidFill>
              <a:srgbClr val="1D9E75"/>
            </a:solidFill>
            <a:prstDash val="solid"/>
          </a:ln>
        </p:spPr>
      </p:sp>
      <p:sp>
        <p:nvSpPr>
          <p:cNvPr id="35" name="Text 33"/>
          <p:cNvSpPr/>
          <p:nvPr/>
        </p:nvSpPr>
        <p:spPr>
          <a:xfrm>
            <a:off x="274320" y="3611880"/>
            <a:ext cx="411480" cy="34747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Step 5</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34"/>
          <p:cNvSpPr/>
          <p:nvPr/>
        </p:nvSpPr>
        <p:spPr>
          <a:xfrm>
            <a:off x="777240" y="3593592"/>
            <a:ext cx="3657600" cy="29260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Categorical Standardisation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5"/>
          <p:cNvSpPr/>
          <p:nvPr/>
        </p:nvSpPr>
        <p:spPr>
          <a:xfrm>
            <a:off x="338328" y="3986784"/>
            <a:ext cx="4096512"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Normalised text casing (e.g. 'full-time' → 'Full-Time'). Merged redundant category variants. Aligned Industry/Department labels across tables.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Shape 36"/>
          <p:cNvSpPr/>
          <p:nvPr/>
        </p:nvSpPr>
        <p:spPr>
          <a:xfrm>
            <a:off x="4690872" y="3483864"/>
            <a:ext cx="4315968" cy="1133856"/>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39" name="Shape 37"/>
          <p:cNvSpPr/>
          <p:nvPr/>
        </p:nvSpPr>
        <p:spPr>
          <a:xfrm>
            <a:off x="4690872" y="3483864"/>
            <a:ext cx="4315968" cy="54864"/>
          </a:xfrm>
          <a:prstGeom prst="rect">
            <a:avLst/>
          </a:prstGeom>
          <a:solidFill>
            <a:srgbClr val="BA7517"/>
          </a:solidFill>
          <a:ln w="12700">
            <a:solidFill>
              <a:srgbClr val="BA7517"/>
            </a:solidFill>
            <a:prstDash val="solid"/>
          </a:ln>
        </p:spPr>
      </p:sp>
      <p:sp>
        <p:nvSpPr>
          <p:cNvPr id="40" name="Shape 38"/>
          <p:cNvSpPr/>
          <p:nvPr/>
        </p:nvSpPr>
        <p:spPr>
          <a:xfrm>
            <a:off x="4800600" y="3611880"/>
            <a:ext cx="347472" cy="347472"/>
          </a:xfrm>
          <a:prstGeom prst="ellipse">
            <a:avLst/>
          </a:prstGeom>
          <a:solidFill>
            <a:srgbClr val="BA7517"/>
          </a:solidFill>
          <a:ln w="12700">
            <a:solidFill>
              <a:srgbClr val="BA7517"/>
            </a:solidFill>
            <a:prstDash val="solid"/>
          </a:ln>
        </p:spPr>
      </p:sp>
      <p:sp>
        <p:nvSpPr>
          <p:cNvPr id="41" name="Text 39"/>
          <p:cNvSpPr/>
          <p:nvPr/>
        </p:nvSpPr>
        <p:spPr>
          <a:xfrm>
            <a:off x="4754880" y="3611880"/>
            <a:ext cx="393192" cy="34747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Step 6</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Text 40"/>
          <p:cNvSpPr/>
          <p:nvPr/>
        </p:nvSpPr>
        <p:spPr>
          <a:xfrm>
            <a:off x="5239512" y="3593592"/>
            <a:ext cx="3657600" cy="29260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Referential Integrity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Text 41"/>
          <p:cNvSpPr/>
          <p:nvPr/>
        </p:nvSpPr>
        <p:spPr>
          <a:xfrm>
            <a:off x="4800600" y="3986784"/>
            <a:ext cx="4096512"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Validated every FK in Fact_Productivity against corresponding Dim table PKs. Confirmed all 1,500 rows have valid Job_ID, Env_ID, and Support_ID.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522250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Shape 1"/>
          <p:cNvSpPr/>
          <p:nvPr/>
        </p:nvSpPr>
        <p:spPr>
          <a:xfrm>
            <a:off x="0" y="0"/>
            <a:ext cx="109728" cy="777240"/>
          </a:xfrm>
          <a:prstGeom prst="rect">
            <a:avLst/>
          </a:prstGeom>
          <a:solidFill>
            <a:srgbClr val="1D9E75"/>
          </a:solidFill>
          <a:ln w="12700">
            <a:solidFill>
              <a:srgbClr val="1D9E75"/>
            </a:solidFill>
            <a:prstDash val="solid"/>
          </a:ln>
        </p:spPr>
      </p:sp>
      <p:sp>
        <p:nvSpPr>
          <p:cNvPr id="4" name="Text 2"/>
          <p:cNvSpPr/>
          <p:nvPr/>
        </p:nvSpPr>
        <p:spPr>
          <a:xfrm>
            <a:off x="274320" y="0"/>
            <a:ext cx="8686800" cy="7772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Data Cleaning Process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274320" y="512064"/>
            <a:ext cx="8686800" cy="26517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chemeClr val="bg1"/>
                </a:solidFill>
                <a:effectLst/>
                <a:uLnTx/>
                <a:uFillTx/>
                <a:latin typeface="Calibri" pitchFamily="34" charset="0"/>
                <a:ea typeface="Calibri" pitchFamily="34" charset="-122"/>
                <a:cs typeface="Calibri" pitchFamily="34" charset="-120"/>
              </a:rPr>
              <a:t>Visual evidence of cleaning steps applied in Excel / Power Query</a:t>
            </a:r>
            <a:endParaRPr kumimoji="0" lang="en-US" sz="95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6" name="Shape 4"/>
          <p:cNvSpPr/>
          <p:nvPr/>
        </p:nvSpPr>
        <p:spPr>
          <a:xfrm>
            <a:off x="0" y="4892040"/>
            <a:ext cx="9144000" cy="251460"/>
          </a:xfrm>
          <a:prstGeom prst="rect">
            <a:avLst/>
          </a:prstGeom>
          <a:solidFill>
            <a:srgbClr val="1E2761"/>
          </a:solidFill>
          <a:ln w="12700">
            <a:solidFill>
              <a:srgbClr val="1E2761"/>
            </a:solidFill>
            <a:prstDash val="solid"/>
          </a:ln>
        </p:spPr>
      </p:sp>
      <p:sp>
        <p:nvSpPr>
          <p:cNvPr id="7" name="Text 5"/>
          <p:cNvSpPr/>
          <p:nvPr/>
        </p:nvSpPr>
        <p:spPr>
          <a:xfrm>
            <a:off x="0" y="4892040"/>
            <a:ext cx="9144000" cy="2514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Remote Work Productivity Analysis  ·  Slide 11 of 41</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365760" y="960120"/>
            <a:ext cx="8412480" cy="3794760"/>
          </a:xfrm>
          <a:prstGeom prst="rect">
            <a:avLst/>
          </a:prstGeom>
          <a:solidFill>
            <a:srgbClr val="F0F4FF"/>
          </a:solidFill>
          <a:ln w="12700">
            <a:solidFill>
              <a:srgbClr val="185FA5"/>
            </a:solidFill>
            <a:prstDash val="solid"/>
          </a:ln>
          <a:effectLst>
            <a:outerShdw blurRad="101600" dist="25400" dir="8100000" algn="bl" rotWithShape="0">
              <a:srgbClr val="000000">
                <a:alpha val="10000"/>
              </a:srgbClr>
            </a:outerShdw>
          </a:effectLst>
        </p:spPr>
      </p:sp>
      <p:sp>
        <p:nvSpPr>
          <p:cNvPr id="9" name="Shape 7"/>
          <p:cNvSpPr/>
          <p:nvPr/>
        </p:nvSpPr>
        <p:spPr>
          <a:xfrm>
            <a:off x="365760" y="960120"/>
            <a:ext cx="8412480" cy="0"/>
          </a:xfrm>
          <a:prstGeom prst="line">
            <a:avLst/>
          </a:prstGeom>
          <a:noFill/>
          <a:ln w="19050">
            <a:solidFill>
              <a:srgbClr val="185FA5"/>
            </a:solidFill>
            <a:prstDash val="dash"/>
          </a:ln>
        </p:spPr>
      </p:sp>
      <p:sp>
        <p:nvSpPr>
          <p:cNvPr id="10" name="Shape 8"/>
          <p:cNvSpPr/>
          <p:nvPr/>
        </p:nvSpPr>
        <p:spPr>
          <a:xfrm>
            <a:off x="365760" y="4754880"/>
            <a:ext cx="8412480" cy="0"/>
          </a:xfrm>
          <a:prstGeom prst="line">
            <a:avLst/>
          </a:prstGeom>
          <a:noFill/>
          <a:ln w="19050">
            <a:solidFill>
              <a:srgbClr val="185FA5"/>
            </a:solidFill>
            <a:prstDash val="dash"/>
          </a:ln>
        </p:spPr>
      </p:sp>
      <p:sp>
        <p:nvSpPr>
          <p:cNvPr id="11" name="Shape 9"/>
          <p:cNvSpPr/>
          <p:nvPr/>
        </p:nvSpPr>
        <p:spPr>
          <a:xfrm>
            <a:off x="365760" y="960120"/>
            <a:ext cx="0" cy="3794760"/>
          </a:xfrm>
          <a:prstGeom prst="line">
            <a:avLst/>
          </a:prstGeom>
          <a:noFill/>
          <a:ln w="19050">
            <a:solidFill>
              <a:srgbClr val="185FA5"/>
            </a:solidFill>
            <a:prstDash val="dash"/>
          </a:ln>
        </p:spPr>
      </p:sp>
      <p:sp>
        <p:nvSpPr>
          <p:cNvPr id="12" name="Shape 10"/>
          <p:cNvSpPr/>
          <p:nvPr/>
        </p:nvSpPr>
        <p:spPr>
          <a:xfrm>
            <a:off x="8778240" y="960120"/>
            <a:ext cx="0" cy="3794760"/>
          </a:xfrm>
          <a:prstGeom prst="line">
            <a:avLst/>
          </a:prstGeom>
          <a:noFill/>
          <a:ln w="19050">
            <a:solidFill>
              <a:srgbClr val="185FA5"/>
            </a:solidFill>
            <a:prstDash val="dash"/>
          </a:ln>
        </p:spPr>
      </p:sp>
      <p:sp>
        <p:nvSpPr>
          <p:cNvPr id="13" name="Shape 11"/>
          <p:cNvSpPr/>
          <p:nvPr/>
        </p:nvSpPr>
        <p:spPr>
          <a:xfrm>
            <a:off x="4114800" y="2103120"/>
            <a:ext cx="914400" cy="914400"/>
          </a:xfrm>
          <a:prstGeom prst="ellipse">
            <a:avLst/>
          </a:prstGeom>
          <a:solidFill>
            <a:srgbClr val="185FA5">
              <a:alpha val="20000"/>
            </a:srgbClr>
          </a:solidFill>
          <a:ln w="12700">
            <a:solidFill>
              <a:srgbClr val="185FA5">
                <a:alpha val="50000"/>
              </a:srgbClr>
            </a:solidFill>
            <a:prstDash val="solid"/>
          </a:ln>
        </p:spPr>
      </p:sp>
      <p:sp>
        <p:nvSpPr>
          <p:cNvPr id="14" name="Text 12"/>
          <p:cNvSpPr/>
          <p:nvPr/>
        </p:nvSpPr>
        <p:spPr>
          <a:xfrm>
            <a:off x="4114800" y="2103120"/>
            <a:ext cx="914400" cy="9144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Calibri" panose="020F0502020204030204"/>
                <a:ea typeface="+mn-ea"/>
                <a:cs typeface="+mn-cs"/>
              </a:rPr>
              <a:t>📎</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1371600" y="3154680"/>
            <a:ext cx="6400800" cy="4114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85FA5"/>
                </a:solidFill>
                <a:effectLst/>
                <a:uLnTx/>
                <a:uFillTx/>
                <a:latin typeface="Calibri" pitchFamily="34" charset="0"/>
                <a:ea typeface="Calibri" pitchFamily="34" charset="-122"/>
                <a:cs typeface="Calibri" pitchFamily="34" charset="-120"/>
              </a:rPr>
              <a:t>Data Cleaning Screenshot — Excel / Power Query</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1371600" y="3566160"/>
            <a:ext cx="640080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Screenshot will be inserted here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9" name="Picture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0040" y="861647"/>
            <a:ext cx="8503920" cy="3950676"/>
          </a:xfrm>
          <a:prstGeom prst="rect">
            <a:avLst/>
          </a:prstGeom>
        </p:spPr>
      </p:pic>
    </p:spTree>
    <p:extLst>
      <p:ext uri="{BB962C8B-B14F-4D97-AF65-F5344CB8AC3E}">
        <p14:creationId xmlns:p14="http://schemas.microsoft.com/office/powerpoint/2010/main" val="18361138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Shape 1"/>
          <p:cNvSpPr/>
          <p:nvPr/>
        </p:nvSpPr>
        <p:spPr>
          <a:xfrm>
            <a:off x="0" y="0"/>
            <a:ext cx="109728" cy="777240"/>
          </a:xfrm>
          <a:prstGeom prst="rect">
            <a:avLst/>
          </a:prstGeom>
          <a:solidFill>
            <a:srgbClr val="1D9E75"/>
          </a:solidFill>
          <a:ln w="12700">
            <a:solidFill>
              <a:srgbClr val="1D9E75"/>
            </a:solidFill>
            <a:prstDash val="solid"/>
          </a:ln>
        </p:spPr>
      </p:sp>
      <p:sp>
        <p:nvSpPr>
          <p:cNvPr id="4" name="Text 2"/>
          <p:cNvSpPr/>
          <p:nvPr/>
        </p:nvSpPr>
        <p:spPr>
          <a:xfrm>
            <a:off x="274320" y="0"/>
            <a:ext cx="8686800" cy="7772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Data Cleaning Process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274320" y="512064"/>
            <a:ext cx="8686800" cy="26517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chemeClr val="bg1"/>
                </a:solidFill>
                <a:effectLst/>
                <a:uLnTx/>
                <a:uFillTx/>
                <a:latin typeface="Calibri" pitchFamily="34" charset="0"/>
                <a:ea typeface="Calibri" pitchFamily="34" charset="-122"/>
                <a:cs typeface="Calibri" pitchFamily="34" charset="-120"/>
              </a:rPr>
              <a:t>Visual evidence of cleaning steps applied in tableau / Power Query</a:t>
            </a:r>
            <a:endParaRPr kumimoji="0" lang="en-US" sz="95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6" name="Shape 4"/>
          <p:cNvSpPr/>
          <p:nvPr/>
        </p:nvSpPr>
        <p:spPr>
          <a:xfrm>
            <a:off x="0" y="4892040"/>
            <a:ext cx="9144000" cy="251460"/>
          </a:xfrm>
          <a:prstGeom prst="rect">
            <a:avLst/>
          </a:prstGeom>
          <a:solidFill>
            <a:srgbClr val="1E2761"/>
          </a:solidFill>
          <a:ln w="12700">
            <a:solidFill>
              <a:srgbClr val="1E2761"/>
            </a:solidFill>
            <a:prstDash val="solid"/>
          </a:ln>
        </p:spPr>
      </p:sp>
      <p:sp>
        <p:nvSpPr>
          <p:cNvPr id="7" name="Text 5"/>
          <p:cNvSpPr/>
          <p:nvPr/>
        </p:nvSpPr>
        <p:spPr>
          <a:xfrm>
            <a:off x="0" y="4892040"/>
            <a:ext cx="9144000" cy="2514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Remote Work Productivity Analysis  ·  Slide 12 of 41</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365760" y="960120"/>
            <a:ext cx="8412480" cy="3794760"/>
          </a:xfrm>
          <a:prstGeom prst="rect">
            <a:avLst/>
          </a:prstGeom>
          <a:solidFill>
            <a:srgbClr val="F0F4FF"/>
          </a:solidFill>
          <a:ln w="12700">
            <a:solidFill>
              <a:srgbClr val="185FA5"/>
            </a:solidFill>
            <a:prstDash val="solid"/>
          </a:ln>
          <a:effectLst>
            <a:outerShdw blurRad="101600" dist="25400" dir="8100000" algn="bl" rotWithShape="0">
              <a:srgbClr val="000000">
                <a:alpha val="10000"/>
              </a:srgbClr>
            </a:outerShdw>
          </a:effectLst>
        </p:spPr>
      </p:sp>
      <p:sp>
        <p:nvSpPr>
          <p:cNvPr id="9" name="Shape 7"/>
          <p:cNvSpPr/>
          <p:nvPr/>
        </p:nvSpPr>
        <p:spPr>
          <a:xfrm>
            <a:off x="365760" y="960120"/>
            <a:ext cx="8412480" cy="0"/>
          </a:xfrm>
          <a:prstGeom prst="line">
            <a:avLst/>
          </a:prstGeom>
          <a:noFill/>
          <a:ln w="19050">
            <a:solidFill>
              <a:srgbClr val="185FA5"/>
            </a:solidFill>
            <a:prstDash val="dash"/>
          </a:ln>
        </p:spPr>
      </p:sp>
      <p:sp>
        <p:nvSpPr>
          <p:cNvPr id="10" name="Shape 8"/>
          <p:cNvSpPr/>
          <p:nvPr/>
        </p:nvSpPr>
        <p:spPr>
          <a:xfrm>
            <a:off x="365760" y="4754880"/>
            <a:ext cx="8412480" cy="0"/>
          </a:xfrm>
          <a:prstGeom prst="line">
            <a:avLst/>
          </a:prstGeom>
          <a:noFill/>
          <a:ln w="19050">
            <a:solidFill>
              <a:srgbClr val="185FA5"/>
            </a:solidFill>
            <a:prstDash val="dash"/>
          </a:ln>
        </p:spPr>
      </p:sp>
      <p:sp>
        <p:nvSpPr>
          <p:cNvPr id="11" name="Shape 9"/>
          <p:cNvSpPr/>
          <p:nvPr/>
        </p:nvSpPr>
        <p:spPr>
          <a:xfrm>
            <a:off x="365760" y="960120"/>
            <a:ext cx="0" cy="3794760"/>
          </a:xfrm>
          <a:prstGeom prst="line">
            <a:avLst/>
          </a:prstGeom>
          <a:noFill/>
          <a:ln w="19050">
            <a:solidFill>
              <a:srgbClr val="185FA5"/>
            </a:solidFill>
            <a:prstDash val="dash"/>
          </a:ln>
        </p:spPr>
      </p:sp>
      <p:sp>
        <p:nvSpPr>
          <p:cNvPr id="12" name="Shape 10"/>
          <p:cNvSpPr/>
          <p:nvPr/>
        </p:nvSpPr>
        <p:spPr>
          <a:xfrm>
            <a:off x="8778240" y="960120"/>
            <a:ext cx="0" cy="3794760"/>
          </a:xfrm>
          <a:prstGeom prst="line">
            <a:avLst/>
          </a:prstGeom>
          <a:noFill/>
          <a:ln w="19050">
            <a:solidFill>
              <a:srgbClr val="185FA5"/>
            </a:solidFill>
            <a:prstDash val="dash"/>
          </a:ln>
        </p:spPr>
      </p:sp>
      <p:sp>
        <p:nvSpPr>
          <p:cNvPr id="13" name="Shape 11"/>
          <p:cNvSpPr/>
          <p:nvPr/>
        </p:nvSpPr>
        <p:spPr>
          <a:xfrm>
            <a:off x="4114800" y="2103120"/>
            <a:ext cx="914400" cy="914400"/>
          </a:xfrm>
          <a:prstGeom prst="ellipse">
            <a:avLst/>
          </a:prstGeom>
          <a:solidFill>
            <a:srgbClr val="185FA5">
              <a:alpha val="20000"/>
            </a:srgbClr>
          </a:solidFill>
          <a:ln w="12700">
            <a:solidFill>
              <a:srgbClr val="185FA5">
                <a:alpha val="50000"/>
              </a:srgbClr>
            </a:solidFill>
            <a:prstDash val="solid"/>
          </a:ln>
        </p:spPr>
      </p:sp>
      <p:sp>
        <p:nvSpPr>
          <p:cNvPr id="14" name="Text 12"/>
          <p:cNvSpPr/>
          <p:nvPr/>
        </p:nvSpPr>
        <p:spPr>
          <a:xfrm>
            <a:off x="4114800" y="2103120"/>
            <a:ext cx="914400" cy="9144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Calibri" panose="020F0502020204030204"/>
                <a:ea typeface="+mn-ea"/>
                <a:cs typeface="+mn-cs"/>
              </a:rPr>
              <a:t>📎</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1371600" y="3154680"/>
            <a:ext cx="6400800" cy="4114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85FA5"/>
                </a:solidFill>
                <a:effectLst/>
                <a:uLnTx/>
                <a:uFillTx/>
                <a:latin typeface="Calibri" pitchFamily="34" charset="0"/>
                <a:ea typeface="Calibri" pitchFamily="34" charset="-122"/>
                <a:cs typeface="Calibri" pitchFamily="34" charset="-120"/>
              </a:rPr>
              <a:t>Data Cleaning Screenshot — Excel / Power Query</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1371600" y="3566160"/>
            <a:ext cx="640080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Screenshot will be inserted here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8" name="Picture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321" y="777240"/>
            <a:ext cx="8583930" cy="4114800"/>
          </a:xfrm>
          <a:prstGeom prst="rect">
            <a:avLst/>
          </a:prstGeom>
        </p:spPr>
      </p:pic>
    </p:spTree>
    <p:extLst>
      <p:ext uri="{BB962C8B-B14F-4D97-AF65-F5344CB8AC3E}">
        <p14:creationId xmlns:p14="http://schemas.microsoft.com/office/powerpoint/2010/main" val="36934258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Shape 1"/>
          <p:cNvSpPr/>
          <p:nvPr/>
        </p:nvSpPr>
        <p:spPr>
          <a:xfrm>
            <a:off x="0" y="0"/>
            <a:ext cx="109728" cy="777240"/>
          </a:xfrm>
          <a:prstGeom prst="rect">
            <a:avLst/>
          </a:prstGeom>
          <a:solidFill>
            <a:srgbClr val="1D9E75"/>
          </a:solidFill>
          <a:ln w="12700">
            <a:solidFill>
              <a:srgbClr val="1D9E75"/>
            </a:solidFill>
            <a:prstDash val="solid"/>
          </a:ln>
        </p:spPr>
      </p:sp>
      <p:sp>
        <p:nvSpPr>
          <p:cNvPr id="4" name="Text 2"/>
          <p:cNvSpPr/>
          <p:nvPr/>
        </p:nvSpPr>
        <p:spPr>
          <a:xfrm>
            <a:off x="274320" y="0"/>
            <a:ext cx="8686800" cy="7772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Data Cleaning Process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274320" y="512064"/>
            <a:ext cx="8686800" cy="26517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chemeClr val="bg1"/>
                </a:solidFill>
                <a:effectLst/>
                <a:uLnTx/>
                <a:uFillTx/>
                <a:latin typeface="Calibri" pitchFamily="34" charset="0"/>
                <a:ea typeface="Calibri" pitchFamily="34" charset="-122"/>
                <a:cs typeface="Calibri" pitchFamily="34" charset="-120"/>
              </a:rPr>
              <a:t>Visual evidence of cleaning steps applied in Excel / Power Query</a:t>
            </a:r>
            <a:endParaRPr kumimoji="0" lang="en-US" sz="95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6" name="Shape 4"/>
          <p:cNvSpPr/>
          <p:nvPr/>
        </p:nvSpPr>
        <p:spPr>
          <a:xfrm>
            <a:off x="0" y="4892040"/>
            <a:ext cx="9144000" cy="251460"/>
          </a:xfrm>
          <a:prstGeom prst="rect">
            <a:avLst/>
          </a:prstGeom>
          <a:solidFill>
            <a:srgbClr val="1E2761"/>
          </a:solidFill>
          <a:ln w="12700">
            <a:solidFill>
              <a:srgbClr val="1E2761"/>
            </a:solidFill>
            <a:prstDash val="solid"/>
          </a:ln>
        </p:spPr>
      </p:sp>
      <p:sp>
        <p:nvSpPr>
          <p:cNvPr id="7" name="Text 5"/>
          <p:cNvSpPr/>
          <p:nvPr/>
        </p:nvSpPr>
        <p:spPr>
          <a:xfrm>
            <a:off x="0" y="4892040"/>
            <a:ext cx="9144000" cy="2514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Remote Work Productivity Analysis  ·  Slide 13 of </a:t>
            </a:r>
            <a:r>
              <a:rPr lang="en-US" sz="800" dirty="0">
                <a:solidFill>
                  <a:srgbClr val="94A3B8"/>
                </a:solidFill>
                <a:latin typeface="Calibri" pitchFamily="34" charset="0"/>
                <a:ea typeface="Calibri" pitchFamily="34" charset="-122"/>
                <a:cs typeface="Calibri" pitchFamily="34" charset="-120"/>
              </a:rPr>
              <a:t>41</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365760" y="960120"/>
            <a:ext cx="8412480" cy="3794760"/>
          </a:xfrm>
          <a:prstGeom prst="rect">
            <a:avLst/>
          </a:prstGeom>
          <a:solidFill>
            <a:srgbClr val="F0F4FF"/>
          </a:solidFill>
          <a:ln w="12700">
            <a:solidFill>
              <a:srgbClr val="185FA5"/>
            </a:solidFill>
            <a:prstDash val="solid"/>
          </a:ln>
          <a:effectLst>
            <a:outerShdw blurRad="101600" dist="25400" dir="8100000" algn="bl" rotWithShape="0">
              <a:srgbClr val="000000">
                <a:alpha val="10000"/>
              </a:srgbClr>
            </a:outerShdw>
          </a:effectLst>
        </p:spPr>
      </p:sp>
      <p:sp>
        <p:nvSpPr>
          <p:cNvPr id="9" name="Shape 7"/>
          <p:cNvSpPr/>
          <p:nvPr/>
        </p:nvSpPr>
        <p:spPr>
          <a:xfrm>
            <a:off x="365760" y="960120"/>
            <a:ext cx="8412480" cy="0"/>
          </a:xfrm>
          <a:prstGeom prst="line">
            <a:avLst/>
          </a:prstGeom>
          <a:noFill/>
          <a:ln w="19050">
            <a:solidFill>
              <a:srgbClr val="185FA5"/>
            </a:solidFill>
            <a:prstDash val="dash"/>
          </a:ln>
        </p:spPr>
      </p:sp>
      <p:sp>
        <p:nvSpPr>
          <p:cNvPr id="10" name="Shape 8"/>
          <p:cNvSpPr/>
          <p:nvPr/>
        </p:nvSpPr>
        <p:spPr>
          <a:xfrm>
            <a:off x="365760" y="4754880"/>
            <a:ext cx="8412480" cy="0"/>
          </a:xfrm>
          <a:prstGeom prst="line">
            <a:avLst/>
          </a:prstGeom>
          <a:noFill/>
          <a:ln w="19050">
            <a:solidFill>
              <a:srgbClr val="185FA5"/>
            </a:solidFill>
            <a:prstDash val="dash"/>
          </a:ln>
        </p:spPr>
      </p:sp>
      <p:sp>
        <p:nvSpPr>
          <p:cNvPr id="11" name="Shape 9"/>
          <p:cNvSpPr/>
          <p:nvPr/>
        </p:nvSpPr>
        <p:spPr>
          <a:xfrm>
            <a:off x="365760" y="960120"/>
            <a:ext cx="0" cy="3794760"/>
          </a:xfrm>
          <a:prstGeom prst="line">
            <a:avLst/>
          </a:prstGeom>
          <a:noFill/>
          <a:ln w="19050">
            <a:solidFill>
              <a:srgbClr val="185FA5"/>
            </a:solidFill>
            <a:prstDash val="dash"/>
          </a:ln>
        </p:spPr>
      </p:sp>
      <p:sp>
        <p:nvSpPr>
          <p:cNvPr id="12" name="Shape 10"/>
          <p:cNvSpPr/>
          <p:nvPr/>
        </p:nvSpPr>
        <p:spPr>
          <a:xfrm>
            <a:off x="8778240" y="960120"/>
            <a:ext cx="0" cy="3794760"/>
          </a:xfrm>
          <a:prstGeom prst="line">
            <a:avLst/>
          </a:prstGeom>
          <a:noFill/>
          <a:ln w="19050">
            <a:solidFill>
              <a:srgbClr val="185FA5"/>
            </a:solidFill>
            <a:prstDash val="dash"/>
          </a:ln>
        </p:spPr>
      </p:sp>
      <p:sp>
        <p:nvSpPr>
          <p:cNvPr id="13" name="Shape 11"/>
          <p:cNvSpPr/>
          <p:nvPr/>
        </p:nvSpPr>
        <p:spPr>
          <a:xfrm>
            <a:off x="4114800" y="2103120"/>
            <a:ext cx="914400" cy="914400"/>
          </a:xfrm>
          <a:prstGeom prst="ellipse">
            <a:avLst/>
          </a:prstGeom>
          <a:solidFill>
            <a:srgbClr val="185FA5">
              <a:alpha val="20000"/>
            </a:srgbClr>
          </a:solidFill>
          <a:ln w="12700">
            <a:solidFill>
              <a:srgbClr val="185FA5">
                <a:alpha val="50000"/>
              </a:srgbClr>
            </a:solidFill>
            <a:prstDash val="solid"/>
          </a:ln>
        </p:spPr>
      </p:sp>
      <p:sp>
        <p:nvSpPr>
          <p:cNvPr id="14" name="Text 12"/>
          <p:cNvSpPr/>
          <p:nvPr/>
        </p:nvSpPr>
        <p:spPr>
          <a:xfrm>
            <a:off x="4114800" y="2103120"/>
            <a:ext cx="914400" cy="9144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Calibri" panose="020F0502020204030204"/>
                <a:ea typeface="+mn-ea"/>
                <a:cs typeface="+mn-cs"/>
              </a:rPr>
              <a:t>📎</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1371600" y="3154680"/>
            <a:ext cx="6400800" cy="4114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85FA5"/>
                </a:solidFill>
                <a:effectLst/>
                <a:uLnTx/>
                <a:uFillTx/>
                <a:latin typeface="Calibri" pitchFamily="34" charset="0"/>
                <a:ea typeface="Calibri" pitchFamily="34" charset="-122"/>
                <a:cs typeface="Calibri" pitchFamily="34" charset="-120"/>
              </a:rPr>
              <a:t>Data Cleaning Screenshot — Excel / Power Query</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1371600" y="3566160"/>
            <a:ext cx="640080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Screenshot will be inserted here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0" name="Picture 1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0040" y="849923"/>
            <a:ext cx="8503920" cy="3931627"/>
          </a:xfrm>
          <a:prstGeom prst="rect">
            <a:avLst/>
          </a:prstGeom>
        </p:spPr>
      </p:pic>
    </p:spTree>
    <p:extLst>
      <p:ext uri="{BB962C8B-B14F-4D97-AF65-F5344CB8AC3E}">
        <p14:creationId xmlns:p14="http://schemas.microsoft.com/office/powerpoint/2010/main" val="33823663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Shape 1"/>
          <p:cNvSpPr/>
          <p:nvPr/>
        </p:nvSpPr>
        <p:spPr>
          <a:xfrm>
            <a:off x="0" y="0"/>
            <a:ext cx="109728" cy="777240"/>
          </a:xfrm>
          <a:prstGeom prst="rect">
            <a:avLst/>
          </a:prstGeom>
          <a:solidFill>
            <a:srgbClr val="1D9E75"/>
          </a:solidFill>
          <a:ln w="12700">
            <a:solidFill>
              <a:srgbClr val="1D9E75"/>
            </a:solidFill>
            <a:prstDash val="solid"/>
          </a:ln>
        </p:spPr>
      </p:sp>
      <p:sp>
        <p:nvSpPr>
          <p:cNvPr id="4" name="Text 2"/>
          <p:cNvSpPr/>
          <p:nvPr/>
        </p:nvSpPr>
        <p:spPr>
          <a:xfrm>
            <a:off x="256032" y="0"/>
            <a:ext cx="8686800" cy="7772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Database Overview — Step 3: Star Schema Data Model</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256032" y="493776"/>
            <a:ext cx="8686800" cy="25603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chemeClr val="bg1"/>
                </a:solidFill>
                <a:effectLst/>
                <a:uLnTx/>
                <a:uFillTx/>
                <a:latin typeface="Calibri" pitchFamily="34" charset="0"/>
                <a:ea typeface="Calibri" pitchFamily="34" charset="-122"/>
                <a:cs typeface="Calibri" pitchFamily="34" charset="-120"/>
              </a:rPr>
              <a:t>Flat files split into 5 normalised tables · connected by primary &amp; foreign keys</a:t>
            </a:r>
            <a:endParaRPr kumimoji="0" lang="en-US" sz="95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6" name="Shape 4"/>
          <p:cNvSpPr/>
          <p:nvPr/>
        </p:nvSpPr>
        <p:spPr>
          <a:xfrm>
            <a:off x="0" y="4892040"/>
            <a:ext cx="9144000" cy="251460"/>
          </a:xfrm>
          <a:prstGeom prst="rect">
            <a:avLst/>
          </a:prstGeom>
          <a:solidFill>
            <a:srgbClr val="1E2761"/>
          </a:solidFill>
          <a:ln w="12700">
            <a:solidFill>
              <a:srgbClr val="1E2761"/>
            </a:solidFill>
            <a:prstDash val="solid"/>
          </a:ln>
        </p:spPr>
      </p:sp>
      <p:sp>
        <p:nvSpPr>
          <p:cNvPr id="7" name="Text 5"/>
          <p:cNvSpPr/>
          <p:nvPr/>
        </p:nvSpPr>
        <p:spPr>
          <a:xfrm>
            <a:off x="0" y="4892040"/>
            <a:ext cx="9144000" cy="2514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Remote Work Productivity Analysis  ·  Database Overview (2 of 2)</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228600" y="896112"/>
            <a:ext cx="8686800" cy="274320"/>
          </a:xfrm>
          <a:prstGeom prst="rect">
            <a:avLst/>
          </a:prstGeom>
          <a:solidFill>
            <a:srgbClr val="1D9E75"/>
          </a:solidFill>
          <a:ln w="12700">
            <a:solidFill>
              <a:srgbClr val="1D9E75"/>
            </a:solidFill>
            <a:prstDash val="solid"/>
          </a:ln>
        </p:spPr>
      </p:sp>
      <p:sp>
        <p:nvSpPr>
          <p:cNvPr id="9" name="Text 7"/>
          <p:cNvSpPr/>
          <p:nvPr/>
        </p:nvSpPr>
        <p:spPr>
          <a:xfrm>
            <a:off x="228600" y="896112"/>
            <a:ext cx="86868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AFTER  —  Normalised star schema: 1 Fact table + 4 Dimension tables connected by IDs ( </a:t>
            </a:r>
            <a:r>
              <a:rPr kumimoji="0" lang="en-US" sz="9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5 sheets )</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3246120" y="1828800"/>
            <a:ext cx="2651760" cy="2514600"/>
          </a:xfrm>
          <a:prstGeom prst="rect">
            <a:avLst/>
          </a:prstGeom>
          <a:solidFill>
            <a:srgbClr val="1E2761"/>
          </a:solidFill>
          <a:ln w="25400">
            <a:solidFill>
              <a:srgbClr val="185FA5"/>
            </a:solidFill>
            <a:prstDash val="solid"/>
          </a:ln>
          <a:effectLst>
            <a:outerShdw algn="bl" rotWithShape="0">
              <a:srgbClr val="000000">
                <a:alpha val="0"/>
              </a:srgbClr>
            </a:outerShdw>
          </a:effectLst>
        </p:spPr>
      </p:sp>
      <p:sp>
        <p:nvSpPr>
          <p:cNvPr id="11" name="Shape 9"/>
          <p:cNvSpPr/>
          <p:nvPr/>
        </p:nvSpPr>
        <p:spPr>
          <a:xfrm>
            <a:off x="3246120" y="1828800"/>
            <a:ext cx="2651760" cy="365760"/>
          </a:xfrm>
          <a:prstGeom prst="rect">
            <a:avLst/>
          </a:prstGeom>
          <a:solidFill>
            <a:srgbClr val="185FA5"/>
          </a:solidFill>
          <a:ln w="12700">
            <a:solidFill>
              <a:srgbClr val="185FA5"/>
            </a:solidFill>
            <a:prstDash val="solid"/>
          </a:ln>
        </p:spPr>
      </p:sp>
      <p:sp>
        <p:nvSpPr>
          <p:cNvPr id="12" name="Text 10"/>
          <p:cNvSpPr/>
          <p:nvPr/>
        </p:nvSpPr>
        <p:spPr>
          <a:xfrm>
            <a:off x="3246120" y="1828800"/>
            <a:ext cx="2651760" cy="3657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Fact_Productivity</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3337560" y="2231136"/>
            <a:ext cx="2468880" cy="19202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Employee_ID</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3337560" y="2423160"/>
            <a:ext cx="2468880" cy="19202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Job_ID</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3337560" y="2615184"/>
            <a:ext cx="2468880" cy="19202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Env_ID</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3337560" y="2807208"/>
            <a:ext cx="2468880" cy="19202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Support_ID</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3337560" y="2999232"/>
            <a:ext cx="2468880" cy="19202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3337560" y="3191256"/>
            <a:ext cx="2468880" cy="19202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Productivity_Score</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3337560" y="3383280"/>
            <a:ext cx="2468880" cy="19202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Task_Completion_Rate</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3337560" y="3575304"/>
            <a:ext cx="2468880" cy="19202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Quality_Score</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3337560" y="3767328"/>
            <a:ext cx="2468880" cy="19202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Innovation_Score</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3337560" y="3959352"/>
            <a:ext cx="2468880" cy="19202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Efficiency_Rating</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3337560" y="4151376"/>
            <a:ext cx="2468880" cy="19202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WFH_Days_Per_Week</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3337560" y="4343400"/>
            <a:ext cx="2468880" cy="16459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1"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+ 19 more measure columns…</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3"/>
          <p:cNvSpPr/>
          <p:nvPr/>
        </p:nvSpPr>
        <p:spPr>
          <a:xfrm>
            <a:off x="182880" y="1207008"/>
            <a:ext cx="2359152" cy="2139696"/>
          </a:xfrm>
          <a:prstGeom prst="rect">
            <a:avLst/>
          </a:prstGeom>
          <a:solidFill>
            <a:srgbClr val="FFFFFF"/>
          </a:solidFill>
          <a:ln w="15240">
            <a:solidFill>
              <a:srgbClr val="1D9E75"/>
            </a:solidFill>
            <a:prstDash val="solid"/>
          </a:ln>
          <a:effectLst>
            <a:outerShdw algn="bl" rotWithShape="0">
              <a:srgbClr val="000000">
                <a:alpha val="0"/>
              </a:srgbClr>
            </a:outerShdw>
          </a:effectLst>
        </p:spPr>
      </p:sp>
      <p:sp>
        <p:nvSpPr>
          <p:cNvPr id="26" name="Shape 24"/>
          <p:cNvSpPr/>
          <p:nvPr/>
        </p:nvSpPr>
        <p:spPr>
          <a:xfrm>
            <a:off x="182880" y="1207008"/>
            <a:ext cx="2359152" cy="329184"/>
          </a:xfrm>
          <a:prstGeom prst="rect">
            <a:avLst/>
          </a:prstGeom>
          <a:solidFill>
            <a:srgbClr val="1D9E75"/>
          </a:solidFill>
          <a:ln w="12700">
            <a:solidFill>
              <a:srgbClr val="1D9E75"/>
            </a:solidFill>
            <a:prstDash val="solid"/>
          </a:ln>
        </p:spPr>
      </p:sp>
      <p:sp>
        <p:nvSpPr>
          <p:cNvPr id="27" name="Text 25"/>
          <p:cNvSpPr/>
          <p:nvPr/>
        </p:nvSpPr>
        <p:spPr>
          <a:xfrm>
            <a:off x="182880" y="1207008"/>
            <a:ext cx="2359152" cy="32918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Dim_Employee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256032" y="1572768"/>
            <a:ext cx="2212848" cy="20116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1" i="1" u="none" strike="noStrike" kern="1200" cap="none" spc="0" normalizeH="0" baseline="0" noProof="0" dirty="0">
                <a:ln>
                  <a:noFill/>
                </a:ln>
                <a:solidFill>
                  <a:srgbClr val="1D9E75"/>
                </a:solidFill>
                <a:effectLst/>
                <a:uLnTx/>
                <a:uFillTx/>
                <a:latin typeface="Calibri" pitchFamily="34" charset="0"/>
                <a:ea typeface="Calibri" pitchFamily="34" charset="-122"/>
                <a:cs typeface="Calibri" pitchFamily="34" charset="-120"/>
              </a:rPr>
              <a:t>← from: Employees sheet</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p:nvPr/>
        </p:nvSpPr>
        <p:spPr>
          <a:xfrm>
            <a:off x="256032" y="1773936"/>
            <a:ext cx="2212848" cy="21945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1D9E75"/>
                </a:solidFill>
                <a:effectLst/>
                <a:uLnTx/>
                <a:uFillTx/>
                <a:latin typeface="Calibri" pitchFamily="34" charset="0"/>
                <a:ea typeface="Calibri" pitchFamily="34" charset="-122"/>
                <a:cs typeface="Calibri" pitchFamily="34" charset="-120"/>
              </a:rPr>
              <a:t>🔑 Employee_ID  (Primary Key)</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p:cNvSpPr/>
          <p:nvPr/>
        </p:nvSpPr>
        <p:spPr>
          <a:xfrm>
            <a:off x="256032" y="2020824"/>
            <a:ext cx="2212848" cy="2286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 Age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9"/>
          <p:cNvSpPr/>
          <p:nvPr/>
        </p:nvSpPr>
        <p:spPr>
          <a:xfrm>
            <a:off x="256032" y="2267712"/>
            <a:ext cx="2212848" cy="2286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 Gender</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p:cNvSpPr/>
          <p:nvPr/>
        </p:nvSpPr>
        <p:spPr>
          <a:xfrm>
            <a:off x="256032" y="2514600"/>
            <a:ext cx="2212848" cy="2286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 Education_Level</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256032" y="2761488"/>
            <a:ext cx="2212848" cy="2286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 Marital_Status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p:cNvSpPr/>
          <p:nvPr/>
        </p:nvSpPr>
        <p:spPr>
          <a:xfrm>
            <a:off x="256032" y="3008376"/>
            <a:ext cx="2212848" cy="2286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 Has_Children</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34"/>
          <p:cNvSpPr/>
          <p:nvPr/>
        </p:nvSpPr>
        <p:spPr>
          <a:xfrm rot="936725">
            <a:off x="2482596" y="2237994"/>
            <a:ext cx="1005840" cy="16459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1" u="none" strike="noStrike" kern="1200" cap="none" spc="0" normalizeH="0" baseline="0" noProof="0" dirty="0">
                <a:ln>
                  <a:noFill/>
                </a:ln>
                <a:solidFill>
                  <a:srgbClr val="1D9E75"/>
                </a:solidFill>
                <a:effectLst/>
                <a:uLnTx/>
                <a:uFillTx/>
                <a:latin typeface="Calibri" pitchFamily="34" charset="0"/>
                <a:ea typeface="Calibri" pitchFamily="34" charset="-122"/>
                <a:cs typeface="Calibri" pitchFamily="34" charset="-120"/>
              </a:rPr>
              <a:t>FK: Employee_ID</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Shape 35"/>
          <p:cNvSpPr/>
          <p:nvPr/>
        </p:nvSpPr>
        <p:spPr>
          <a:xfrm>
            <a:off x="6236208" y="1207008"/>
            <a:ext cx="2359152" cy="1883664"/>
          </a:xfrm>
          <a:prstGeom prst="rect">
            <a:avLst/>
          </a:prstGeom>
          <a:solidFill>
            <a:srgbClr val="FFFFFF"/>
          </a:solidFill>
          <a:ln w="15240">
            <a:solidFill>
              <a:srgbClr val="1D9E75"/>
            </a:solidFill>
            <a:prstDash val="solid"/>
          </a:ln>
          <a:effectLst>
            <a:outerShdw algn="bl" rotWithShape="0">
              <a:srgbClr val="000000">
                <a:alpha val="0"/>
              </a:srgbClr>
            </a:outerShdw>
          </a:effectLst>
        </p:spPr>
      </p:sp>
      <p:sp>
        <p:nvSpPr>
          <p:cNvPr id="38" name="Shape 36"/>
          <p:cNvSpPr/>
          <p:nvPr/>
        </p:nvSpPr>
        <p:spPr>
          <a:xfrm>
            <a:off x="6236208" y="1207008"/>
            <a:ext cx="2359152" cy="329184"/>
          </a:xfrm>
          <a:prstGeom prst="rect">
            <a:avLst/>
          </a:prstGeom>
          <a:solidFill>
            <a:srgbClr val="1D9E75"/>
          </a:solidFill>
          <a:ln w="12700">
            <a:solidFill>
              <a:srgbClr val="1D9E75"/>
            </a:solidFill>
            <a:prstDash val="solid"/>
          </a:ln>
        </p:spPr>
      </p:sp>
      <p:sp>
        <p:nvSpPr>
          <p:cNvPr id="39" name="Text 37"/>
          <p:cNvSpPr/>
          <p:nvPr/>
        </p:nvSpPr>
        <p:spPr>
          <a:xfrm>
            <a:off x="6236208" y="1207008"/>
            <a:ext cx="2359152" cy="32918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Dim_Job</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8"/>
          <p:cNvSpPr/>
          <p:nvPr/>
        </p:nvSpPr>
        <p:spPr>
          <a:xfrm>
            <a:off x="6309360" y="1572768"/>
            <a:ext cx="2212848" cy="20116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1" i="1" u="none" strike="noStrike" kern="1200" cap="none" spc="0" normalizeH="0" baseline="0" noProof="0" dirty="0">
                <a:ln>
                  <a:noFill/>
                </a:ln>
                <a:solidFill>
                  <a:srgbClr val="1D9E75"/>
                </a:solidFill>
                <a:effectLst/>
                <a:uLnTx/>
                <a:uFillTx/>
                <a:latin typeface="Calibri" pitchFamily="34" charset="0"/>
                <a:ea typeface="Calibri" pitchFamily="34" charset="-122"/>
                <a:cs typeface="Calibri" pitchFamily="34" charset="-120"/>
              </a:rPr>
              <a:t>← from: Company_Info sheet</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Text 39"/>
          <p:cNvSpPr/>
          <p:nvPr/>
        </p:nvSpPr>
        <p:spPr>
          <a:xfrm>
            <a:off x="6309360" y="1773936"/>
            <a:ext cx="2212848" cy="21945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1D9E75"/>
                </a:solidFill>
                <a:effectLst/>
                <a:uLnTx/>
                <a:uFillTx/>
                <a:latin typeface="Calibri" pitchFamily="34" charset="0"/>
                <a:ea typeface="Calibri" pitchFamily="34" charset="-122"/>
                <a:cs typeface="Calibri" pitchFamily="34" charset="-120"/>
              </a:rPr>
              <a:t>🔑 Job_ID  (Primary Key)</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Text 40"/>
          <p:cNvSpPr/>
          <p:nvPr/>
        </p:nvSpPr>
        <p:spPr>
          <a:xfrm>
            <a:off x="6309360" y="2020824"/>
            <a:ext cx="2212848" cy="2286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 Department</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Text 41"/>
          <p:cNvSpPr/>
          <p:nvPr/>
        </p:nvSpPr>
        <p:spPr>
          <a:xfrm>
            <a:off x="6309360" y="2267712"/>
            <a:ext cx="2212848" cy="2286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 Job_Level</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Text 42"/>
          <p:cNvSpPr/>
          <p:nvPr/>
        </p:nvSpPr>
        <p:spPr>
          <a:xfrm>
            <a:off x="6309360" y="2514600"/>
            <a:ext cx="2212848" cy="2286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 Company_Size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Text 43"/>
          <p:cNvSpPr/>
          <p:nvPr/>
        </p:nvSpPr>
        <p:spPr>
          <a:xfrm>
            <a:off x="6309360" y="2761488"/>
            <a:ext cx="2212848" cy="2286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 Industry</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 name="Text 45"/>
          <p:cNvSpPr/>
          <p:nvPr/>
        </p:nvSpPr>
        <p:spPr>
          <a:xfrm rot="20846075">
            <a:off x="5857918" y="1915084"/>
            <a:ext cx="1005840" cy="16459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1" u="none" strike="noStrike" kern="1200" cap="none" spc="0" normalizeH="0" baseline="0" noProof="0" dirty="0">
                <a:ln>
                  <a:noFill/>
                </a:ln>
                <a:solidFill>
                  <a:srgbClr val="1D9E75"/>
                </a:solidFill>
                <a:effectLst/>
                <a:uLnTx/>
                <a:uFillTx/>
                <a:latin typeface="Calibri" pitchFamily="34" charset="0"/>
                <a:ea typeface="Calibri" pitchFamily="34" charset="-122"/>
                <a:cs typeface="Calibri" pitchFamily="34" charset="-120"/>
              </a:rPr>
              <a:t>FK: Job_ID</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Shape 46"/>
          <p:cNvSpPr/>
          <p:nvPr/>
        </p:nvSpPr>
        <p:spPr>
          <a:xfrm>
            <a:off x="182880" y="3310128"/>
            <a:ext cx="2359152" cy="1627632"/>
          </a:xfrm>
          <a:prstGeom prst="rect">
            <a:avLst/>
          </a:prstGeom>
          <a:solidFill>
            <a:srgbClr val="FFFFFF"/>
          </a:solidFill>
          <a:ln w="15240">
            <a:solidFill>
              <a:srgbClr val="BA7517"/>
            </a:solidFill>
            <a:prstDash val="solid"/>
          </a:ln>
          <a:effectLst>
            <a:outerShdw algn="bl" rotWithShape="0">
              <a:srgbClr val="000000">
                <a:alpha val="0"/>
              </a:srgbClr>
            </a:outerShdw>
          </a:effectLst>
        </p:spPr>
      </p:sp>
      <p:sp>
        <p:nvSpPr>
          <p:cNvPr id="49" name="Shape 47"/>
          <p:cNvSpPr/>
          <p:nvPr/>
        </p:nvSpPr>
        <p:spPr>
          <a:xfrm>
            <a:off x="182880" y="3310128"/>
            <a:ext cx="2359152" cy="329184"/>
          </a:xfrm>
          <a:prstGeom prst="rect">
            <a:avLst/>
          </a:prstGeom>
          <a:solidFill>
            <a:srgbClr val="BA7517"/>
          </a:solidFill>
          <a:ln w="12700">
            <a:solidFill>
              <a:srgbClr val="BA7517"/>
            </a:solidFill>
            <a:prstDash val="solid"/>
          </a:ln>
        </p:spPr>
      </p:sp>
      <p:sp>
        <p:nvSpPr>
          <p:cNvPr id="50" name="Text 48"/>
          <p:cNvSpPr/>
          <p:nvPr/>
        </p:nvSpPr>
        <p:spPr>
          <a:xfrm>
            <a:off x="182880" y="3310128"/>
            <a:ext cx="2359152" cy="32918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Dim_Environment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 name="Text 49"/>
          <p:cNvSpPr/>
          <p:nvPr/>
        </p:nvSpPr>
        <p:spPr>
          <a:xfrm>
            <a:off x="256032" y="3675888"/>
            <a:ext cx="2212848" cy="20116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1" i="1" u="none" strike="noStrike" kern="1200" cap="none" spc="0" normalizeH="0" baseline="0" noProof="0" dirty="0">
                <a:ln>
                  <a:noFill/>
                </a:ln>
                <a:solidFill>
                  <a:srgbClr val="BA7517"/>
                </a:solidFill>
                <a:effectLst/>
                <a:uLnTx/>
                <a:uFillTx/>
                <a:latin typeface="Calibri" pitchFamily="34" charset="0"/>
                <a:ea typeface="Calibri" pitchFamily="34" charset="-122"/>
                <a:cs typeface="Calibri" pitchFamily="34" charset="-120"/>
              </a:rPr>
              <a:t>← from: Work_Environment sheet</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2" name="Text 50"/>
          <p:cNvSpPr/>
          <p:nvPr/>
        </p:nvSpPr>
        <p:spPr>
          <a:xfrm>
            <a:off x="256032" y="3877056"/>
            <a:ext cx="2212848" cy="21945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BA7517"/>
                </a:solidFill>
                <a:effectLst/>
                <a:uLnTx/>
                <a:uFillTx/>
                <a:latin typeface="Calibri" pitchFamily="34" charset="0"/>
                <a:ea typeface="Calibri" pitchFamily="34" charset="-122"/>
                <a:cs typeface="Calibri" pitchFamily="34" charset="-120"/>
              </a:rPr>
              <a:t>🔑 Env_ID  (Primary Key)</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 name="Text 51"/>
          <p:cNvSpPr/>
          <p:nvPr/>
        </p:nvSpPr>
        <p:spPr>
          <a:xfrm>
            <a:off x="256032" y="4123944"/>
            <a:ext cx="2212848" cy="2286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 Location_Type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 name="Text 52"/>
          <p:cNvSpPr/>
          <p:nvPr/>
        </p:nvSpPr>
        <p:spPr>
          <a:xfrm>
            <a:off x="256032" y="4370832"/>
            <a:ext cx="2212848" cy="2286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 Home_Office_Quality</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 name="Text 53"/>
          <p:cNvSpPr/>
          <p:nvPr/>
        </p:nvSpPr>
        <p:spPr>
          <a:xfrm>
            <a:off x="256032" y="4617720"/>
            <a:ext cx="2212848" cy="2286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 Internet_Speed_Category</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 name="Text 55"/>
          <p:cNvSpPr/>
          <p:nvPr/>
        </p:nvSpPr>
        <p:spPr>
          <a:xfrm rot="19568875">
            <a:off x="2529809" y="2993123"/>
            <a:ext cx="1005840" cy="16459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1" u="none" strike="noStrike" kern="1200" cap="none" spc="0" normalizeH="0" baseline="0" noProof="0" dirty="0">
                <a:ln>
                  <a:noFill/>
                </a:ln>
                <a:solidFill>
                  <a:srgbClr val="BA7517"/>
                </a:solidFill>
                <a:effectLst/>
                <a:uLnTx/>
                <a:uFillTx/>
                <a:latin typeface="Calibri" pitchFamily="34" charset="0"/>
                <a:ea typeface="Calibri" pitchFamily="34" charset="-122"/>
                <a:cs typeface="Calibri" pitchFamily="34" charset="-120"/>
              </a:rPr>
              <a:t>FK: Env_ID</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 name="Shape 56"/>
          <p:cNvSpPr/>
          <p:nvPr/>
        </p:nvSpPr>
        <p:spPr>
          <a:xfrm>
            <a:off x="6236208" y="3310128"/>
            <a:ext cx="2359152" cy="1371600"/>
          </a:xfrm>
          <a:prstGeom prst="rect">
            <a:avLst/>
          </a:prstGeom>
          <a:solidFill>
            <a:srgbClr val="FFFFFF"/>
          </a:solidFill>
          <a:ln w="15240">
            <a:solidFill>
              <a:srgbClr val="BA7517"/>
            </a:solidFill>
            <a:prstDash val="solid"/>
          </a:ln>
          <a:effectLst>
            <a:outerShdw algn="bl" rotWithShape="0">
              <a:srgbClr val="000000">
                <a:alpha val="0"/>
              </a:srgbClr>
            </a:outerShdw>
          </a:effectLst>
        </p:spPr>
      </p:sp>
      <p:sp>
        <p:nvSpPr>
          <p:cNvPr id="59" name="Shape 57"/>
          <p:cNvSpPr/>
          <p:nvPr/>
        </p:nvSpPr>
        <p:spPr>
          <a:xfrm>
            <a:off x="6236208" y="3310128"/>
            <a:ext cx="2359152" cy="329184"/>
          </a:xfrm>
          <a:prstGeom prst="rect">
            <a:avLst/>
          </a:prstGeom>
          <a:solidFill>
            <a:srgbClr val="BA7517"/>
          </a:solidFill>
          <a:ln w="12700">
            <a:solidFill>
              <a:srgbClr val="BA7517"/>
            </a:solidFill>
            <a:prstDash val="solid"/>
          </a:ln>
        </p:spPr>
      </p:sp>
      <p:sp>
        <p:nvSpPr>
          <p:cNvPr id="60" name="Text 58"/>
          <p:cNvSpPr/>
          <p:nvPr/>
        </p:nvSpPr>
        <p:spPr>
          <a:xfrm>
            <a:off x="6236208" y="3310128"/>
            <a:ext cx="2359152" cy="32918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Dim_Support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1" name="Text 59"/>
          <p:cNvSpPr/>
          <p:nvPr/>
        </p:nvSpPr>
        <p:spPr>
          <a:xfrm>
            <a:off x="6309360" y="3675888"/>
            <a:ext cx="2212848" cy="20116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1" i="1" u="none" strike="noStrike" kern="1200" cap="none" spc="0" normalizeH="0" baseline="0" noProof="0" dirty="0">
                <a:ln>
                  <a:noFill/>
                </a:ln>
                <a:solidFill>
                  <a:srgbClr val="BA7517"/>
                </a:solidFill>
                <a:effectLst/>
                <a:uLnTx/>
                <a:uFillTx/>
                <a:latin typeface="Calibri" pitchFamily="34" charset="0"/>
                <a:ea typeface="Calibri" pitchFamily="34" charset="-122"/>
                <a:cs typeface="Calibri" pitchFamily="34" charset="-120"/>
              </a:rPr>
              <a:t>← from: Flat file columns</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2" name="Text 60"/>
          <p:cNvSpPr/>
          <p:nvPr/>
        </p:nvSpPr>
        <p:spPr>
          <a:xfrm>
            <a:off x="6309360" y="3877056"/>
            <a:ext cx="2212848" cy="21945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BA7517"/>
                </a:solidFill>
                <a:effectLst/>
                <a:uLnTx/>
                <a:uFillTx/>
                <a:latin typeface="Calibri" pitchFamily="34" charset="0"/>
                <a:ea typeface="Calibri" pitchFamily="34" charset="-122"/>
                <a:cs typeface="Calibri" pitchFamily="34" charset="-120"/>
              </a:rPr>
              <a:t>🔑 Support_ID  (Primary Key)</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3" name="Text 61"/>
          <p:cNvSpPr/>
          <p:nvPr/>
        </p:nvSpPr>
        <p:spPr>
          <a:xfrm>
            <a:off x="6309360" y="4123944"/>
            <a:ext cx="2212848" cy="2286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 Manager_Support_Level</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 name="Text 62"/>
          <p:cNvSpPr/>
          <p:nvPr/>
        </p:nvSpPr>
        <p:spPr>
          <a:xfrm>
            <a:off x="6309360" y="4370832"/>
            <a:ext cx="2212848" cy="2286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 Team_Collaboration_Frequency</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 name="Text 64"/>
          <p:cNvSpPr/>
          <p:nvPr/>
        </p:nvSpPr>
        <p:spPr>
          <a:xfrm rot="1460677">
            <a:off x="5806440" y="3986785"/>
            <a:ext cx="1005840" cy="16459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1" u="none" strike="noStrike" kern="1200" cap="none" spc="0" normalizeH="0" baseline="0" noProof="0" dirty="0">
                <a:ln>
                  <a:noFill/>
                </a:ln>
                <a:solidFill>
                  <a:srgbClr val="BA7517"/>
                </a:solidFill>
                <a:effectLst/>
                <a:uLnTx/>
                <a:uFillTx/>
                <a:latin typeface="Calibri" pitchFamily="34" charset="0"/>
                <a:ea typeface="Calibri" pitchFamily="34" charset="-122"/>
                <a:cs typeface="Calibri" pitchFamily="34" charset="-120"/>
              </a:rPr>
              <a:t>FK: Support_ID</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 name="Shape 65"/>
          <p:cNvSpPr/>
          <p:nvPr/>
        </p:nvSpPr>
        <p:spPr>
          <a:xfrm>
            <a:off x="228600" y="4617720"/>
            <a:ext cx="8686800" cy="201168"/>
          </a:xfrm>
          <a:prstGeom prst="rect">
            <a:avLst/>
          </a:prstGeom>
          <a:solidFill>
            <a:srgbClr val="1E2761"/>
          </a:solidFill>
          <a:ln w="12700">
            <a:solidFill>
              <a:srgbClr val="1E2761"/>
            </a:solidFill>
            <a:prstDash val="solid"/>
          </a:ln>
        </p:spPr>
      </p:sp>
      <p:sp>
        <p:nvSpPr>
          <p:cNvPr id="68" name="Text 66"/>
          <p:cNvSpPr/>
          <p:nvPr/>
        </p:nvSpPr>
        <p:spPr>
          <a:xfrm>
            <a:off x="320040" y="4626864"/>
            <a:ext cx="1691640" cy="1828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1D9E75"/>
                </a:solidFill>
                <a:effectLst/>
                <a:uLnTx/>
                <a:uFillTx/>
                <a:latin typeface="Calibri" pitchFamily="34" charset="0"/>
                <a:ea typeface="Calibri" pitchFamily="34" charset="-122"/>
                <a:cs typeface="Calibri" pitchFamily="34" charset="-120"/>
              </a:rPr>
              <a:t>✓  No data redundancy</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9" name="Text 67"/>
          <p:cNvSpPr/>
          <p:nvPr/>
        </p:nvSpPr>
        <p:spPr>
          <a:xfrm>
            <a:off x="2057400" y="4626864"/>
            <a:ext cx="1691640" cy="1828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1D9E75"/>
                </a:solidFill>
                <a:effectLst/>
                <a:uLnTx/>
                <a:uFillTx/>
                <a:latin typeface="Calibri" pitchFamily="34" charset="0"/>
                <a:ea typeface="Calibri" pitchFamily="34" charset="-122"/>
                <a:cs typeface="Calibri" pitchFamily="34" charset="-120"/>
              </a:rPr>
              <a:t>✓  Each entity stored once</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0" name="Text 68"/>
          <p:cNvSpPr/>
          <p:nvPr/>
        </p:nvSpPr>
        <p:spPr>
          <a:xfrm>
            <a:off x="3794760" y="4626864"/>
            <a:ext cx="1691640" cy="1828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1D9E75"/>
                </a:solidFill>
                <a:effectLst/>
                <a:uLnTx/>
                <a:uFillTx/>
                <a:latin typeface="Calibri" pitchFamily="34" charset="0"/>
                <a:ea typeface="Calibri" pitchFamily="34" charset="-122"/>
                <a:cs typeface="Calibri" pitchFamily="34" charset="-120"/>
              </a:rPr>
              <a:t>✓  FK integrity enforced</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1" name="Text 69"/>
          <p:cNvSpPr/>
          <p:nvPr/>
        </p:nvSpPr>
        <p:spPr>
          <a:xfrm>
            <a:off x="5532120" y="4626864"/>
            <a:ext cx="1691640" cy="1828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1D9E75"/>
                </a:solidFill>
                <a:effectLst/>
                <a:uLnTx/>
                <a:uFillTx/>
                <a:latin typeface="Calibri" pitchFamily="34" charset="0"/>
                <a:ea typeface="Calibri" pitchFamily="34" charset="-122"/>
                <a:cs typeface="Calibri" pitchFamily="34" charset="-120"/>
              </a:rPr>
              <a:t>✓  Flexible slicing by any dimension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2" name="Text 70"/>
          <p:cNvSpPr/>
          <p:nvPr/>
        </p:nvSpPr>
        <p:spPr>
          <a:xfrm>
            <a:off x="7269480" y="4626864"/>
            <a:ext cx="1691640" cy="1828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1D9E75"/>
                </a:solidFill>
                <a:effectLst/>
                <a:uLnTx/>
                <a:uFillTx/>
                <a:latin typeface="Calibri" pitchFamily="34" charset="0"/>
                <a:ea typeface="Calibri" pitchFamily="34" charset="-122"/>
                <a:cs typeface="Calibri" pitchFamily="34" charset="-120"/>
              </a:rPr>
              <a:t>✓  Scalable &amp; queryable</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77" name="Straight Connector 76"/>
          <p:cNvCxnSpPr/>
          <p:nvPr/>
        </p:nvCxnSpPr>
        <p:spPr>
          <a:xfrm>
            <a:off x="1715247" y="1883664"/>
            <a:ext cx="0" cy="4901"/>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Straight Connector 78"/>
          <p:cNvCxnSpPr>
            <a:endCxn id="13" idx="1"/>
          </p:cNvCxnSpPr>
          <p:nvPr/>
        </p:nvCxnSpPr>
        <p:spPr>
          <a:xfrm>
            <a:off x="1792941" y="1865376"/>
            <a:ext cx="1544619" cy="461772"/>
          </a:xfrm>
          <a:prstGeom prst="line">
            <a:avLst/>
          </a:prstGeom>
        </p:spPr>
        <p:style>
          <a:lnRef idx="3">
            <a:schemeClr val="dk1"/>
          </a:lnRef>
          <a:fillRef idx="0">
            <a:schemeClr val="dk1"/>
          </a:fillRef>
          <a:effectRef idx="2">
            <a:schemeClr val="dk1"/>
          </a:effectRef>
          <a:fontRef idx="minor">
            <a:schemeClr val="tx1"/>
          </a:fontRef>
        </p:style>
      </p:cxnSp>
      <p:cxnSp>
        <p:nvCxnSpPr>
          <p:cNvPr id="81" name="Straight Connector 80"/>
          <p:cNvCxnSpPr/>
          <p:nvPr/>
        </p:nvCxnSpPr>
        <p:spPr>
          <a:xfrm flipV="1">
            <a:off x="1458259" y="2711196"/>
            <a:ext cx="1960282" cy="1275588"/>
          </a:xfrm>
          <a:prstGeom prst="line">
            <a:avLst/>
          </a:prstGeom>
        </p:spPr>
        <p:style>
          <a:lnRef idx="3">
            <a:schemeClr val="dk1"/>
          </a:lnRef>
          <a:fillRef idx="0">
            <a:schemeClr val="dk1"/>
          </a:fillRef>
          <a:effectRef idx="2">
            <a:schemeClr val="dk1"/>
          </a:effectRef>
          <a:fontRef idx="minor">
            <a:schemeClr val="tx1"/>
          </a:fontRef>
        </p:style>
      </p:cxnSp>
      <p:cxnSp>
        <p:nvCxnSpPr>
          <p:cNvPr id="83" name="Straight Connector 82"/>
          <p:cNvCxnSpPr/>
          <p:nvPr/>
        </p:nvCxnSpPr>
        <p:spPr>
          <a:xfrm flipH="1">
            <a:off x="3777657" y="1853721"/>
            <a:ext cx="2583180" cy="662940"/>
          </a:xfrm>
          <a:prstGeom prst="line">
            <a:avLst/>
          </a:prstGeom>
        </p:spPr>
        <p:style>
          <a:lnRef idx="3">
            <a:schemeClr val="dk1"/>
          </a:lnRef>
          <a:fillRef idx="0">
            <a:schemeClr val="dk1"/>
          </a:fillRef>
          <a:effectRef idx="2">
            <a:schemeClr val="dk1"/>
          </a:effectRef>
          <a:fontRef idx="minor">
            <a:schemeClr val="tx1"/>
          </a:fontRef>
        </p:style>
      </p:cxnSp>
      <p:cxnSp>
        <p:nvCxnSpPr>
          <p:cNvPr id="85" name="Straight Connector 84"/>
          <p:cNvCxnSpPr/>
          <p:nvPr/>
        </p:nvCxnSpPr>
        <p:spPr>
          <a:xfrm flipH="1" flipV="1">
            <a:off x="3926541" y="2903220"/>
            <a:ext cx="2461915" cy="1083564"/>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0018105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6">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Shape 1"/>
          <p:cNvSpPr/>
          <p:nvPr/>
        </p:nvSpPr>
        <p:spPr>
          <a:xfrm>
            <a:off x="0" y="0"/>
            <a:ext cx="109728" cy="777240"/>
          </a:xfrm>
          <a:prstGeom prst="rect">
            <a:avLst/>
          </a:prstGeom>
          <a:solidFill>
            <a:srgbClr val="1D9E75"/>
          </a:solidFill>
          <a:ln w="12700">
            <a:solidFill>
              <a:srgbClr val="1D9E75"/>
            </a:solidFill>
            <a:prstDash val="solid"/>
          </a:ln>
        </p:spPr>
      </p:sp>
      <p:sp>
        <p:nvSpPr>
          <p:cNvPr id="4" name="Text 2"/>
          <p:cNvSpPr/>
          <p:nvPr/>
        </p:nvSpPr>
        <p:spPr>
          <a:xfrm>
            <a:off x="274320" y="0"/>
            <a:ext cx="8686800" cy="7772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Database Overview</a:t>
            </a:r>
            <a:endParaRPr lang="en-US" sz="2200" dirty="0"/>
          </a:p>
        </p:txBody>
      </p:sp>
      <p:sp>
        <p:nvSpPr>
          <p:cNvPr id="5" name="Text 3"/>
          <p:cNvSpPr/>
          <p:nvPr/>
        </p:nvSpPr>
        <p:spPr>
          <a:xfrm>
            <a:off x="274320" y="512064"/>
            <a:ext cx="8686800" cy="265176"/>
          </a:xfrm>
          <a:prstGeom prst="rect">
            <a:avLst/>
          </a:prstGeom>
          <a:noFill/>
          <a:ln/>
        </p:spPr>
        <p:txBody>
          <a:bodyPr wrap="square" rtlCol="0" anchor="ctr"/>
          <a:lstStyle/>
          <a:p>
            <a:pPr marL="0" indent="0">
              <a:buNone/>
            </a:pPr>
            <a:r>
              <a:rPr lang="en-US" sz="950" b="1" dirty="0">
                <a:solidFill>
                  <a:schemeClr val="bg1"/>
                </a:solidFill>
                <a:latin typeface="Calibri" pitchFamily="34" charset="0"/>
                <a:ea typeface="Calibri" pitchFamily="34" charset="-122"/>
                <a:cs typeface="Calibri" pitchFamily="34" charset="-120"/>
              </a:rPr>
              <a:t>Table descriptions and row counts</a:t>
            </a:r>
            <a:endParaRPr lang="en-US" sz="950" b="1" dirty="0">
              <a:solidFill>
                <a:schemeClr val="bg1"/>
              </a:solidFill>
            </a:endParaRPr>
          </a:p>
        </p:txBody>
      </p:sp>
      <p:sp>
        <p:nvSpPr>
          <p:cNvPr id="6" name="Shape 4"/>
          <p:cNvSpPr/>
          <p:nvPr/>
        </p:nvSpPr>
        <p:spPr>
          <a:xfrm>
            <a:off x="0" y="4892040"/>
            <a:ext cx="9144000" cy="251460"/>
          </a:xfrm>
          <a:prstGeom prst="rect">
            <a:avLst/>
          </a:prstGeom>
          <a:solidFill>
            <a:srgbClr val="1E2761"/>
          </a:solidFill>
          <a:ln w="12700">
            <a:solidFill>
              <a:srgbClr val="1E2761"/>
            </a:solidFill>
            <a:prstDash val="solid"/>
          </a:ln>
        </p:spPr>
      </p:sp>
      <p:sp>
        <p:nvSpPr>
          <p:cNvPr id="7" name="Text 5"/>
          <p:cNvSpPr/>
          <p:nvPr/>
        </p:nvSpPr>
        <p:spPr>
          <a:xfrm>
            <a:off x="0" y="4892040"/>
            <a:ext cx="9144000" cy="251460"/>
          </a:xfrm>
          <a:prstGeom prst="rect">
            <a:avLst/>
          </a:prstGeom>
          <a:noFill/>
          <a:ln/>
        </p:spPr>
        <p:txBody>
          <a:bodyPr wrap="square"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Remote Work Productivity Analysis  ·  Slide 15 of 41</a:t>
            </a:r>
            <a:endParaRPr lang="en-US" sz="800" dirty="0"/>
          </a:p>
        </p:txBody>
      </p:sp>
      <p:sp>
        <p:nvSpPr>
          <p:cNvPr id="8" name="Shape 6"/>
          <p:cNvSpPr/>
          <p:nvPr/>
        </p:nvSpPr>
        <p:spPr>
          <a:xfrm>
            <a:off x="228600" y="960120"/>
            <a:ext cx="8686800" cy="676656"/>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9" name="Shape 7"/>
          <p:cNvSpPr/>
          <p:nvPr/>
        </p:nvSpPr>
        <p:spPr>
          <a:xfrm>
            <a:off x="228600" y="960120"/>
            <a:ext cx="73152" cy="676656"/>
          </a:xfrm>
          <a:prstGeom prst="rect">
            <a:avLst/>
          </a:prstGeom>
          <a:solidFill>
            <a:srgbClr val="185FA5"/>
          </a:solidFill>
          <a:ln w="12700">
            <a:solidFill>
              <a:srgbClr val="185FA5"/>
            </a:solidFill>
            <a:prstDash val="solid"/>
          </a:ln>
        </p:spPr>
      </p:sp>
      <p:sp>
        <p:nvSpPr>
          <p:cNvPr id="10" name="Shape 8"/>
          <p:cNvSpPr/>
          <p:nvPr/>
        </p:nvSpPr>
        <p:spPr>
          <a:xfrm>
            <a:off x="228600" y="960120"/>
            <a:ext cx="1828800" cy="676656"/>
          </a:xfrm>
          <a:prstGeom prst="rect">
            <a:avLst/>
          </a:prstGeom>
          <a:solidFill>
            <a:srgbClr val="185FA5">
              <a:alpha val="12000"/>
            </a:srgbClr>
          </a:solidFill>
          <a:ln w="12700">
            <a:solidFill>
              <a:srgbClr val="185FA5">
                <a:alpha val="12000"/>
              </a:srgbClr>
            </a:solidFill>
            <a:prstDash val="solid"/>
          </a:ln>
        </p:spPr>
      </p:sp>
      <p:sp>
        <p:nvSpPr>
          <p:cNvPr id="11" name="Text 9"/>
          <p:cNvSpPr/>
          <p:nvPr/>
        </p:nvSpPr>
        <p:spPr>
          <a:xfrm>
            <a:off x="365760" y="1033272"/>
            <a:ext cx="1645920" cy="256032"/>
          </a:xfrm>
          <a:prstGeom prst="rect">
            <a:avLst/>
          </a:prstGeom>
          <a:noFill/>
          <a:ln/>
        </p:spPr>
        <p:txBody>
          <a:bodyPr wrap="square" rtlCol="0" anchor="ctr"/>
          <a:lstStyle/>
          <a:p>
            <a:pPr marL="0" indent="0">
              <a:buNone/>
            </a:pPr>
            <a:r>
              <a:rPr lang="en-US" sz="1050" b="1" dirty="0">
                <a:solidFill>
                  <a:srgbClr val="185FA5"/>
                </a:solidFill>
                <a:latin typeface="Calibri" pitchFamily="34" charset="0"/>
                <a:ea typeface="Calibri" pitchFamily="34" charset="-122"/>
                <a:cs typeface="Calibri" pitchFamily="34" charset="-120"/>
              </a:rPr>
              <a:t>Fact_Productivity</a:t>
            </a:r>
            <a:endParaRPr lang="en-US" sz="1050" dirty="0"/>
          </a:p>
        </p:txBody>
      </p:sp>
      <p:sp>
        <p:nvSpPr>
          <p:cNvPr id="12" name="Text 10"/>
          <p:cNvSpPr/>
          <p:nvPr/>
        </p:nvSpPr>
        <p:spPr>
          <a:xfrm>
            <a:off x="365760" y="1307592"/>
            <a:ext cx="1645920" cy="219456"/>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1,500 rows</a:t>
            </a:r>
            <a:endParaRPr lang="en-US" sz="900" dirty="0"/>
          </a:p>
        </p:txBody>
      </p:sp>
      <p:sp>
        <p:nvSpPr>
          <p:cNvPr id="13" name="Text 11"/>
          <p:cNvSpPr/>
          <p:nvPr/>
        </p:nvSpPr>
        <p:spPr>
          <a:xfrm>
            <a:off x="2194560" y="1024128"/>
            <a:ext cx="4937760" cy="457200"/>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Central fact table. Each row represents one employee survey response with all KPI scores and foreign keys to all dimension tables.</a:t>
            </a:r>
            <a:endParaRPr lang="en-US" sz="950" dirty="0"/>
          </a:p>
        </p:txBody>
      </p:sp>
      <p:sp>
        <p:nvSpPr>
          <p:cNvPr id="14" name="Shape 12"/>
          <p:cNvSpPr/>
          <p:nvPr/>
        </p:nvSpPr>
        <p:spPr>
          <a:xfrm>
            <a:off x="7223760" y="1088136"/>
            <a:ext cx="1554480" cy="420624"/>
          </a:xfrm>
          <a:prstGeom prst="rect">
            <a:avLst/>
          </a:prstGeom>
          <a:solidFill>
            <a:srgbClr val="185FA5">
              <a:alpha val="12000"/>
            </a:srgbClr>
          </a:solidFill>
          <a:ln w="12700">
            <a:solidFill>
              <a:srgbClr val="185FA5"/>
            </a:solidFill>
            <a:prstDash val="solid"/>
          </a:ln>
        </p:spPr>
      </p:sp>
      <p:sp>
        <p:nvSpPr>
          <p:cNvPr id="15" name="Text 13"/>
          <p:cNvSpPr/>
          <p:nvPr/>
        </p:nvSpPr>
        <p:spPr>
          <a:xfrm>
            <a:off x="7223760" y="1088136"/>
            <a:ext cx="1554480" cy="420624"/>
          </a:xfrm>
          <a:prstGeom prst="rect">
            <a:avLst/>
          </a:prstGeom>
          <a:noFill/>
          <a:ln/>
        </p:spPr>
        <p:txBody>
          <a:bodyPr wrap="square" rtlCol="0" anchor="ctr"/>
          <a:lstStyle/>
          <a:p>
            <a:pPr marL="0" indent="0" algn="ctr">
              <a:buNone/>
            </a:pPr>
            <a:r>
              <a:rPr lang="en-US" sz="800" b="1" dirty="0">
                <a:solidFill>
                  <a:srgbClr val="185FA5"/>
                </a:solidFill>
                <a:latin typeface="Calibri" pitchFamily="34" charset="0"/>
                <a:ea typeface="Calibri" pitchFamily="34" charset="-122"/>
                <a:cs typeface="Calibri" pitchFamily="34" charset="-120"/>
              </a:rPr>
              <a:t>4 FK · 26 measure columns</a:t>
            </a:r>
            <a:endParaRPr lang="en-US" sz="800" dirty="0"/>
          </a:p>
        </p:txBody>
      </p:sp>
      <p:sp>
        <p:nvSpPr>
          <p:cNvPr id="16" name="Shape 14"/>
          <p:cNvSpPr/>
          <p:nvPr/>
        </p:nvSpPr>
        <p:spPr>
          <a:xfrm>
            <a:off x="228600" y="1728216"/>
            <a:ext cx="8686800" cy="676656"/>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17" name="Shape 15"/>
          <p:cNvSpPr/>
          <p:nvPr/>
        </p:nvSpPr>
        <p:spPr>
          <a:xfrm>
            <a:off x="228600" y="1728216"/>
            <a:ext cx="73152" cy="676656"/>
          </a:xfrm>
          <a:prstGeom prst="rect">
            <a:avLst/>
          </a:prstGeom>
          <a:solidFill>
            <a:srgbClr val="1D9E75"/>
          </a:solidFill>
          <a:ln w="12700">
            <a:solidFill>
              <a:srgbClr val="1D9E75"/>
            </a:solidFill>
            <a:prstDash val="solid"/>
          </a:ln>
        </p:spPr>
      </p:sp>
      <p:sp>
        <p:nvSpPr>
          <p:cNvPr id="18" name="Shape 16"/>
          <p:cNvSpPr/>
          <p:nvPr/>
        </p:nvSpPr>
        <p:spPr>
          <a:xfrm>
            <a:off x="228600" y="1728216"/>
            <a:ext cx="1828800" cy="676656"/>
          </a:xfrm>
          <a:prstGeom prst="rect">
            <a:avLst/>
          </a:prstGeom>
          <a:solidFill>
            <a:srgbClr val="1D9E75">
              <a:alpha val="12000"/>
            </a:srgbClr>
          </a:solidFill>
          <a:ln w="12700">
            <a:solidFill>
              <a:srgbClr val="1D9E75">
                <a:alpha val="12000"/>
              </a:srgbClr>
            </a:solidFill>
            <a:prstDash val="solid"/>
          </a:ln>
        </p:spPr>
      </p:sp>
      <p:sp>
        <p:nvSpPr>
          <p:cNvPr id="19" name="Text 17"/>
          <p:cNvSpPr/>
          <p:nvPr/>
        </p:nvSpPr>
        <p:spPr>
          <a:xfrm>
            <a:off x="365760" y="1801368"/>
            <a:ext cx="1645920" cy="256032"/>
          </a:xfrm>
          <a:prstGeom prst="rect">
            <a:avLst/>
          </a:prstGeom>
          <a:noFill/>
          <a:ln/>
        </p:spPr>
        <p:txBody>
          <a:bodyPr wrap="square" rtlCol="0" anchor="ctr"/>
          <a:lstStyle/>
          <a:p>
            <a:pPr marL="0" indent="0">
              <a:buNone/>
            </a:pPr>
            <a:r>
              <a:rPr lang="en-US" sz="1050" b="1" dirty="0">
                <a:solidFill>
                  <a:srgbClr val="1D9E75"/>
                </a:solidFill>
                <a:latin typeface="Calibri" pitchFamily="34" charset="0"/>
                <a:ea typeface="Calibri" pitchFamily="34" charset="-122"/>
                <a:cs typeface="Calibri" pitchFamily="34" charset="-120"/>
              </a:rPr>
              <a:t>Dim_Employee</a:t>
            </a:r>
            <a:endParaRPr lang="en-US" sz="1050" dirty="0"/>
          </a:p>
        </p:txBody>
      </p:sp>
      <p:sp>
        <p:nvSpPr>
          <p:cNvPr id="20" name="Text 18"/>
          <p:cNvSpPr/>
          <p:nvPr/>
        </p:nvSpPr>
        <p:spPr>
          <a:xfrm>
            <a:off x="365760" y="2075688"/>
            <a:ext cx="1645920" cy="219456"/>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1,500 rows</a:t>
            </a:r>
            <a:endParaRPr lang="en-US" sz="900" dirty="0"/>
          </a:p>
        </p:txBody>
      </p:sp>
      <p:sp>
        <p:nvSpPr>
          <p:cNvPr id="21" name="Text 19"/>
          <p:cNvSpPr/>
          <p:nvPr/>
        </p:nvSpPr>
        <p:spPr>
          <a:xfrm>
            <a:off x="2194560" y="1792224"/>
            <a:ext cx="4937760" cy="457200"/>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Employee demographics: age, gender, education level, marital status, and whether they have children.</a:t>
            </a:r>
            <a:endParaRPr lang="en-US" sz="950" dirty="0"/>
          </a:p>
        </p:txBody>
      </p:sp>
      <p:sp>
        <p:nvSpPr>
          <p:cNvPr id="22" name="Shape 20"/>
          <p:cNvSpPr/>
          <p:nvPr/>
        </p:nvSpPr>
        <p:spPr>
          <a:xfrm>
            <a:off x="7223760" y="1856232"/>
            <a:ext cx="1554480" cy="420624"/>
          </a:xfrm>
          <a:prstGeom prst="rect">
            <a:avLst/>
          </a:prstGeom>
          <a:solidFill>
            <a:srgbClr val="1D9E75">
              <a:alpha val="12000"/>
            </a:srgbClr>
          </a:solidFill>
          <a:ln w="12700">
            <a:solidFill>
              <a:srgbClr val="1D9E75"/>
            </a:solidFill>
            <a:prstDash val="solid"/>
          </a:ln>
        </p:spPr>
      </p:sp>
      <p:sp>
        <p:nvSpPr>
          <p:cNvPr id="23" name="Text 21"/>
          <p:cNvSpPr/>
          <p:nvPr/>
        </p:nvSpPr>
        <p:spPr>
          <a:xfrm>
            <a:off x="7223760" y="1856232"/>
            <a:ext cx="1554480" cy="420624"/>
          </a:xfrm>
          <a:prstGeom prst="rect">
            <a:avLst/>
          </a:prstGeom>
          <a:noFill/>
          <a:ln/>
        </p:spPr>
        <p:txBody>
          <a:bodyPr wrap="square" rtlCol="0" anchor="ctr"/>
          <a:lstStyle/>
          <a:p>
            <a:pPr marL="0" indent="0" algn="ctr">
              <a:buNone/>
            </a:pPr>
            <a:r>
              <a:rPr lang="en-US" sz="800" b="1" dirty="0">
                <a:solidFill>
                  <a:srgbClr val="1D9E75"/>
                </a:solidFill>
                <a:latin typeface="Calibri" pitchFamily="34" charset="0"/>
                <a:ea typeface="Calibri" pitchFamily="34" charset="-122"/>
                <a:cs typeface="Calibri" pitchFamily="34" charset="-120"/>
              </a:rPr>
              <a:t>1 PK · 5 attribute columns</a:t>
            </a:r>
            <a:endParaRPr lang="en-US" sz="800" dirty="0"/>
          </a:p>
        </p:txBody>
      </p:sp>
      <p:sp>
        <p:nvSpPr>
          <p:cNvPr id="24" name="Shape 22"/>
          <p:cNvSpPr/>
          <p:nvPr/>
        </p:nvSpPr>
        <p:spPr>
          <a:xfrm>
            <a:off x="228600" y="2496312"/>
            <a:ext cx="8686800" cy="676656"/>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25" name="Shape 23"/>
          <p:cNvSpPr/>
          <p:nvPr/>
        </p:nvSpPr>
        <p:spPr>
          <a:xfrm>
            <a:off x="228600" y="2496312"/>
            <a:ext cx="73152" cy="676656"/>
          </a:xfrm>
          <a:prstGeom prst="rect">
            <a:avLst/>
          </a:prstGeom>
          <a:solidFill>
            <a:srgbClr val="1D9E75"/>
          </a:solidFill>
          <a:ln w="12700">
            <a:solidFill>
              <a:srgbClr val="1D9E75"/>
            </a:solidFill>
            <a:prstDash val="solid"/>
          </a:ln>
        </p:spPr>
      </p:sp>
      <p:sp>
        <p:nvSpPr>
          <p:cNvPr id="26" name="Shape 24"/>
          <p:cNvSpPr/>
          <p:nvPr/>
        </p:nvSpPr>
        <p:spPr>
          <a:xfrm>
            <a:off x="228600" y="2496312"/>
            <a:ext cx="1828800" cy="676656"/>
          </a:xfrm>
          <a:prstGeom prst="rect">
            <a:avLst/>
          </a:prstGeom>
          <a:solidFill>
            <a:srgbClr val="1D9E75">
              <a:alpha val="12000"/>
            </a:srgbClr>
          </a:solidFill>
          <a:ln w="12700">
            <a:solidFill>
              <a:srgbClr val="1D9E75">
                <a:alpha val="12000"/>
              </a:srgbClr>
            </a:solidFill>
            <a:prstDash val="solid"/>
          </a:ln>
        </p:spPr>
      </p:sp>
      <p:sp>
        <p:nvSpPr>
          <p:cNvPr id="27" name="Text 25"/>
          <p:cNvSpPr/>
          <p:nvPr/>
        </p:nvSpPr>
        <p:spPr>
          <a:xfrm>
            <a:off x="365760" y="2569464"/>
            <a:ext cx="1645920" cy="256032"/>
          </a:xfrm>
          <a:prstGeom prst="rect">
            <a:avLst/>
          </a:prstGeom>
          <a:noFill/>
          <a:ln/>
        </p:spPr>
        <p:txBody>
          <a:bodyPr wrap="square" rtlCol="0" anchor="ctr"/>
          <a:lstStyle/>
          <a:p>
            <a:pPr marL="0" indent="0">
              <a:buNone/>
            </a:pPr>
            <a:r>
              <a:rPr lang="en-US" sz="1050" b="1" dirty="0">
                <a:solidFill>
                  <a:srgbClr val="1D9E75"/>
                </a:solidFill>
                <a:latin typeface="Calibri" pitchFamily="34" charset="0"/>
                <a:ea typeface="Calibri" pitchFamily="34" charset="-122"/>
                <a:cs typeface="Calibri" pitchFamily="34" charset="-120"/>
              </a:rPr>
              <a:t>Dim_Job</a:t>
            </a:r>
            <a:endParaRPr lang="en-US" sz="1050" dirty="0"/>
          </a:p>
        </p:txBody>
      </p:sp>
      <p:sp>
        <p:nvSpPr>
          <p:cNvPr id="28" name="Text 26"/>
          <p:cNvSpPr/>
          <p:nvPr/>
        </p:nvSpPr>
        <p:spPr>
          <a:xfrm>
            <a:off x="365760" y="2843784"/>
            <a:ext cx="1645920" cy="219456"/>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825 rows</a:t>
            </a:r>
            <a:endParaRPr lang="en-US" sz="900" dirty="0"/>
          </a:p>
        </p:txBody>
      </p:sp>
      <p:sp>
        <p:nvSpPr>
          <p:cNvPr id="29" name="Text 27"/>
          <p:cNvSpPr/>
          <p:nvPr/>
        </p:nvSpPr>
        <p:spPr>
          <a:xfrm>
            <a:off x="2194560" y="2560320"/>
            <a:ext cx="4937760" cy="457200"/>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Job context: department, job level, company size, and industry. Deduplicated combinations of job attributes.</a:t>
            </a:r>
            <a:endParaRPr lang="en-US" sz="950" dirty="0"/>
          </a:p>
        </p:txBody>
      </p:sp>
      <p:sp>
        <p:nvSpPr>
          <p:cNvPr id="30" name="Shape 28"/>
          <p:cNvSpPr/>
          <p:nvPr/>
        </p:nvSpPr>
        <p:spPr>
          <a:xfrm>
            <a:off x="7223760" y="2624328"/>
            <a:ext cx="1554480" cy="420624"/>
          </a:xfrm>
          <a:prstGeom prst="rect">
            <a:avLst/>
          </a:prstGeom>
          <a:solidFill>
            <a:srgbClr val="1D9E75">
              <a:alpha val="12000"/>
            </a:srgbClr>
          </a:solidFill>
          <a:ln w="12700">
            <a:solidFill>
              <a:srgbClr val="1D9E75"/>
            </a:solidFill>
            <a:prstDash val="solid"/>
          </a:ln>
        </p:spPr>
      </p:sp>
      <p:sp>
        <p:nvSpPr>
          <p:cNvPr id="31" name="Text 29"/>
          <p:cNvSpPr/>
          <p:nvPr/>
        </p:nvSpPr>
        <p:spPr>
          <a:xfrm>
            <a:off x="7223760" y="2624328"/>
            <a:ext cx="1554480" cy="420624"/>
          </a:xfrm>
          <a:prstGeom prst="rect">
            <a:avLst/>
          </a:prstGeom>
          <a:noFill/>
          <a:ln/>
        </p:spPr>
        <p:txBody>
          <a:bodyPr wrap="square" rtlCol="0" anchor="ctr"/>
          <a:lstStyle/>
          <a:p>
            <a:pPr marL="0" indent="0" algn="ctr">
              <a:buNone/>
            </a:pPr>
            <a:r>
              <a:rPr lang="en-US" sz="800" b="1" dirty="0">
                <a:solidFill>
                  <a:srgbClr val="1D9E75"/>
                </a:solidFill>
                <a:latin typeface="Calibri" pitchFamily="34" charset="0"/>
                <a:ea typeface="Calibri" pitchFamily="34" charset="-122"/>
                <a:cs typeface="Calibri" pitchFamily="34" charset="-120"/>
              </a:rPr>
              <a:t>1 PK · 4 attribute columns</a:t>
            </a:r>
            <a:endParaRPr lang="en-US" sz="800" dirty="0"/>
          </a:p>
        </p:txBody>
      </p:sp>
      <p:sp>
        <p:nvSpPr>
          <p:cNvPr id="32" name="Shape 30"/>
          <p:cNvSpPr/>
          <p:nvPr/>
        </p:nvSpPr>
        <p:spPr>
          <a:xfrm>
            <a:off x="228600" y="3264408"/>
            <a:ext cx="8686800" cy="676656"/>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33" name="Shape 31"/>
          <p:cNvSpPr/>
          <p:nvPr/>
        </p:nvSpPr>
        <p:spPr>
          <a:xfrm>
            <a:off x="228600" y="3264408"/>
            <a:ext cx="73152" cy="676656"/>
          </a:xfrm>
          <a:prstGeom prst="rect">
            <a:avLst/>
          </a:prstGeom>
          <a:solidFill>
            <a:srgbClr val="BA7517"/>
          </a:solidFill>
          <a:ln w="12700">
            <a:solidFill>
              <a:srgbClr val="BA7517"/>
            </a:solidFill>
            <a:prstDash val="solid"/>
          </a:ln>
        </p:spPr>
      </p:sp>
      <p:sp>
        <p:nvSpPr>
          <p:cNvPr id="34" name="Shape 32"/>
          <p:cNvSpPr/>
          <p:nvPr/>
        </p:nvSpPr>
        <p:spPr>
          <a:xfrm>
            <a:off x="228600" y="3264408"/>
            <a:ext cx="1828800" cy="676656"/>
          </a:xfrm>
          <a:prstGeom prst="rect">
            <a:avLst/>
          </a:prstGeom>
          <a:solidFill>
            <a:srgbClr val="BA7517">
              <a:alpha val="12000"/>
            </a:srgbClr>
          </a:solidFill>
          <a:ln w="12700">
            <a:solidFill>
              <a:srgbClr val="BA7517">
                <a:alpha val="12000"/>
              </a:srgbClr>
            </a:solidFill>
            <a:prstDash val="solid"/>
          </a:ln>
        </p:spPr>
      </p:sp>
      <p:sp>
        <p:nvSpPr>
          <p:cNvPr id="35" name="Text 33"/>
          <p:cNvSpPr/>
          <p:nvPr/>
        </p:nvSpPr>
        <p:spPr>
          <a:xfrm>
            <a:off x="365760" y="3337560"/>
            <a:ext cx="1645920" cy="256032"/>
          </a:xfrm>
          <a:prstGeom prst="rect">
            <a:avLst/>
          </a:prstGeom>
          <a:noFill/>
          <a:ln/>
        </p:spPr>
        <p:txBody>
          <a:bodyPr wrap="square" rtlCol="0" anchor="ctr"/>
          <a:lstStyle/>
          <a:p>
            <a:pPr marL="0" indent="0">
              <a:buNone/>
            </a:pPr>
            <a:r>
              <a:rPr lang="en-US" sz="1050" b="1" dirty="0">
                <a:solidFill>
                  <a:srgbClr val="BA7517"/>
                </a:solidFill>
                <a:latin typeface="Calibri" pitchFamily="34" charset="0"/>
                <a:ea typeface="Calibri" pitchFamily="34" charset="-122"/>
                <a:cs typeface="Calibri" pitchFamily="34" charset="-120"/>
              </a:rPr>
              <a:t>Dim_Environment</a:t>
            </a:r>
            <a:endParaRPr lang="en-US" sz="1050" dirty="0"/>
          </a:p>
        </p:txBody>
      </p:sp>
      <p:sp>
        <p:nvSpPr>
          <p:cNvPr id="36" name="Text 34"/>
          <p:cNvSpPr/>
          <p:nvPr/>
        </p:nvSpPr>
        <p:spPr>
          <a:xfrm>
            <a:off x="365760" y="3611880"/>
            <a:ext cx="1645920" cy="219456"/>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47 rows</a:t>
            </a:r>
            <a:endParaRPr lang="en-US" sz="900" dirty="0"/>
          </a:p>
        </p:txBody>
      </p:sp>
      <p:sp>
        <p:nvSpPr>
          <p:cNvPr id="37" name="Text 35"/>
          <p:cNvSpPr/>
          <p:nvPr/>
        </p:nvSpPr>
        <p:spPr>
          <a:xfrm>
            <a:off x="2194560" y="3328416"/>
            <a:ext cx="4937760" cy="457200"/>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Work environment attributes: location type (urban/rural/suburban), home office quality rating, and internet speed category.</a:t>
            </a:r>
            <a:endParaRPr lang="en-US" sz="950" dirty="0"/>
          </a:p>
        </p:txBody>
      </p:sp>
      <p:sp>
        <p:nvSpPr>
          <p:cNvPr id="38" name="Shape 36"/>
          <p:cNvSpPr/>
          <p:nvPr/>
        </p:nvSpPr>
        <p:spPr>
          <a:xfrm>
            <a:off x="7223760" y="3392424"/>
            <a:ext cx="1554480" cy="420624"/>
          </a:xfrm>
          <a:prstGeom prst="rect">
            <a:avLst/>
          </a:prstGeom>
          <a:solidFill>
            <a:srgbClr val="BA7517">
              <a:alpha val="12000"/>
            </a:srgbClr>
          </a:solidFill>
          <a:ln w="12700">
            <a:solidFill>
              <a:srgbClr val="BA7517"/>
            </a:solidFill>
            <a:prstDash val="solid"/>
          </a:ln>
        </p:spPr>
      </p:sp>
      <p:sp>
        <p:nvSpPr>
          <p:cNvPr id="39" name="Text 37"/>
          <p:cNvSpPr/>
          <p:nvPr/>
        </p:nvSpPr>
        <p:spPr>
          <a:xfrm>
            <a:off x="7223760" y="3392424"/>
            <a:ext cx="1554480" cy="420624"/>
          </a:xfrm>
          <a:prstGeom prst="rect">
            <a:avLst/>
          </a:prstGeom>
          <a:noFill/>
          <a:ln/>
        </p:spPr>
        <p:txBody>
          <a:bodyPr wrap="square" rtlCol="0" anchor="ctr"/>
          <a:lstStyle/>
          <a:p>
            <a:pPr marL="0" indent="0" algn="ctr">
              <a:buNone/>
            </a:pPr>
            <a:r>
              <a:rPr lang="en-US" sz="800" b="1" dirty="0">
                <a:solidFill>
                  <a:srgbClr val="BA7517"/>
                </a:solidFill>
                <a:latin typeface="Calibri" pitchFamily="34" charset="0"/>
                <a:ea typeface="Calibri" pitchFamily="34" charset="-122"/>
                <a:cs typeface="Calibri" pitchFamily="34" charset="-120"/>
              </a:rPr>
              <a:t>1 PK · 3 attribute columns</a:t>
            </a:r>
            <a:endParaRPr lang="en-US" sz="800" dirty="0"/>
          </a:p>
        </p:txBody>
      </p:sp>
      <p:sp>
        <p:nvSpPr>
          <p:cNvPr id="40" name="Shape 38"/>
          <p:cNvSpPr/>
          <p:nvPr/>
        </p:nvSpPr>
        <p:spPr>
          <a:xfrm>
            <a:off x="228600" y="4032504"/>
            <a:ext cx="8686800" cy="676656"/>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41" name="Shape 39"/>
          <p:cNvSpPr/>
          <p:nvPr/>
        </p:nvSpPr>
        <p:spPr>
          <a:xfrm>
            <a:off x="228600" y="4032504"/>
            <a:ext cx="73152" cy="676656"/>
          </a:xfrm>
          <a:prstGeom prst="rect">
            <a:avLst/>
          </a:prstGeom>
          <a:solidFill>
            <a:srgbClr val="BA7517"/>
          </a:solidFill>
          <a:ln w="12700">
            <a:solidFill>
              <a:srgbClr val="BA7517"/>
            </a:solidFill>
            <a:prstDash val="solid"/>
          </a:ln>
        </p:spPr>
      </p:sp>
      <p:sp>
        <p:nvSpPr>
          <p:cNvPr id="42" name="Shape 40"/>
          <p:cNvSpPr/>
          <p:nvPr/>
        </p:nvSpPr>
        <p:spPr>
          <a:xfrm>
            <a:off x="228600" y="4032504"/>
            <a:ext cx="1828800" cy="676656"/>
          </a:xfrm>
          <a:prstGeom prst="rect">
            <a:avLst/>
          </a:prstGeom>
          <a:solidFill>
            <a:srgbClr val="BA7517">
              <a:alpha val="12000"/>
            </a:srgbClr>
          </a:solidFill>
          <a:ln w="12700">
            <a:solidFill>
              <a:srgbClr val="BA7517">
                <a:alpha val="12000"/>
              </a:srgbClr>
            </a:solidFill>
            <a:prstDash val="solid"/>
          </a:ln>
        </p:spPr>
      </p:sp>
      <p:sp>
        <p:nvSpPr>
          <p:cNvPr id="43" name="Text 41"/>
          <p:cNvSpPr/>
          <p:nvPr/>
        </p:nvSpPr>
        <p:spPr>
          <a:xfrm>
            <a:off x="365760" y="4105656"/>
            <a:ext cx="1645920" cy="256032"/>
          </a:xfrm>
          <a:prstGeom prst="rect">
            <a:avLst/>
          </a:prstGeom>
          <a:noFill/>
          <a:ln/>
        </p:spPr>
        <p:txBody>
          <a:bodyPr wrap="square" rtlCol="0" anchor="ctr"/>
          <a:lstStyle/>
          <a:p>
            <a:pPr marL="0" indent="0">
              <a:buNone/>
            </a:pPr>
            <a:r>
              <a:rPr lang="en-US" sz="1050" b="1" dirty="0">
                <a:solidFill>
                  <a:srgbClr val="BA7517"/>
                </a:solidFill>
                <a:latin typeface="Calibri" pitchFamily="34" charset="0"/>
                <a:ea typeface="Calibri" pitchFamily="34" charset="-122"/>
                <a:cs typeface="Calibri" pitchFamily="34" charset="-120"/>
              </a:rPr>
              <a:t>Dim_Support</a:t>
            </a:r>
            <a:endParaRPr lang="en-US" sz="1050" dirty="0"/>
          </a:p>
        </p:txBody>
      </p:sp>
      <p:sp>
        <p:nvSpPr>
          <p:cNvPr id="44" name="Text 42"/>
          <p:cNvSpPr/>
          <p:nvPr/>
        </p:nvSpPr>
        <p:spPr>
          <a:xfrm>
            <a:off x="365760" y="4379976"/>
            <a:ext cx="1645920" cy="219456"/>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25 rows</a:t>
            </a:r>
            <a:endParaRPr lang="en-US" sz="900" dirty="0"/>
          </a:p>
        </p:txBody>
      </p:sp>
      <p:sp>
        <p:nvSpPr>
          <p:cNvPr id="45" name="Text 43"/>
          <p:cNvSpPr/>
          <p:nvPr/>
        </p:nvSpPr>
        <p:spPr>
          <a:xfrm>
            <a:off x="2194560" y="4096512"/>
            <a:ext cx="4937760" cy="457200"/>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Manager and team support: manager support level (5 tiers) and team collaboration frequency (5 frequencies).</a:t>
            </a:r>
            <a:endParaRPr lang="en-US" sz="950" dirty="0"/>
          </a:p>
        </p:txBody>
      </p:sp>
      <p:sp>
        <p:nvSpPr>
          <p:cNvPr id="46" name="Shape 44"/>
          <p:cNvSpPr/>
          <p:nvPr/>
        </p:nvSpPr>
        <p:spPr>
          <a:xfrm>
            <a:off x="7223760" y="4160520"/>
            <a:ext cx="1554480" cy="420624"/>
          </a:xfrm>
          <a:prstGeom prst="rect">
            <a:avLst/>
          </a:prstGeom>
          <a:solidFill>
            <a:srgbClr val="BA7517">
              <a:alpha val="12000"/>
            </a:srgbClr>
          </a:solidFill>
          <a:ln w="12700">
            <a:solidFill>
              <a:srgbClr val="BA7517"/>
            </a:solidFill>
            <a:prstDash val="solid"/>
          </a:ln>
        </p:spPr>
      </p:sp>
      <p:sp>
        <p:nvSpPr>
          <p:cNvPr id="47" name="Text 45"/>
          <p:cNvSpPr/>
          <p:nvPr/>
        </p:nvSpPr>
        <p:spPr>
          <a:xfrm>
            <a:off x="7223760" y="4160520"/>
            <a:ext cx="1554480" cy="420624"/>
          </a:xfrm>
          <a:prstGeom prst="rect">
            <a:avLst/>
          </a:prstGeom>
          <a:noFill/>
          <a:ln/>
        </p:spPr>
        <p:txBody>
          <a:bodyPr wrap="square" rtlCol="0" anchor="ctr"/>
          <a:lstStyle/>
          <a:p>
            <a:pPr marL="0" indent="0" algn="ctr">
              <a:buNone/>
            </a:pPr>
            <a:r>
              <a:rPr lang="en-US" sz="800" b="1" dirty="0">
                <a:solidFill>
                  <a:srgbClr val="BA7517"/>
                </a:solidFill>
                <a:latin typeface="Calibri" pitchFamily="34" charset="0"/>
                <a:ea typeface="Calibri" pitchFamily="34" charset="-122"/>
                <a:cs typeface="Calibri" pitchFamily="34" charset="-120"/>
              </a:rPr>
              <a:t>1 PK · 2 attribute columns</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41031"/>
            <a:ext cx="9144000" cy="777240"/>
          </a:xfrm>
          <a:prstGeom prst="rect">
            <a:avLst/>
          </a:prstGeom>
          <a:solidFill>
            <a:srgbClr val="1E2761"/>
          </a:solidFill>
          <a:ln w="12700">
            <a:solidFill>
              <a:srgbClr val="1E2761"/>
            </a:solidFill>
            <a:prstDash val="solid"/>
          </a:ln>
        </p:spPr>
      </p:sp>
      <p:sp>
        <p:nvSpPr>
          <p:cNvPr id="3" name="Shape 1"/>
          <p:cNvSpPr/>
          <p:nvPr/>
        </p:nvSpPr>
        <p:spPr>
          <a:xfrm>
            <a:off x="0" y="0"/>
            <a:ext cx="109728" cy="777240"/>
          </a:xfrm>
          <a:prstGeom prst="rect">
            <a:avLst/>
          </a:prstGeom>
          <a:solidFill>
            <a:srgbClr val="1D9E75"/>
          </a:solidFill>
          <a:ln w="12700">
            <a:solidFill>
              <a:srgbClr val="1D9E75"/>
            </a:solidFill>
            <a:prstDash val="solid"/>
          </a:ln>
        </p:spPr>
      </p:sp>
      <p:sp>
        <p:nvSpPr>
          <p:cNvPr id="4" name="Text 2"/>
          <p:cNvSpPr/>
          <p:nvPr/>
        </p:nvSpPr>
        <p:spPr>
          <a:xfrm>
            <a:off x="274320" y="0"/>
            <a:ext cx="8686800" cy="7772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Pivot table</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274320" y="512064"/>
            <a:ext cx="8686800" cy="26517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0" y="4892040"/>
            <a:ext cx="9144000" cy="251460"/>
          </a:xfrm>
          <a:prstGeom prst="rect">
            <a:avLst/>
          </a:prstGeom>
          <a:solidFill>
            <a:srgbClr val="1E2761"/>
          </a:solidFill>
          <a:ln w="12700">
            <a:solidFill>
              <a:srgbClr val="1E2761"/>
            </a:solidFill>
            <a:prstDash val="solid"/>
          </a:ln>
        </p:spPr>
      </p:sp>
      <p:sp>
        <p:nvSpPr>
          <p:cNvPr id="7" name="Text 5"/>
          <p:cNvSpPr/>
          <p:nvPr/>
        </p:nvSpPr>
        <p:spPr>
          <a:xfrm>
            <a:off x="0" y="4892040"/>
            <a:ext cx="9144000" cy="2514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Remote Work Productivity Analysis  ·  Slide 16 of 41</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365760" y="960120"/>
            <a:ext cx="8412480" cy="3794760"/>
          </a:xfrm>
          <a:prstGeom prst="rect">
            <a:avLst/>
          </a:prstGeom>
          <a:solidFill>
            <a:srgbClr val="F0F4FF"/>
          </a:solidFill>
          <a:ln w="12700">
            <a:solidFill>
              <a:srgbClr val="185FA5"/>
            </a:solidFill>
            <a:prstDash val="solid"/>
          </a:ln>
          <a:effectLst>
            <a:outerShdw blurRad="101600" dist="25400" dir="8100000" algn="bl" rotWithShape="0">
              <a:srgbClr val="000000">
                <a:alpha val="10000"/>
              </a:srgbClr>
            </a:outerShdw>
          </a:effectLst>
        </p:spPr>
      </p:sp>
      <p:sp>
        <p:nvSpPr>
          <p:cNvPr id="9" name="Shape 7"/>
          <p:cNvSpPr/>
          <p:nvPr/>
        </p:nvSpPr>
        <p:spPr>
          <a:xfrm>
            <a:off x="365760" y="960120"/>
            <a:ext cx="8412480" cy="0"/>
          </a:xfrm>
          <a:prstGeom prst="line">
            <a:avLst/>
          </a:prstGeom>
          <a:noFill/>
          <a:ln w="19050">
            <a:solidFill>
              <a:srgbClr val="185FA5"/>
            </a:solidFill>
            <a:prstDash val="dash"/>
          </a:ln>
        </p:spPr>
      </p:sp>
      <p:sp>
        <p:nvSpPr>
          <p:cNvPr id="10" name="Shape 8"/>
          <p:cNvSpPr/>
          <p:nvPr/>
        </p:nvSpPr>
        <p:spPr>
          <a:xfrm>
            <a:off x="365760" y="4754880"/>
            <a:ext cx="8412480" cy="0"/>
          </a:xfrm>
          <a:prstGeom prst="line">
            <a:avLst/>
          </a:prstGeom>
          <a:noFill/>
          <a:ln w="19050">
            <a:solidFill>
              <a:srgbClr val="185FA5"/>
            </a:solidFill>
            <a:prstDash val="dash"/>
          </a:ln>
        </p:spPr>
      </p:sp>
      <p:sp>
        <p:nvSpPr>
          <p:cNvPr id="11" name="Shape 9"/>
          <p:cNvSpPr/>
          <p:nvPr/>
        </p:nvSpPr>
        <p:spPr>
          <a:xfrm>
            <a:off x="365760" y="960120"/>
            <a:ext cx="0" cy="3794760"/>
          </a:xfrm>
          <a:prstGeom prst="line">
            <a:avLst/>
          </a:prstGeom>
          <a:noFill/>
          <a:ln w="19050">
            <a:solidFill>
              <a:srgbClr val="185FA5"/>
            </a:solidFill>
            <a:prstDash val="dash"/>
          </a:ln>
        </p:spPr>
      </p:sp>
      <p:sp>
        <p:nvSpPr>
          <p:cNvPr id="12" name="Shape 10"/>
          <p:cNvSpPr/>
          <p:nvPr/>
        </p:nvSpPr>
        <p:spPr>
          <a:xfrm>
            <a:off x="8778240" y="960120"/>
            <a:ext cx="0" cy="3794760"/>
          </a:xfrm>
          <a:prstGeom prst="line">
            <a:avLst/>
          </a:prstGeom>
          <a:noFill/>
          <a:ln w="19050">
            <a:solidFill>
              <a:srgbClr val="185FA5"/>
            </a:solidFill>
            <a:prstDash val="dash"/>
          </a:ln>
        </p:spPr>
      </p:sp>
      <p:sp>
        <p:nvSpPr>
          <p:cNvPr id="13" name="Shape 11"/>
          <p:cNvSpPr/>
          <p:nvPr/>
        </p:nvSpPr>
        <p:spPr>
          <a:xfrm>
            <a:off x="4114800" y="2103120"/>
            <a:ext cx="914400" cy="914400"/>
          </a:xfrm>
          <a:prstGeom prst="ellipse">
            <a:avLst/>
          </a:prstGeom>
          <a:solidFill>
            <a:srgbClr val="185FA5">
              <a:alpha val="20000"/>
            </a:srgbClr>
          </a:solidFill>
          <a:ln w="12700">
            <a:solidFill>
              <a:srgbClr val="185FA5">
                <a:alpha val="50000"/>
              </a:srgbClr>
            </a:solidFill>
            <a:prstDash val="solid"/>
          </a:ln>
        </p:spPr>
      </p:sp>
      <p:sp>
        <p:nvSpPr>
          <p:cNvPr id="14" name="Text 12"/>
          <p:cNvSpPr/>
          <p:nvPr/>
        </p:nvSpPr>
        <p:spPr>
          <a:xfrm>
            <a:off x="4114800" y="2103120"/>
            <a:ext cx="914400" cy="9144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Calibri" panose="020F0502020204030204"/>
                <a:ea typeface="+mn-ea"/>
                <a:cs typeface="+mn-cs"/>
              </a:rPr>
              <a:t>📎</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1371600" y="3154680"/>
            <a:ext cx="6400800" cy="4114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85FA5"/>
                </a:solidFill>
                <a:effectLst/>
                <a:uLnTx/>
                <a:uFillTx/>
                <a:latin typeface="Calibri" pitchFamily="34" charset="0"/>
                <a:ea typeface="Calibri" pitchFamily="34" charset="-122"/>
                <a:cs typeface="Calibri" pitchFamily="34" charset="-120"/>
              </a:rPr>
              <a:t>Data Cleaning Screenshot — Excel / Power Query</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1371600" y="3566160"/>
            <a:ext cx="640080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Screenshot will be inserted here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8" name="Picture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325" y="763465"/>
            <a:ext cx="8610013" cy="4128575"/>
          </a:xfrm>
          <a:prstGeom prst="rect">
            <a:avLst/>
          </a:prstGeom>
        </p:spPr>
      </p:pic>
    </p:spTree>
    <p:extLst>
      <p:ext uri="{BB962C8B-B14F-4D97-AF65-F5344CB8AC3E}">
        <p14:creationId xmlns:p14="http://schemas.microsoft.com/office/powerpoint/2010/main" val="13794346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41031"/>
            <a:ext cx="9144000" cy="777240"/>
          </a:xfrm>
          <a:prstGeom prst="rect">
            <a:avLst/>
          </a:prstGeom>
          <a:solidFill>
            <a:srgbClr val="1E2761"/>
          </a:solidFill>
          <a:ln w="12700">
            <a:solidFill>
              <a:srgbClr val="1E2761"/>
            </a:solidFill>
            <a:prstDash val="solid"/>
          </a:ln>
        </p:spPr>
      </p:sp>
      <p:sp>
        <p:nvSpPr>
          <p:cNvPr id="3" name="Shape 1"/>
          <p:cNvSpPr/>
          <p:nvPr/>
        </p:nvSpPr>
        <p:spPr>
          <a:xfrm>
            <a:off x="0" y="0"/>
            <a:ext cx="109728" cy="777240"/>
          </a:xfrm>
          <a:prstGeom prst="rect">
            <a:avLst/>
          </a:prstGeom>
          <a:solidFill>
            <a:srgbClr val="1D9E75"/>
          </a:solidFill>
          <a:ln w="12700">
            <a:solidFill>
              <a:srgbClr val="1D9E75"/>
            </a:solidFill>
            <a:prstDash val="solid"/>
          </a:ln>
        </p:spPr>
      </p:sp>
      <p:sp>
        <p:nvSpPr>
          <p:cNvPr id="4" name="Text 2"/>
          <p:cNvSpPr/>
          <p:nvPr/>
        </p:nvSpPr>
        <p:spPr>
          <a:xfrm>
            <a:off x="274320" y="0"/>
            <a:ext cx="8686800" cy="7772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ATL Model- Data base star schema</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274320" y="512064"/>
            <a:ext cx="8686800" cy="26517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0" y="4892040"/>
            <a:ext cx="9144000" cy="251460"/>
          </a:xfrm>
          <a:prstGeom prst="rect">
            <a:avLst/>
          </a:prstGeom>
          <a:solidFill>
            <a:srgbClr val="1E2761"/>
          </a:solidFill>
          <a:ln w="12700">
            <a:solidFill>
              <a:srgbClr val="1E2761"/>
            </a:solidFill>
            <a:prstDash val="solid"/>
          </a:ln>
        </p:spPr>
      </p:sp>
      <p:sp>
        <p:nvSpPr>
          <p:cNvPr id="7" name="Text 5"/>
          <p:cNvSpPr/>
          <p:nvPr/>
        </p:nvSpPr>
        <p:spPr>
          <a:xfrm>
            <a:off x="0" y="4892040"/>
            <a:ext cx="9144000" cy="2514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Remote Work Productivity Analysis  ·  Slide 17 of 41</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365760" y="960120"/>
            <a:ext cx="8412480" cy="3794760"/>
          </a:xfrm>
          <a:prstGeom prst="rect">
            <a:avLst/>
          </a:prstGeom>
          <a:solidFill>
            <a:srgbClr val="F0F4FF"/>
          </a:solidFill>
          <a:ln w="12700">
            <a:solidFill>
              <a:srgbClr val="185FA5"/>
            </a:solidFill>
            <a:prstDash val="solid"/>
          </a:ln>
          <a:effectLst>
            <a:outerShdw blurRad="101600" dist="25400" dir="8100000" algn="bl" rotWithShape="0">
              <a:srgbClr val="000000">
                <a:alpha val="10000"/>
              </a:srgbClr>
            </a:outerShdw>
          </a:effectLst>
        </p:spPr>
      </p:sp>
      <p:sp>
        <p:nvSpPr>
          <p:cNvPr id="9" name="Shape 7"/>
          <p:cNvSpPr/>
          <p:nvPr/>
        </p:nvSpPr>
        <p:spPr>
          <a:xfrm>
            <a:off x="365760" y="960120"/>
            <a:ext cx="8412480" cy="0"/>
          </a:xfrm>
          <a:prstGeom prst="line">
            <a:avLst/>
          </a:prstGeom>
          <a:noFill/>
          <a:ln w="19050">
            <a:solidFill>
              <a:srgbClr val="185FA5"/>
            </a:solidFill>
            <a:prstDash val="dash"/>
          </a:ln>
        </p:spPr>
      </p:sp>
      <p:sp>
        <p:nvSpPr>
          <p:cNvPr id="10" name="Shape 8"/>
          <p:cNvSpPr/>
          <p:nvPr/>
        </p:nvSpPr>
        <p:spPr>
          <a:xfrm>
            <a:off x="365760" y="4754880"/>
            <a:ext cx="8412480" cy="0"/>
          </a:xfrm>
          <a:prstGeom prst="line">
            <a:avLst/>
          </a:prstGeom>
          <a:noFill/>
          <a:ln w="19050">
            <a:solidFill>
              <a:srgbClr val="185FA5"/>
            </a:solidFill>
            <a:prstDash val="dash"/>
          </a:ln>
        </p:spPr>
      </p:sp>
      <p:sp>
        <p:nvSpPr>
          <p:cNvPr id="11" name="Shape 9"/>
          <p:cNvSpPr/>
          <p:nvPr/>
        </p:nvSpPr>
        <p:spPr>
          <a:xfrm>
            <a:off x="365760" y="960120"/>
            <a:ext cx="0" cy="3794760"/>
          </a:xfrm>
          <a:prstGeom prst="line">
            <a:avLst/>
          </a:prstGeom>
          <a:noFill/>
          <a:ln w="19050">
            <a:solidFill>
              <a:srgbClr val="185FA5"/>
            </a:solidFill>
            <a:prstDash val="dash"/>
          </a:ln>
        </p:spPr>
      </p:sp>
      <p:sp>
        <p:nvSpPr>
          <p:cNvPr id="12" name="Shape 10"/>
          <p:cNvSpPr/>
          <p:nvPr/>
        </p:nvSpPr>
        <p:spPr>
          <a:xfrm>
            <a:off x="8778240" y="960120"/>
            <a:ext cx="0" cy="3794760"/>
          </a:xfrm>
          <a:prstGeom prst="line">
            <a:avLst/>
          </a:prstGeom>
          <a:noFill/>
          <a:ln w="19050">
            <a:solidFill>
              <a:srgbClr val="185FA5"/>
            </a:solidFill>
            <a:prstDash val="dash"/>
          </a:ln>
        </p:spPr>
      </p:sp>
      <p:sp>
        <p:nvSpPr>
          <p:cNvPr id="13" name="Shape 11"/>
          <p:cNvSpPr/>
          <p:nvPr/>
        </p:nvSpPr>
        <p:spPr>
          <a:xfrm>
            <a:off x="4114800" y="2103120"/>
            <a:ext cx="914400" cy="914400"/>
          </a:xfrm>
          <a:prstGeom prst="ellipse">
            <a:avLst/>
          </a:prstGeom>
          <a:solidFill>
            <a:srgbClr val="185FA5">
              <a:alpha val="20000"/>
            </a:srgbClr>
          </a:solidFill>
          <a:ln w="12700">
            <a:solidFill>
              <a:srgbClr val="185FA5">
                <a:alpha val="50000"/>
              </a:srgbClr>
            </a:solidFill>
            <a:prstDash val="solid"/>
          </a:ln>
        </p:spPr>
      </p:sp>
      <p:sp>
        <p:nvSpPr>
          <p:cNvPr id="14" name="Text 12"/>
          <p:cNvSpPr/>
          <p:nvPr/>
        </p:nvSpPr>
        <p:spPr>
          <a:xfrm>
            <a:off x="4114800" y="2103120"/>
            <a:ext cx="914400" cy="9144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Calibri" panose="020F0502020204030204"/>
                <a:ea typeface="+mn-ea"/>
                <a:cs typeface="+mn-cs"/>
              </a:rPr>
              <a:t>📎</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1371600" y="3154680"/>
            <a:ext cx="6400800" cy="41148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85FA5"/>
                </a:solidFill>
                <a:effectLst/>
                <a:uLnTx/>
                <a:uFillTx/>
                <a:latin typeface="Calibri" pitchFamily="34" charset="0"/>
                <a:ea typeface="Calibri" pitchFamily="34" charset="-122"/>
                <a:cs typeface="Calibri" pitchFamily="34" charset="-120"/>
              </a:rPr>
              <a:t>Data Cleaning Screenshot — Excel / Power Query</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1371600" y="3566160"/>
            <a:ext cx="640080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Screenshot will be inserted here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7" name="Picture 1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633" y="736209"/>
            <a:ext cx="8480567" cy="4155832"/>
          </a:xfrm>
          <a:prstGeom prst="rect">
            <a:avLst/>
          </a:prstGeom>
        </p:spPr>
      </p:pic>
    </p:spTree>
    <p:extLst>
      <p:ext uri="{BB962C8B-B14F-4D97-AF65-F5344CB8AC3E}">
        <p14:creationId xmlns:p14="http://schemas.microsoft.com/office/powerpoint/2010/main" val="28515030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9">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Shape 1"/>
          <p:cNvSpPr/>
          <p:nvPr/>
        </p:nvSpPr>
        <p:spPr>
          <a:xfrm>
            <a:off x="0" y="0"/>
            <a:ext cx="109728" cy="777240"/>
          </a:xfrm>
          <a:prstGeom prst="rect">
            <a:avLst/>
          </a:prstGeom>
          <a:solidFill>
            <a:srgbClr val="1D9E75"/>
          </a:solidFill>
          <a:ln w="12700">
            <a:solidFill>
              <a:srgbClr val="1D9E75"/>
            </a:solidFill>
            <a:prstDash val="solid"/>
          </a:ln>
        </p:spPr>
      </p:sp>
      <p:sp>
        <p:nvSpPr>
          <p:cNvPr id="4" name="Text 2"/>
          <p:cNvSpPr/>
          <p:nvPr/>
        </p:nvSpPr>
        <p:spPr>
          <a:xfrm>
            <a:off x="274320" y="0"/>
            <a:ext cx="8686800" cy="7772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Data modeling Process</a:t>
            </a:r>
            <a:endParaRPr lang="en-US" sz="2200" dirty="0"/>
          </a:p>
        </p:txBody>
      </p:sp>
      <p:sp>
        <p:nvSpPr>
          <p:cNvPr id="5" name="Text 3"/>
          <p:cNvSpPr/>
          <p:nvPr/>
        </p:nvSpPr>
        <p:spPr>
          <a:xfrm>
            <a:off x="274320" y="512064"/>
            <a:ext cx="8686800" cy="265176"/>
          </a:xfrm>
          <a:prstGeom prst="rect">
            <a:avLst/>
          </a:prstGeom>
          <a:noFill/>
          <a:ln/>
        </p:spPr>
        <p:txBody>
          <a:bodyPr wrap="square" rtlCol="0" anchor="ctr"/>
          <a:lstStyle/>
          <a:p>
            <a:pPr marL="0" indent="0">
              <a:buNone/>
            </a:pPr>
            <a:r>
              <a:rPr lang="en-US" sz="950" b="1" dirty="0">
                <a:solidFill>
                  <a:schemeClr val="bg1"/>
                </a:solidFill>
                <a:latin typeface="Calibri" pitchFamily="34" charset="0"/>
                <a:ea typeface="Calibri" pitchFamily="34" charset="-122"/>
                <a:cs typeface="Calibri" pitchFamily="34" charset="-120"/>
              </a:rPr>
              <a:t>Visual evidence of cleaning steps applied in tableau / Power Query</a:t>
            </a:r>
            <a:endParaRPr lang="en-US" sz="950" b="1" dirty="0">
              <a:solidFill>
                <a:schemeClr val="bg1"/>
              </a:solidFill>
            </a:endParaRPr>
          </a:p>
        </p:txBody>
      </p:sp>
      <p:sp>
        <p:nvSpPr>
          <p:cNvPr id="6" name="Shape 4"/>
          <p:cNvSpPr/>
          <p:nvPr/>
        </p:nvSpPr>
        <p:spPr>
          <a:xfrm>
            <a:off x="0" y="4892040"/>
            <a:ext cx="9144000" cy="251460"/>
          </a:xfrm>
          <a:prstGeom prst="rect">
            <a:avLst/>
          </a:prstGeom>
          <a:solidFill>
            <a:srgbClr val="1E2761"/>
          </a:solidFill>
          <a:ln w="12700">
            <a:solidFill>
              <a:srgbClr val="1E2761"/>
            </a:solidFill>
            <a:prstDash val="solid"/>
          </a:ln>
        </p:spPr>
      </p:sp>
      <p:sp>
        <p:nvSpPr>
          <p:cNvPr id="7" name="Text 5"/>
          <p:cNvSpPr/>
          <p:nvPr/>
        </p:nvSpPr>
        <p:spPr>
          <a:xfrm>
            <a:off x="0" y="4892040"/>
            <a:ext cx="9144000" cy="251460"/>
          </a:xfrm>
          <a:prstGeom prst="rect">
            <a:avLst/>
          </a:prstGeom>
          <a:noFill/>
          <a:ln/>
        </p:spPr>
        <p:txBody>
          <a:bodyPr wrap="square"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Remote Work Productivity Analysis  ·  Slide 18 of 41</a:t>
            </a:r>
            <a:endParaRPr lang="en-US" sz="800" dirty="0"/>
          </a:p>
        </p:txBody>
      </p:sp>
      <p:sp>
        <p:nvSpPr>
          <p:cNvPr id="8" name="Shape 6"/>
          <p:cNvSpPr/>
          <p:nvPr/>
        </p:nvSpPr>
        <p:spPr>
          <a:xfrm>
            <a:off x="365760" y="960120"/>
            <a:ext cx="8412480" cy="3794760"/>
          </a:xfrm>
          <a:prstGeom prst="rect">
            <a:avLst/>
          </a:prstGeom>
          <a:solidFill>
            <a:srgbClr val="F0F4FF"/>
          </a:solidFill>
          <a:ln w="12700">
            <a:solidFill>
              <a:srgbClr val="185FA5"/>
            </a:solidFill>
            <a:prstDash val="solid"/>
          </a:ln>
          <a:effectLst>
            <a:outerShdw blurRad="101600" dist="25400" dir="8100000" algn="bl" rotWithShape="0">
              <a:srgbClr val="000000">
                <a:alpha val="10000"/>
              </a:srgbClr>
            </a:outerShdw>
          </a:effectLst>
        </p:spPr>
      </p:sp>
      <p:sp>
        <p:nvSpPr>
          <p:cNvPr id="9" name="Shape 7"/>
          <p:cNvSpPr/>
          <p:nvPr/>
        </p:nvSpPr>
        <p:spPr>
          <a:xfrm>
            <a:off x="365760" y="960120"/>
            <a:ext cx="8412480" cy="0"/>
          </a:xfrm>
          <a:prstGeom prst="line">
            <a:avLst/>
          </a:prstGeom>
          <a:noFill/>
          <a:ln w="19050">
            <a:solidFill>
              <a:srgbClr val="185FA5"/>
            </a:solidFill>
            <a:prstDash val="dash"/>
          </a:ln>
        </p:spPr>
      </p:sp>
      <p:sp>
        <p:nvSpPr>
          <p:cNvPr id="10" name="Shape 8"/>
          <p:cNvSpPr/>
          <p:nvPr/>
        </p:nvSpPr>
        <p:spPr>
          <a:xfrm>
            <a:off x="365760" y="4754880"/>
            <a:ext cx="8412480" cy="0"/>
          </a:xfrm>
          <a:prstGeom prst="line">
            <a:avLst/>
          </a:prstGeom>
          <a:noFill/>
          <a:ln w="19050">
            <a:solidFill>
              <a:srgbClr val="185FA5"/>
            </a:solidFill>
            <a:prstDash val="dash"/>
          </a:ln>
        </p:spPr>
      </p:sp>
      <p:sp>
        <p:nvSpPr>
          <p:cNvPr id="11" name="Shape 9"/>
          <p:cNvSpPr/>
          <p:nvPr/>
        </p:nvSpPr>
        <p:spPr>
          <a:xfrm>
            <a:off x="365760" y="960120"/>
            <a:ext cx="0" cy="3794760"/>
          </a:xfrm>
          <a:prstGeom prst="line">
            <a:avLst/>
          </a:prstGeom>
          <a:noFill/>
          <a:ln w="19050">
            <a:solidFill>
              <a:srgbClr val="185FA5"/>
            </a:solidFill>
            <a:prstDash val="dash"/>
          </a:ln>
        </p:spPr>
      </p:sp>
      <p:sp>
        <p:nvSpPr>
          <p:cNvPr id="12" name="Shape 10"/>
          <p:cNvSpPr/>
          <p:nvPr/>
        </p:nvSpPr>
        <p:spPr>
          <a:xfrm>
            <a:off x="8778240" y="960120"/>
            <a:ext cx="0" cy="3794760"/>
          </a:xfrm>
          <a:prstGeom prst="line">
            <a:avLst/>
          </a:prstGeom>
          <a:noFill/>
          <a:ln w="19050">
            <a:solidFill>
              <a:srgbClr val="185FA5"/>
            </a:solidFill>
            <a:prstDash val="dash"/>
          </a:ln>
        </p:spPr>
      </p:sp>
      <p:sp>
        <p:nvSpPr>
          <p:cNvPr id="13" name="Shape 11"/>
          <p:cNvSpPr/>
          <p:nvPr/>
        </p:nvSpPr>
        <p:spPr>
          <a:xfrm>
            <a:off x="4114800" y="2103120"/>
            <a:ext cx="914400" cy="914400"/>
          </a:xfrm>
          <a:prstGeom prst="ellipse">
            <a:avLst/>
          </a:prstGeom>
          <a:solidFill>
            <a:srgbClr val="185FA5">
              <a:alpha val="20000"/>
            </a:srgbClr>
          </a:solidFill>
          <a:ln w="12700">
            <a:solidFill>
              <a:srgbClr val="185FA5">
                <a:alpha val="50000"/>
              </a:srgbClr>
            </a:solidFill>
            <a:prstDash val="solid"/>
          </a:ln>
        </p:spPr>
      </p:sp>
      <p:sp>
        <p:nvSpPr>
          <p:cNvPr id="14" name="Text 12"/>
          <p:cNvSpPr/>
          <p:nvPr/>
        </p:nvSpPr>
        <p:spPr>
          <a:xfrm>
            <a:off x="4114800" y="2103120"/>
            <a:ext cx="914400" cy="91440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5" name="Text 13"/>
          <p:cNvSpPr/>
          <p:nvPr/>
        </p:nvSpPr>
        <p:spPr>
          <a:xfrm>
            <a:off x="1371600" y="3154680"/>
            <a:ext cx="6400800" cy="411480"/>
          </a:xfrm>
          <a:prstGeom prst="rect">
            <a:avLst/>
          </a:prstGeom>
          <a:noFill/>
          <a:ln/>
        </p:spPr>
        <p:txBody>
          <a:bodyPr wrap="square" rtlCol="0" anchor="ctr"/>
          <a:lstStyle/>
          <a:p>
            <a:pPr marL="0" indent="0" algn="ctr">
              <a:buNone/>
            </a:pPr>
            <a:r>
              <a:rPr lang="en-US" sz="1300" b="1" dirty="0">
                <a:solidFill>
                  <a:srgbClr val="185FA5"/>
                </a:solidFill>
                <a:latin typeface="Calibri" pitchFamily="34" charset="0"/>
                <a:ea typeface="Calibri" pitchFamily="34" charset="-122"/>
                <a:cs typeface="Calibri" pitchFamily="34" charset="-120"/>
              </a:rPr>
              <a:t>Data Cleaning Screenshot — Excel / Power Query</a:t>
            </a:r>
            <a:endParaRPr lang="en-US" sz="1300" dirty="0"/>
          </a:p>
        </p:txBody>
      </p:sp>
      <p:sp>
        <p:nvSpPr>
          <p:cNvPr id="16" name="Text 14"/>
          <p:cNvSpPr/>
          <p:nvPr/>
        </p:nvSpPr>
        <p:spPr>
          <a:xfrm>
            <a:off x="1371600" y="3566160"/>
            <a:ext cx="6400800" cy="274320"/>
          </a:xfrm>
          <a:prstGeom prst="rect">
            <a:avLst/>
          </a:prstGeom>
          <a:noFill/>
          <a:ln/>
        </p:spPr>
        <p:txBody>
          <a:bodyPr wrap="square"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Screenshot will be inserted here</a:t>
            </a:r>
            <a:endParaRPr lang="en-US" sz="1000" dirty="0"/>
          </a:p>
        </p:txBody>
      </p:sp>
      <p:pic>
        <p:nvPicPr>
          <p:cNvPr id="17" name="Picture 1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320" y="777240"/>
            <a:ext cx="8559018" cy="408725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0">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Shape 1"/>
          <p:cNvSpPr/>
          <p:nvPr/>
        </p:nvSpPr>
        <p:spPr>
          <a:xfrm>
            <a:off x="0" y="0"/>
            <a:ext cx="109728" cy="777240"/>
          </a:xfrm>
          <a:prstGeom prst="rect">
            <a:avLst/>
          </a:prstGeom>
          <a:solidFill>
            <a:srgbClr val="1D9E75"/>
          </a:solidFill>
          <a:ln w="12700">
            <a:solidFill>
              <a:srgbClr val="1D9E75"/>
            </a:solidFill>
            <a:prstDash val="solid"/>
          </a:ln>
        </p:spPr>
      </p:sp>
      <p:sp>
        <p:nvSpPr>
          <p:cNvPr id="4" name="Text 2"/>
          <p:cNvSpPr/>
          <p:nvPr/>
        </p:nvSpPr>
        <p:spPr>
          <a:xfrm>
            <a:off x="274320" y="0"/>
            <a:ext cx="8686800" cy="7772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Dashboard — Microsoft Excel</a:t>
            </a:r>
            <a:endParaRPr lang="en-US" sz="2200" dirty="0"/>
          </a:p>
        </p:txBody>
      </p:sp>
      <p:sp>
        <p:nvSpPr>
          <p:cNvPr id="5" name="Text 3"/>
          <p:cNvSpPr/>
          <p:nvPr/>
        </p:nvSpPr>
        <p:spPr>
          <a:xfrm>
            <a:off x="274320" y="512064"/>
            <a:ext cx="8686800" cy="265176"/>
          </a:xfrm>
          <a:prstGeom prst="rect">
            <a:avLst/>
          </a:prstGeom>
          <a:noFill/>
          <a:ln/>
        </p:spPr>
        <p:txBody>
          <a:bodyPr wrap="square" rtlCol="0" anchor="ctr"/>
          <a:lstStyle/>
          <a:p>
            <a:pPr marL="0" indent="0">
              <a:buNone/>
            </a:pPr>
            <a:r>
              <a:rPr lang="en-US" sz="950" b="1" dirty="0">
                <a:solidFill>
                  <a:schemeClr val="bg1"/>
                </a:solidFill>
                <a:latin typeface="Calibri" pitchFamily="34" charset="0"/>
                <a:ea typeface="Calibri" pitchFamily="34" charset="-122"/>
                <a:cs typeface="Calibri" pitchFamily="34" charset="-120"/>
              </a:rPr>
              <a:t>Interactive pivot-based dashboard with slicers and KPI cards</a:t>
            </a:r>
            <a:endParaRPr lang="en-US" sz="950" b="1" dirty="0">
              <a:solidFill>
                <a:schemeClr val="bg1"/>
              </a:solidFill>
            </a:endParaRPr>
          </a:p>
        </p:txBody>
      </p:sp>
      <p:sp>
        <p:nvSpPr>
          <p:cNvPr id="6" name="Shape 4"/>
          <p:cNvSpPr/>
          <p:nvPr/>
        </p:nvSpPr>
        <p:spPr>
          <a:xfrm>
            <a:off x="0" y="4892040"/>
            <a:ext cx="9144000" cy="251460"/>
          </a:xfrm>
          <a:prstGeom prst="rect">
            <a:avLst/>
          </a:prstGeom>
          <a:solidFill>
            <a:srgbClr val="1E2761"/>
          </a:solidFill>
          <a:ln w="12700">
            <a:solidFill>
              <a:srgbClr val="1E2761"/>
            </a:solidFill>
            <a:prstDash val="solid"/>
          </a:ln>
        </p:spPr>
      </p:sp>
      <p:sp>
        <p:nvSpPr>
          <p:cNvPr id="7" name="Text 5"/>
          <p:cNvSpPr/>
          <p:nvPr/>
        </p:nvSpPr>
        <p:spPr>
          <a:xfrm>
            <a:off x="0" y="4892040"/>
            <a:ext cx="9144000" cy="251460"/>
          </a:xfrm>
          <a:prstGeom prst="rect">
            <a:avLst/>
          </a:prstGeom>
          <a:noFill/>
          <a:ln/>
        </p:spPr>
        <p:txBody>
          <a:bodyPr wrap="square"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Remote Work Productivity Analysis  ·  Slide 19 of 41</a:t>
            </a:r>
            <a:endParaRPr lang="en-US" sz="800" dirty="0"/>
          </a:p>
        </p:txBody>
      </p:sp>
      <p:sp>
        <p:nvSpPr>
          <p:cNvPr id="8" name="Shape 6"/>
          <p:cNvSpPr/>
          <p:nvPr/>
        </p:nvSpPr>
        <p:spPr>
          <a:xfrm>
            <a:off x="7132320" y="1024128"/>
            <a:ext cx="1783080" cy="365760"/>
          </a:xfrm>
          <a:prstGeom prst="rect">
            <a:avLst/>
          </a:prstGeom>
          <a:solidFill>
            <a:srgbClr val="217346"/>
          </a:solidFill>
          <a:ln w="12700">
            <a:solidFill>
              <a:srgbClr val="217346"/>
            </a:solidFill>
            <a:prstDash val="solid"/>
          </a:ln>
        </p:spPr>
      </p:sp>
      <p:sp>
        <p:nvSpPr>
          <p:cNvPr id="9" name="Text 7"/>
          <p:cNvSpPr/>
          <p:nvPr/>
        </p:nvSpPr>
        <p:spPr>
          <a:xfrm>
            <a:off x="7132320" y="1024128"/>
            <a:ext cx="1783080" cy="36576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Microsoft Excel</a:t>
            </a:r>
            <a:endParaRPr lang="en-US" sz="1000" dirty="0"/>
          </a:p>
        </p:txBody>
      </p:sp>
      <p:sp>
        <p:nvSpPr>
          <p:cNvPr id="10" name="Shape 8"/>
          <p:cNvSpPr/>
          <p:nvPr/>
        </p:nvSpPr>
        <p:spPr>
          <a:xfrm>
            <a:off x="365760" y="960120"/>
            <a:ext cx="8412480" cy="3794760"/>
          </a:xfrm>
          <a:prstGeom prst="rect">
            <a:avLst/>
          </a:prstGeom>
          <a:solidFill>
            <a:srgbClr val="F0F4FF"/>
          </a:solidFill>
          <a:ln w="12700">
            <a:solidFill>
              <a:srgbClr val="185FA5"/>
            </a:solidFill>
            <a:prstDash val="solid"/>
          </a:ln>
          <a:effectLst>
            <a:outerShdw blurRad="101600" dist="25400" dir="8100000" algn="bl" rotWithShape="0">
              <a:srgbClr val="000000">
                <a:alpha val="10000"/>
              </a:srgbClr>
            </a:outerShdw>
          </a:effectLst>
        </p:spPr>
      </p:sp>
      <p:sp>
        <p:nvSpPr>
          <p:cNvPr id="11" name="Shape 9"/>
          <p:cNvSpPr/>
          <p:nvPr/>
        </p:nvSpPr>
        <p:spPr>
          <a:xfrm>
            <a:off x="365760" y="960120"/>
            <a:ext cx="8412480" cy="0"/>
          </a:xfrm>
          <a:prstGeom prst="line">
            <a:avLst/>
          </a:prstGeom>
          <a:noFill/>
          <a:ln w="19050">
            <a:solidFill>
              <a:srgbClr val="185FA5"/>
            </a:solidFill>
            <a:prstDash val="dash"/>
          </a:ln>
        </p:spPr>
      </p:sp>
      <p:sp>
        <p:nvSpPr>
          <p:cNvPr id="12" name="Shape 10"/>
          <p:cNvSpPr/>
          <p:nvPr/>
        </p:nvSpPr>
        <p:spPr>
          <a:xfrm>
            <a:off x="365760" y="4754880"/>
            <a:ext cx="8412480" cy="0"/>
          </a:xfrm>
          <a:prstGeom prst="line">
            <a:avLst/>
          </a:prstGeom>
          <a:noFill/>
          <a:ln w="19050">
            <a:solidFill>
              <a:srgbClr val="185FA5"/>
            </a:solidFill>
            <a:prstDash val="dash"/>
          </a:ln>
        </p:spPr>
      </p:sp>
      <p:sp>
        <p:nvSpPr>
          <p:cNvPr id="13" name="Shape 11"/>
          <p:cNvSpPr/>
          <p:nvPr/>
        </p:nvSpPr>
        <p:spPr>
          <a:xfrm>
            <a:off x="365760" y="960120"/>
            <a:ext cx="0" cy="3794760"/>
          </a:xfrm>
          <a:prstGeom prst="line">
            <a:avLst/>
          </a:prstGeom>
          <a:noFill/>
          <a:ln w="19050">
            <a:solidFill>
              <a:srgbClr val="185FA5"/>
            </a:solidFill>
            <a:prstDash val="dash"/>
          </a:ln>
        </p:spPr>
      </p:sp>
      <p:sp>
        <p:nvSpPr>
          <p:cNvPr id="14" name="Shape 12"/>
          <p:cNvSpPr/>
          <p:nvPr/>
        </p:nvSpPr>
        <p:spPr>
          <a:xfrm>
            <a:off x="8778240" y="960120"/>
            <a:ext cx="0" cy="3794760"/>
          </a:xfrm>
          <a:prstGeom prst="line">
            <a:avLst/>
          </a:prstGeom>
          <a:noFill/>
          <a:ln w="19050">
            <a:solidFill>
              <a:srgbClr val="185FA5"/>
            </a:solidFill>
            <a:prstDash val="dash"/>
          </a:ln>
        </p:spPr>
      </p:sp>
      <p:sp>
        <p:nvSpPr>
          <p:cNvPr id="15" name="Shape 13"/>
          <p:cNvSpPr/>
          <p:nvPr/>
        </p:nvSpPr>
        <p:spPr>
          <a:xfrm>
            <a:off x="4114800" y="2103120"/>
            <a:ext cx="914400" cy="914400"/>
          </a:xfrm>
          <a:prstGeom prst="ellipse">
            <a:avLst/>
          </a:prstGeom>
          <a:solidFill>
            <a:srgbClr val="185FA5">
              <a:alpha val="20000"/>
            </a:srgbClr>
          </a:solidFill>
          <a:ln w="12700">
            <a:solidFill>
              <a:srgbClr val="185FA5">
                <a:alpha val="50000"/>
              </a:srgbClr>
            </a:solidFill>
            <a:prstDash val="solid"/>
          </a:ln>
        </p:spPr>
      </p:sp>
      <p:sp>
        <p:nvSpPr>
          <p:cNvPr id="16" name="Text 14"/>
          <p:cNvSpPr/>
          <p:nvPr/>
        </p:nvSpPr>
        <p:spPr>
          <a:xfrm>
            <a:off x="4114800" y="2103120"/>
            <a:ext cx="914400" cy="91440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7" name="Text 15"/>
          <p:cNvSpPr/>
          <p:nvPr/>
        </p:nvSpPr>
        <p:spPr>
          <a:xfrm>
            <a:off x="1371600" y="3154680"/>
            <a:ext cx="6400800" cy="411480"/>
          </a:xfrm>
          <a:prstGeom prst="rect">
            <a:avLst/>
          </a:prstGeom>
          <a:noFill/>
          <a:ln/>
        </p:spPr>
        <p:txBody>
          <a:bodyPr wrap="square" rtlCol="0" anchor="ctr"/>
          <a:lstStyle/>
          <a:p>
            <a:pPr marL="0" indent="0" algn="ctr">
              <a:buNone/>
            </a:pPr>
            <a:r>
              <a:rPr lang="en-US" sz="1300" b="1" dirty="0">
                <a:solidFill>
                  <a:srgbClr val="185FA5"/>
                </a:solidFill>
                <a:latin typeface="Calibri" pitchFamily="34" charset="0"/>
                <a:ea typeface="Calibri" pitchFamily="34" charset="-122"/>
                <a:cs typeface="Calibri" pitchFamily="34" charset="-120"/>
              </a:rPr>
              <a:t>Excel Dashboard Screenshot — Add Your Screenshot Here</a:t>
            </a:r>
            <a:endParaRPr lang="en-US" sz="1300" dirty="0"/>
          </a:p>
        </p:txBody>
      </p:sp>
      <p:sp>
        <p:nvSpPr>
          <p:cNvPr id="18" name="Text 16"/>
          <p:cNvSpPr/>
          <p:nvPr/>
        </p:nvSpPr>
        <p:spPr>
          <a:xfrm>
            <a:off x="1371600" y="3566160"/>
            <a:ext cx="6400800" cy="274320"/>
          </a:xfrm>
          <a:prstGeom prst="rect">
            <a:avLst/>
          </a:prstGeom>
          <a:noFill/>
          <a:ln/>
        </p:spPr>
        <p:txBody>
          <a:bodyPr wrap="square"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Screenshot will be inserted here</a:t>
            </a:r>
            <a:endParaRPr lang="en-US" sz="1000" dirty="0"/>
          </a:p>
        </p:txBody>
      </p:sp>
      <p:pic>
        <p:nvPicPr>
          <p:cNvPr id="21" name="Picture 20">
            <a:extLst>
              <a:ext uri="{FF2B5EF4-FFF2-40B4-BE49-F238E27FC236}">
                <a16:creationId xmlns:a16="http://schemas.microsoft.com/office/drawing/2014/main" id="{0BD4D8CD-F4B6-6BB9-A3E2-79F4AEF2A93A}"/>
              </a:ext>
            </a:extLst>
          </p:cNvPr>
          <p:cNvPicPr>
            <a:picLocks noChangeAspect="1"/>
          </p:cNvPicPr>
          <p:nvPr/>
        </p:nvPicPr>
        <p:blipFill>
          <a:blip r:embed="rId3"/>
          <a:stretch>
            <a:fillRect/>
          </a:stretch>
        </p:blipFill>
        <p:spPr>
          <a:xfrm>
            <a:off x="0" y="777240"/>
            <a:ext cx="9144000" cy="418826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1">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Shape 1"/>
          <p:cNvSpPr/>
          <p:nvPr/>
        </p:nvSpPr>
        <p:spPr>
          <a:xfrm>
            <a:off x="0" y="0"/>
            <a:ext cx="109728" cy="777240"/>
          </a:xfrm>
          <a:prstGeom prst="rect">
            <a:avLst/>
          </a:prstGeom>
          <a:solidFill>
            <a:srgbClr val="1D9E75"/>
          </a:solidFill>
          <a:ln w="12700">
            <a:solidFill>
              <a:srgbClr val="1D9E75"/>
            </a:solidFill>
            <a:prstDash val="solid"/>
          </a:ln>
        </p:spPr>
      </p:sp>
      <p:sp>
        <p:nvSpPr>
          <p:cNvPr id="4" name="Text 2"/>
          <p:cNvSpPr/>
          <p:nvPr/>
        </p:nvSpPr>
        <p:spPr>
          <a:xfrm>
            <a:off x="274320" y="0"/>
            <a:ext cx="8686800" cy="7772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Dashboard — Microsoft Power BI</a:t>
            </a:r>
            <a:endParaRPr lang="en-US" sz="2200" dirty="0"/>
          </a:p>
        </p:txBody>
      </p:sp>
      <p:sp>
        <p:nvSpPr>
          <p:cNvPr id="5" name="Text 3"/>
          <p:cNvSpPr/>
          <p:nvPr/>
        </p:nvSpPr>
        <p:spPr>
          <a:xfrm>
            <a:off x="274320" y="512064"/>
            <a:ext cx="8686800" cy="265176"/>
          </a:xfrm>
          <a:prstGeom prst="rect">
            <a:avLst/>
          </a:prstGeom>
          <a:noFill/>
          <a:ln/>
        </p:spPr>
        <p:txBody>
          <a:bodyPr wrap="square" rtlCol="0" anchor="ctr"/>
          <a:lstStyle/>
          <a:p>
            <a:pPr marL="0" indent="0">
              <a:buNone/>
            </a:pPr>
            <a:r>
              <a:rPr lang="en-US" sz="950" b="1" dirty="0">
                <a:solidFill>
                  <a:schemeClr val="bg1"/>
                </a:solidFill>
                <a:latin typeface="Calibri" pitchFamily="34" charset="0"/>
                <a:ea typeface="Calibri" pitchFamily="34" charset="-122"/>
                <a:cs typeface="Calibri" pitchFamily="34" charset="-120"/>
              </a:rPr>
              <a:t>Interactive report with drill-through, filters, and custom visuals</a:t>
            </a:r>
            <a:endParaRPr lang="en-US" sz="950" b="1" dirty="0">
              <a:solidFill>
                <a:schemeClr val="bg1"/>
              </a:solidFill>
            </a:endParaRPr>
          </a:p>
        </p:txBody>
      </p:sp>
      <p:sp>
        <p:nvSpPr>
          <p:cNvPr id="6" name="Shape 4"/>
          <p:cNvSpPr/>
          <p:nvPr/>
        </p:nvSpPr>
        <p:spPr>
          <a:xfrm>
            <a:off x="0" y="4892040"/>
            <a:ext cx="9144000" cy="251460"/>
          </a:xfrm>
          <a:prstGeom prst="rect">
            <a:avLst/>
          </a:prstGeom>
          <a:solidFill>
            <a:srgbClr val="1E2761"/>
          </a:solidFill>
          <a:ln w="12700">
            <a:solidFill>
              <a:srgbClr val="1E2761"/>
            </a:solidFill>
            <a:prstDash val="solid"/>
          </a:ln>
        </p:spPr>
      </p:sp>
      <p:sp>
        <p:nvSpPr>
          <p:cNvPr id="7" name="Text 5"/>
          <p:cNvSpPr/>
          <p:nvPr/>
        </p:nvSpPr>
        <p:spPr>
          <a:xfrm>
            <a:off x="0" y="4892040"/>
            <a:ext cx="9144000" cy="251460"/>
          </a:xfrm>
          <a:prstGeom prst="rect">
            <a:avLst/>
          </a:prstGeom>
          <a:noFill/>
          <a:ln/>
        </p:spPr>
        <p:txBody>
          <a:bodyPr wrap="square"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Remote Work Productivity Analysis  ·  Slide 20 of 41</a:t>
            </a:r>
            <a:endParaRPr lang="en-US" sz="800" dirty="0"/>
          </a:p>
        </p:txBody>
      </p:sp>
      <p:sp>
        <p:nvSpPr>
          <p:cNvPr id="8" name="Shape 6"/>
          <p:cNvSpPr/>
          <p:nvPr/>
        </p:nvSpPr>
        <p:spPr>
          <a:xfrm>
            <a:off x="7132320" y="1024128"/>
            <a:ext cx="1783080" cy="365760"/>
          </a:xfrm>
          <a:prstGeom prst="rect">
            <a:avLst/>
          </a:prstGeom>
          <a:solidFill>
            <a:srgbClr val="F2C811"/>
          </a:solidFill>
          <a:ln w="12700">
            <a:solidFill>
              <a:srgbClr val="F2C811"/>
            </a:solidFill>
            <a:prstDash val="solid"/>
          </a:ln>
        </p:spPr>
      </p:sp>
      <p:sp>
        <p:nvSpPr>
          <p:cNvPr id="9" name="Text 7"/>
          <p:cNvSpPr/>
          <p:nvPr/>
        </p:nvSpPr>
        <p:spPr>
          <a:xfrm>
            <a:off x="7132320" y="1024128"/>
            <a:ext cx="1783080" cy="365760"/>
          </a:xfrm>
          <a:prstGeom prst="rect">
            <a:avLst/>
          </a:prstGeom>
          <a:noFill/>
          <a:ln/>
        </p:spPr>
        <p:txBody>
          <a:bodyPr wrap="square" rtlCol="0" anchor="ctr"/>
          <a:lstStyle/>
          <a:p>
            <a:pPr marL="0" indent="0" algn="ctr">
              <a:buNone/>
            </a:pPr>
            <a:r>
              <a:rPr lang="en-US" sz="1000" b="1" dirty="0">
                <a:solidFill>
                  <a:srgbClr val="1E1E1E"/>
                </a:solidFill>
                <a:latin typeface="Calibri" pitchFamily="34" charset="0"/>
                <a:ea typeface="Calibri" pitchFamily="34" charset="-122"/>
                <a:cs typeface="Calibri" pitchFamily="34" charset="-120"/>
              </a:rPr>
              <a:t>Power BI</a:t>
            </a:r>
            <a:endParaRPr lang="en-US" sz="1000" dirty="0"/>
          </a:p>
        </p:txBody>
      </p:sp>
      <p:sp>
        <p:nvSpPr>
          <p:cNvPr id="10" name="Shape 8"/>
          <p:cNvSpPr/>
          <p:nvPr/>
        </p:nvSpPr>
        <p:spPr>
          <a:xfrm>
            <a:off x="365760" y="960120"/>
            <a:ext cx="8412480" cy="3794760"/>
          </a:xfrm>
          <a:prstGeom prst="rect">
            <a:avLst/>
          </a:prstGeom>
          <a:solidFill>
            <a:srgbClr val="F0F4FF"/>
          </a:solidFill>
          <a:ln w="12700">
            <a:solidFill>
              <a:srgbClr val="185FA5"/>
            </a:solidFill>
            <a:prstDash val="solid"/>
          </a:ln>
          <a:effectLst>
            <a:outerShdw blurRad="101600" dist="25400" dir="8100000" algn="bl" rotWithShape="0">
              <a:srgbClr val="000000">
                <a:alpha val="10000"/>
              </a:srgbClr>
            </a:outerShdw>
          </a:effectLst>
        </p:spPr>
      </p:sp>
      <p:sp>
        <p:nvSpPr>
          <p:cNvPr id="11" name="Shape 9"/>
          <p:cNvSpPr/>
          <p:nvPr/>
        </p:nvSpPr>
        <p:spPr>
          <a:xfrm>
            <a:off x="365760" y="960120"/>
            <a:ext cx="8412480" cy="0"/>
          </a:xfrm>
          <a:prstGeom prst="line">
            <a:avLst/>
          </a:prstGeom>
          <a:noFill/>
          <a:ln w="19050">
            <a:solidFill>
              <a:srgbClr val="185FA5"/>
            </a:solidFill>
            <a:prstDash val="dash"/>
          </a:ln>
        </p:spPr>
      </p:sp>
      <p:sp>
        <p:nvSpPr>
          <p:cNvPr id="12" name="Shape 10"/>
          <p:cNvSpPr/>
          <p:nvPr/>
        </p:nvSpPr>
        <p:spPr>
          <a:xfrm>
            <a:off x="365760" y="4754880"/>
            <a:ext cx="8412480" cy="0"/>
          </a:xfrm>
          <a:prstGeom prst="line">
            <a:avLst/>
          </a:prstGeom>
          <a:noFill/>
          <a:ln w="19050">
            <a:solidFill>
              <a:srgbClr val="185FA5"/>
            </a:solidFill>
            <a:prstDash val="dash"/>
          </a:ln>
        </p:spPr>
      </p:sp>
      <p:sp>
        <p:nvSpPr>
          <p:cNvPr id="13" name="Shape 11"/>
          <p:cNvSpPr/>
          <p:nvPr/>
        </p:nvSpPr>
        <p:spPr>
          <a:xfrm>
            <a:off x="365760" y="960120"/>
            <a:ext cx="0" cy="3794760"/>
          </a:xfrm>
          <a:prstGeom prst="line">
            <a:avLst/>
          </a:prstGeom>
          <a:noFill/>
          <a:ln w="19050">
            <a:solidFill>
              <a:srgbClr val="185FA5"/>
            </a:solidFill>
            <a:prstDash val="dash"/>
          </a:ln>
        </p:spPr>
      </p:sp>
      <p:sp>
        <p:nvSpPr>
          <p:cNvPr id="14" name="Shape 12"/>
          <p:cNvSpPr/>
          <p:nvPr/>
        </p:nvSpPr>
        <p:spPr>
          <a:xfrm>
            <a:off x="8778240" y="960120"/>
            <a:ext cx="0" cy="3794760"/>
          </a:xfrm>
          <a:prstGeom prst="line">
            <a:avLst/>
          </a:prstGeom>
          <a:noFill/>
          <a:ln w="19050">
            <a:solidFill>
              <a:srgbClr val="185FA5"/>
            </a:solidFill>
            <a:prstDash val="dash"/>
          </a:ln>
        </p:spPr>
      </p:sp>
      <p:sp>
        <p:nvSpPr>
          <p:cNvPr id="15" name="Shape 13"/>
          <p:cNvSpPr/>
          <p:nvPr/>
        </p:nvSpPr>
        <p:spPr>
          <a:xfrm>
            <a:off x="4114800" y="2103120"/>
            <a:ext cx="914400" cy="914400"/>
          </a:xfrm>
          <a:prstGeom prst="ellipse">
            <a:avLst/>
          </a:prstGeom>
          <a:solidFill>
            <a:srgbClr val="185FA5">
              <a:alpha val="20000"/>
            </a:srgbClr>
          </a:solidFill>
          <a:ln w="12700">
            <a:solidFill>
              <a:srgbClr val="185FA5">
                <a:alpha val="50000"/>
              </a:srgbClr>
            </a:solidFill>
            <a:prstDash val="solid"/>
          </a:ln>
        </p:spPr>
      </p:sp>
      <p:sp>
        <p:nvSpPr>
          <p:cNvPr id="16" name="Text 14"/>
          <p:cNvSpPr/>
          <p:nvPr/>
        </p:nvSpPr>
        <p:spPr>
          <a:xfrm>
            <a:off x="4114800" y="2103120"/>
            <a:ext cx="914400" cy="91440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7" name="Text 15"/>
          <p:cNvSpPr/>
          <p:nvPr/>
        </p:nvSpPr>
        <p:spPr>
          <a:xfrm>
            <a:off x="1371600" y="3154680"/>
            <a:ext cx="6400800" cy="411480"/>
          </a:xfrm>
          <a:prstGeom prst="rect">
            <a:avLst/>
          </a:prstGeom>
          <a:noFill/>
          <a:ln/>
        </p:spPr>
        <p:txBody>
          <a:bodyPr wrap="square" rtlCol="0" anchor="ctr"/>
          <a:lstStyle/>
          <a:p>
            <a:pPr marL="0" indent="0" algn="ctr">
              <a:buNone/>
            </a:pPr>
            <a:r>
              <a:rPr lang="en-US" sz="1300" b="1" dirty="0">
                <a:solidFill>
                  <a:srgbClr val="185FA5"/>
                </a:solidFill>
                <a:latin typeface="Calibri" pitchFamily="34" charset="0"/>
                <a:ea typeface="Calibri" pitchFamily="34" charset="-122"/>
                <a:cs typeface="Calibri" pitchFamily="34" charset="-120"/>
              </a:rPr>
              <a:t>Power BI Dashboard Screenshot — Add Your Screenshot Here</a:t>
            </a:r>
            <a:endParaRPr lang="en-US" sz="1300" dirty="0"/>
          </a:p>
        </p:txBody>
      </p:sp>
      <p:sp>
        <p:nvSpPr>
          <p:cNvPr id="18" name="Text 16"/>
          <p:cNvSpPr/>
          <p:nvPr/>
        </p:nvSpPr>
        <p:spPr>
          <a:xfrm>
            <a:off x="1371600" y="3566160"/>
            <a:ext cx="6400800" cy="274320"/>
          </a:xfrm>
          <a:prstGeom prst="rect">
            <a:avLst/>
          </a:prstGeom>
          <a:noFill/>
          <a:ln/>
        </p:spPr>
        <p:txBody>
          <a:bodyPr wrap="square"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Screenshot will be inserted here</a:t>
            </a:r>
            <a:endParaRPr lang="en-US" sz="1000" dirty="0"/>
          </a:p>
        </p:txBody>
      </p:sp>
      <p:pic>
        <p:nvPicPr>
          <p:cNvPr id="19" name="Picture 18">
            <a:extLst>
              <a:ext uri="{FF2B5EF4-FFF2-40B4-BE49-F238E27FC236}">
                <a16:creationId xmlns:a16="http://schemas.microsoft.com/office/drawing/2014/main" id="{35B9FB05-1E97-26C6-53D1-A6E18D980034}"/>
              </a:ext>
            </a:extLst>
          </p:cNvPr>
          <p:cNvPicPr>
            <a:picLocks noChangeAspect="1"/>
          </p:cNvPicPr>
          <p:nvPr/>
        </p:nvPicPr>
        <p:blipFill>
          <a:blip r:embed="rId3"/>
          <a:stretch>
            <a:fillRect/>
          </a:stretch>
        </p:blipFill>
        <p:spPr>
          <a:xfrm>
            <a:off x="0" y="777240"/>
            <a:ext cx="9144000" cy="435929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2">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Shape 1"/>
          <p:cNvSpPr/>
          <p:nvPr/>
        </p:nvSpPr>
        <p:spPr>
          <a:xfrm>
            <a:off x="0" y="0"/>
            <a:ext cx="109728" cy="777240"/>
          </a:xfrm>
          <a:prstGeom prst="rect">
            <a:avLst/>
          </a:prstGeom>
          <a:solidFill>
            <a:srgbClr val="1D9E75"/>
          </a:solidFill>
          <a:ln w="12700">
            <a:solidFill>
              <a:srgbClr val="1D9E75"/>
            </a:solidFill>
            <a:prstDash val="solid"/>
          </a:ln>
        </p:spPr>
      </p:sp>
      <p:sp>
        <p:nvSpPr>
          <p:cNvPr id="4" name="Text 2"/>
          <p:cNvSpPr/>
          <p:nvPr/>
        </p:nvSpPr>
        <p:spPr>
          <a:xfrm>
            <a:off x="274320" y="0"/>
            <a:ext cx="8686800" cy="7772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Dashboard — Tableau</a:t>
            </a:r>
            <a:endParaRPr lang="en-US" sz="2200" dirty="0"/>
          </a:p>
        </p:txBody>
      </p:sp>
      <p:sp>
        <p:nvSpPr>
          <p:cNvPr id="5" name="Text 3"/>
          <p:cNvSpPr/>
          <p:nvPr/>
        </p:nvSpPr>
        <p:spPr>
          <a:xfrm>
            <a:off x="274320" y="512064"/>
            <a:ext cx="8686800" cy="265176"/>
          </a:xfrm>
          <a:prstGeom prst="rect">
            <a:avLst/>
          </a:prstGeom>
          <a:noFill/>
          <a:ln/>
        </p:spPr>
        <p:txBody>
          <a:bodyPr wrap="square" rtlCol="0" anchor="ctr"/>
          <a:lstStyle/>
          <a:p>
            <a:pPr marL="0" indent="0">
              <a:buNone/>
            </a:pPr>
            <a:r>
              <a:rPr lang="en-US" sz="950" b="1" dirty="0">
                <a:solidFill>
                  <a:schemeClr val="bg1"/>
                </a:solidFill>
                <a:latin typeface="Calibri" pitchFamily="34" charset="0"/>
                <a:ea typeface="Calibri" pitchFamily="34" charset="-122"/>
                <a:cs typeface="Calibri" pitchFamily="34" charset="-120"/>
              </a:rPr>
              <a:t>Visual analytics with parameter controls and calculated fields</a:t>
            </a:r>
            <a:endParaRPr lang="en-US" sz="950" b="1" dirty="0">
              <a:solidFill>
                <a:schemeClr val="bg1"/>
              </a:solidFill>
            </a:endParaRPr>
          </a:p>
        </p:txBody>
      </p:sp>
      <p:sp>
        <p:nvSpPr>
          <p:cNvPr id="6" name="Shape 4"/>
          <p:cNvSpPr/>
          <p:nvPr/>
        </p:nvSpPr>
        <p:spPr>
          <a:xfrm>
            <a:off x="0" y="4892040"/>
            <a:ext cx="9144000" cy="251460"/>
          </a:xfrm>
          <a:prstGeom prst="rect">
            <a:avLst/>
          </a:prstGeom>
          <a:solidFill>
            <a:srgbClr val="1E2761"/>
          </a:solidFill>
          <a:ln w="12700">
            <a:solidFill>
              <a:srgbClr val="1E2761"/>
            </a:solidFill>
            <a:prstDash val="solid"/>
          </a:ln>
        </p:spPr>
      </p:sp>
      <p:sp>
        <p:nvSpPr>
          <p:cNvPr id="7" name="Text 5"/>
          <p:cNvSpPr/>
          <p:nvPr/>
        </p:nvSpPr>
        <p:spPr>
          <a:xfrm>
            <a:off x="0" y="4892040"/>
            <a:ext cx="9144000" cy="251460"/>
          </a:xfrm>
          <a:prstGeom prst="rect">
            <a:avLst/>
          </a:prstGeom>
          <a:noFill/>
          <a:ln/>
        </p:spPr>
        <p:txBody>
          <a:bodyPr wrap="square"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Remote Work Productivity Analysis  ·  Slide 21 of 41</a:t>
            </a:r>
            <a:endParaRPr lang="en-US" sz="800" dirty="0"/>
          </a:p>
        </p:txBody>
      </p:sp>
      <p:sp>
        <p:nvSpPr>
          <p:cNvPr id="8" name="Shape 6"/>
          <p:cNvSpPr/>
          <p:nvPr/>
        </p:nvSpPr>
        <p:spPr>
          <a:xfrm>
            <a:off x="7132320" y="1024128"/>
            <a:ext cx="1783080" cy="365760"/>
          </a:xfrm>
          <a:prstGeom prst="rect">
            <a:avLst/>
          </a:prstGeom>
          <a:solidFill>
            <a:srgbClr val="E97627"/>
          </a:solidFill>
          <a:ln w="12700">
            <a:solidFill>
              <a:srgbClr val="E97627"/>
            </a:solidFill>
            <a:prstDash val="solid"/>
          </a:ln>
        </p:spPr>
      </p:sp>
      <p:sp>
        <p:nvSpPr>
          <p:cNvPr id="9" name="Text 7"/>
          <p:cNvSpPr/>
          <p:nvPr/>
        </p:nvSpPr>
        <p:spPr>
          <a:xfrm>
            <a:off x="7132320" y="1024128"/>
            <a:ext cx="1783080" cy="36576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Tableau</a:t>
            </a:r>
            <a:endParaRPr lang="en-US" sz="1000" dirty="0"/>
          </a:p>
        </p:txBody>
      </p:sp>
      <p:sp>
        <p:nvSpPr>
          <p:cNvPr id="10" name="Shape 8"/>
          <p:cNvSpPr/>
          <p:nvPr/>
        </p:nvSpPr>
        <p:spPr>
          <a:xfrm>
            <a:off x="365760" y="960120"/>
            <a:ext cx="8412480" cy="3794760"/>
          </a:xfrm>
          <a:prstGeom prst="rect">
            <a:avLst/>
          </a:prstGeom>
          <a:solidFill>
            <a:srgbClr val="F0F4FF"/>
          </a:solidFill>
          <a:ln w="12700">
            <a:solidFill>
              <a:srgbClr val="185FA5"/>
            </a:solidFill>
            <a:prstDash val="solid"/>
          </a:ln>
          <a:effectLst>
            <a:outerShdw blurRad="101600" dist="25400" dir="8100000" algn="bl" rotWithShape="0">
              <a:srgbClr val="000000">
                <a:alpha val="10000"/>
              </a:srgbClr>
            </a:outerShdw>
          </a:effectLst>
        </p:spPr>
      </p:sp>
      <p:sp>
        <p:nvSpPr>
          <p:cNvPr id="11" name="Shape 9"/>
          <p:cNvSpPr/>
          <p:nvPr/>
        </p:nvSpPr>
        <p:spPr>
          <a:xfrm>
            <a:off x="365760" y="960120"/>
            <a:ext cx="8412480" cy="0"/>
          </a:xfrm>
          <a:prstGeom prst="line">
            <a:avLst/>
          </a:prstGeom>
          <a:noFill/>
          <a:ln w="19050">
            <a:solidFill>
              <a:srgbClr val="185FA5"/>
            </a:solidFill>
            <a:prstDash val="dash"/>
          </a:ln>
        </p:spPr>
      </p:sp>
      <p:sp>
        <p:nvSpPr>
          <p:cNvPr id="12" name="Shape 10"/>
          <p:cNvSpPr/>
          <p:nvPr/>
        </p:nvSpPr>
        <p:spPr>
          <a:xfrm>
            <a:off x="365760" y="4754880"/>
            <a:ext cx="8412480" cy="0"/>
          </a:xfrm>
          <a:prstGeom prst="line">
            <a:avLst/>
          </a:prstGeom>
          <a:noFill/>
          <a:ln w="19050">
            <a:solidFill>
              <a:srgbClr val="185FA5"/>
            </a:solidFill>
            <a:prstDash val="dash"/>
          </a:ln>
        </p:spPr>
      </p:sp>
      <p:sp>
        <p:nvSpPr>
          <p:cNvPr id="13" name="Shape 11"/>
          <p:cNvSpPr/>
          <p:nvPr/>
        </p:nvSpPr>
        <p:spPr>
          <a:xfrm>
            <a:off x="365760" y="960120"/>
            <a:ext cx="0" cy="3794760"/>
          </a:xfrm>
          <a:prstGeom prst="line">
            <a:avLst/>
          </a:prstGeom>
          <a:noFill/>
          <a:ln w="19050">
            <a:solidFill>
              <a:srgbClr val="185FA5"/>
            </a:solidFill>
            <a:prstDash val="dash"/>
          </a:ln>
        </p:spPr>
      </p:sp>
      <p:sp>
        <p:nvSpPr>
          <p:cNvPr id="14" name="Shape 12"/>
          <p:cNvSpPr/>
          <p:nvPr/>
        </p:nvSpPr>
        <p:spPr>
          <a:xfrm>
            <a:off x="8778240" y="960120"/>
            <a:ext cx="0" cy="3794760"/>
          </a:xfrm>
          <a:prstGeom prst="line">
            <a:avLst/>
          </a:prstGeom>
          <a:noFill/>
          <a:ln w="19050">
            <a:solidFill>
              <a:srgbClr val="185FA5"/>
            </a:solidFill>
            <a:prstDash val="dash"/>
          </a:ln>
        </p:spPr>
      </p:sp>
      <p:sp>
        <p:nvSpPr>
          <p:cNvPr id="15" name="Shape 13"/>
          <p:cNvSpPr/>
          <p:nvPr/>
        </p:nvSpPr>
        <p:spPr>
          <a:xfrm>
            <a:off x="4114800" y="2103120"/>
            <a:ext cx="914400" cy="914400"/>
          </a:xfrm>
          <a:prstGeom prst="ellipse">
            <a:avLst/>
          </a:prstGeom>
          <a:solidFill>
            <a:srgbClr val="185FA5">
              <a:alpha val="20000"/>
            </a:srgbClr>
          </a:solidFill>
          <a:ln w="12700">
            <a:solidFill>
              <a:srgbClr val="185FA5">
                <a:alpha val="50000"/>
              </a:srgbClr>
            </a:solidFill>
            <a:prstDash val="solid"/>
          </a:ln>
        </p:spPr>
      </p:sp>
      <p:sp>
        <p:nvSpPr>
          <p:cNvPr id="16" name="Text 14"/>
          <p:cNvSpPr/>
          <p:nvPr/>
        </p:nvSpPr>
        <p:spPr>
          <a:xfrm>
            <a:off x="4114800" y="2103120"/>
            <a:ext cx="914400" cy="91440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7" name="Text 15"/>
          <p:cNvSpPr/>
          <p:nvPr/>
        </p:nvSpPr>
        <p:spPr>
          <a:xfrm>
            <a:off x="1371600" y="3154680"/>
            <a:ext cx="6400800" cy="411480"/>
          </a:xfrm>
          <a:prstGeom prst="rect">
            <a:avLst/>
          </a:prstGeom>
          <a:noFill/>
          <a:ln/>
        </p:spPr>
        <p:txBody>
          <a:bodyPr wrap="square" rtlCol="0" anchor="ctr"/>
          <a:lstStyle/>
          <a:p>
            <a:pPr marL="0" indent="0" algn="ctr">
              <a:buNone/>
            </a:pPr>
            <a:r>
              <a:rPr lang="en-US" sz="1300" b="1" dirty="0">
                <a:solidFill>
                  <a:srgbClr val="185FA5"/>
                </a:solidFill>
                <a:latin typeface="Calibri" pitchFamily="34" charset="0"/>
                <a:ea typeface="Calibri" pitchFamily="34" charset="-122"/>
                <a:cs typeface="Calibri" pitchFamily="34" charset="-120"/>
              </a:rPr>
              <a:t>Tableau Dashboard Screenshot — Add Your Screenshot Here</a:t>
            </a:r>
            <a:endParaRPr lang="en-US" sz="1300" dirty="0"/>
          </a:p>
        </p:txBody>
      </p:sp>
      <p:sp>
        <p:nvSpPr>
          <p:cNvPr id="18" name="Text 16"/>
          <p:cNvSpPr/>
          <p:nvPr/>
        </p:nvSpPr>
        <p:spPr>
          <a:xfrm>
            <a:off x="1371600" y="3566160"/>
            <a:ext cx="6400800" cy="274320"/>
          </a:xfrm>
          <a:prstGeom prst="rect">
            <a:avLst/>
          </a:prstGeom>
          <a:noFill/>
          <a:ln/>
        </p:spPr>
        <p:txBody>
          <a:bodyPr wrap="square"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Screenshot will be inserted here</a:t>
            </a:r>
            <a:endParaRPr lang="en-US" sz="1000" dirty="0"/>
          </a:p>
        </p:txBody>
      </p:sp>
      <p:pic>
        <p:nvPicPr>
          <p:cNvPr id="20" name="Picture 1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6524" y="777240"/>
            <a:ext cx="8551984" cy="41148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3">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Shape 1"/>
          <p:cNvSpPr/>
          <p:nvPr/>
        </p:nvSpPr>
        <p:spPr>
          <a:xfrm>
            <a:off x="0" y="0"/>
            <a:ext cx="109728" cy="777240"/>
          </a:xfrm>
          <a:prstGeom prst="rect">
            <a:avLst/>
          </a:prstGeom>
          <a:solidFill>
            <a:srgbClr val="1D9E75"/>
          </a:solidFill>
          <a:ln w="12700">
            <a:solidFill>
              <a:srgbClr val="1D9E75"/>
            </a:solidFill>
            <a:prstDash val="solid"/>
          </a:ln>
        </p:spPr>
      </p:sp>
      <p:sp>
        <p:nvSpPr>
          <p:cNvPr id="4" name="Text 2"/>
          <p:cNvSpPr/>
          <p:nvPr/>
        </p:nvSpPr>
        <p:spPr>
          <a:xfrm>
            <a:off x="274320" y="0"/>
            <a:ext cx="8686800" cy="7772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KPI Analysis</a:t>
            </a:r>
            <a:endParaRPr lang="en-US" sz="2200" dirty="0"/>
          </a:p>
        </p:txBody>
      </p:sp>
      <p:sp>
        <p:nvSpPr>
          <p:cNvPr id="5" name="Text 3"/>
          <p:cNvSpPr/>
          <p:nvPr/>
        </p:nvSpPr>
        <p:spPr>
          <a:xfrm>
            <a:off x="274320" y="512064"/>
            <a:ext cx="8686800" cy="265176"/>
          </a:xfrm>
          <a:prstGeom prst="rect">
            <a:avLst/>
          </a:prstGeom>
          <a:noFill/>
          <a:ln/>
        </p:spPr>
        <p:txBody>
          <a:bodyPr wrap="square" rtlCol="0" anchor="ctr"/>
          <a:lstStyle/>
          <a:p>
            <a:pPr marL="0" indent="0">
              <a:buNone/>
            </a:pPr>
            <a:r>
              <a:rPr lang="en-US" sz="950" b="1" dirty="0">
                <a:solidFill>
                  <a:schemeClr val="bg1"/>
                </a:solidFill>
                <a:latin typeface="Calibri" pitchFamily="34" charset="0"/>
                <a:ea typeface="Calibri" pitchFamily="34" charset="-122"/>
                <a:cs typeface="Calibri" pitchFamily="34" charset="-120"/>
              </a:rPr>
              <a:t>Organisation-wide averages across 1,500 remote employees</a:t>
            </a:r>
            <a:endParaRPr lang="en-US" sz="950" b="1" dirty="0">
              <a:solidFill>
                <a:schemeClr val="bg1"/>
              </a:solidFill>
            </a:endParaRPr>
          </a:p>
        </p:txBody>
      </p:sp>
      <p:sp>
        <p:nvSpPr>
          <p:cNvPr id="6" name="Shape 4"/>
          <p:cNvSpPr/>
          <p:nvPr/>
        </p:nvSpPr>
        <p:spPr>
          <a:xfrm>
            <a:off x="0" y="4892040"/>
            <a:ext cx="9144000" cy="251460"/>
          </a:xfrm>
          <a:prstGeom prst="rect">
            <a:avLst/>
          </a:prstGeom>
          <a:solidFill>
            <a:srgbClr val="1E2761"/>
          </a:solidFill>
          <a:ln w="12700">
            <a:solidFill>
              <a:srgbClr val="1E2761"/>
            </a:solidFill>
            <a:prstDash val="solid"/>
          </a:ln>
        </p:spPr>
      </p:sp>
      <p:sp>
        <p:nvSpPr>
          <p:cNvPr id="7" name="Text 5"/>
          <p:cNvSpPr/>
          <p:nvPr/>
        </p:nvSpPr>
        <p:spPr>
          <a:xfrm>
            <a:off x="0" y="4892040"/>
            <a:ext cx="9144000" cy="251460"/>
          </a:xfrm>
          <a:prstGeom prst="rect">
            <a:avLst/>
          </a:prstGeom>
          <a:noFill/>
          <a:ln/>
        </p:spPr>
        <p:txBody>
          <a:bodyPr wrap="square"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Remote Work Productivity Analysis  ·  Slide 22 of 41</a:t>
            </a:r>
            <a:endParaRPr lang="en-US" sz="800" dirty="0"/>
          </a:p>
        </p:txBody>
      </p:sp>
      <p:sp>
        <p:nvSpPr>
          <p:cNvPr id="8" name="Shape 6"/>
          <p:cNvSpPr/>
          <p:nvPr/>
        </p:nvSpPr>
        <p:spPr>
          <a:xfrm>
            <a:off x="228600" y="960120"/>
            <a:ext cx="1664208" cy="1005840"/>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9" name="Shape 7"/>
          <p:cNvSpPr/>
          <p:nvPr/>
        </p:nvSpPr>
        <p:spPr>
          <a:xfrm>
            <a:off x="228600" y="960120"/>
            <a:ext cx="1664208" cy="54864"/>
          </a:xfrm>
          <a:prstGeom prst="rect">
            <a:avLst/>
          </a:prstGeom>
          <a:solidFill>
            <a:srgbClr val="185FA5"/>
          </a:solidFill>
          <a:ln w="12700">
            <a:solidFill>
              <a:srgbClr val="185FA5"/>
            </a:solidFill>
            <a:prstDash val="solid"/>
          </a:ln>
        </p:spPr>
      </p:sp>
      <p:sp>
        <p:nvSpPr>
          <p:cNvPr id="10" name="Text 8"/>
          <p:cNvSpPr/>
          <p:nvPr/>
        </p:nvSpPr>
        <p:spPr>
          <a:xfrm>
            <a:off x="301752" y="1051560"/>
            <a:ext cx="1517904" cy="201168"/>
          </a:xfrm>
          <a:prstGeom prst="rect">
            <a:avLst/>
          </a:prstGeom>
          <a:noFill/>
          <a:ln/>
        </p:spPr>
        <p:txBody>
          <a:bodyPr wrap="square" rtlCol="0" anchor="ctr"/>
          <a:lstStyle/>
          <a:p>
            <a:pPr marL="0" indent="0">
              <a:buNone/>
            </a:pPr>
            <a:r>
              <a:rPr lang="en-US" sz="700" kern="0" spc="50" dirty="0">
                <a:solidFill>
                  <a:srgbClr val="64748B"/>
                </a:solidFill>
                <a:latin typeface="Calibri" pitchFamily="34" charset="0"/>
                <a:ea typeface="Calibri" pitchFamily="34" charset="-122"/>
                <a:cs typeface="Calibri" pitchFamily="34" charset="-120"/>
              </a:rPr>
              <a:t>PRODUCTIVITY SCORE</a:t>
            </a:r>
            <a:endParaRPr lang="en-US" sz="700" dirty="0"/>
          </a:p>
        </p:txBody>
      </p:sp>
      <p:sp>
        <p:nvSpPr>
          <p:cNvPr id="11" name="Text 9"/>
          <p:cNvSpPr/>
          <p:nvPr/>
        </p:nvSpPr>
        <p:spPr>
          <a:xfrm>
            <a:off x="301752" y="1234440"/>
            <a:ext cx="1517904" cy="438912"/>
          </a:xfrm>
          <a:prstGeom prst="rect">
            <a:avLst/>
          </a:prstGeom>
          <a:noFill/>
          <a:ln/>
        </p:spPr>
        <p:txBody>
          <a:bodyPr wrap="square" rtlCol="0" anchor="ctr"/>
          <a:lstStyle/>
          <a:p>
            <a:pPr marL="0" indent="0">
              <a:buNone/>
            </a:pPr>
            <a:r>
              <a:rPr lang="en-US" sz="2400" b="1" dirty="0">
                <a:solidFill>
                  <a:srgbClr val="185FA5"/>
                </a:solidFill>
                <a:latin typeface="Calibri" pitchFamily="34" charset="0"/>
                <a:ea typeface="Calibri" pitchFamily="34" charset="-122"/>
                <a:cs typeface="Calibri" pitchFamily="34" charset="-120"/>
              </a:rPr>
              <a:t>83.1</a:t>
            </a:r>
            <a:endParaRPr lang="en-US" sz="2400" dirty="0"/>
          </a:p>
        </p:txBody>
      </p:sp>
      <p:sp>
        <p:nvSpPr>
          <p:cNvPr id="12" name="Text 10"/>
          <p:cNvSpPr/>
          <p:nvPr/>
        </p:nvSpPr>
        <p:spPr>
          <a:xfrm>
            <a:off x="301752" y="1709928"/>
            <a:ext cx="1517904" cy="182880"/>
          </a:xfrm>
          <a:prstGeom prst="rect">
            <a:avLst/>
          </a:prstGeom>
          <a:noFill/>
          <a:ln/>
        </p:spPr>
        <p:txBody>
          <a:bodyPr wrap="square" rtlCol="0" anchor="ctr"/>
          <a:lstStyle/>
          <a:p>
            <a:pPr marL="0" indent="0">
              <a:buNone/>
            </a:pPr>
            <a:r>
              <a:rPr lang="en-US" sz="750" dirty="0">
                <a:solidFill>
                  <a:srgbClr val="94A3B8"/>
                </a:solidFill>
                <a:latin typeface="Calibri" pitchFamily="34" charset="0"/>
                <a:ea typeface="Calibri" pitchFamily="34" charset="-122"/>
                <a:cs typeface="Calibri" pitchFamily="34" charset="-120"/>
              </a:rPr>
              <a:t>avg/100 · std dev 15.2</a:t>
            </a:r>
            <a:endParaRPr lang="en-US" sz="750" dirty="0"/>
          </a:p>
        </p:txBody>
      </p:sp>
      <p:sp>
        <p:nvSpPr>
          <p:cNvPr id="13" name="Shape 11"/>
          <p:cNvSpPr/>
          <p:nvPr/>
        </p:nvSpPr>
        <p:spPr>
          <a:xfrm>
            <a:off x="1965960" y="960120"/>
            <a:ext cx="1664208" cy="1005840"/>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14" name="Shape 12"/>
          <p:cNvSpPr/>
          <p:nvPr/>
        </p:nvSpPr>
        <p:spPr>
          <a:xfrm>
            <a:off x="1965960" y="960120"/>
            <a:ext cx="1664208" cy="54864"/>
          </a:xfrm>
          <a:prstGeom prst="rect">
            <a:avLst/>
          </a:prstGeom>
          <a:solidFill>
            <a:srgbClr val="1D9E75"/>
          </a:solidFill>
          <a:ln w="12700">
            <a:solidFill>
              <a:srgbClr val="1D9E75"/>
            </a:solidFill>
            <a:prstDash val="solid"/>
          </a:ln>
        </p:spPr>
      </p:sp>
      <p:sp>
        <p:nvSpPr>
          <p:cNvPr id="15" name="Text 13"/>
          <p:cNvSpPr/>
          <p:nvPr/>
        </p:nvSpPr>
        <p:spPr>
          <a:xfrm>
            <a:off x="2039112" y="1051560"/>
            <a:ext cx="1517904" cy="201168"/>
          </a:xfrm>
          <a:prstGeom prst="rect">
            <a:avLst/>
          </a:prstGeom>
          <a:noFill/>
          <a:ln/>
        </p:spPr>
        <p:txBody>
          <a:bodyPr wrap="square" rtlCol="0" anchor="ctr"/>
          <a:lstStyle/>
          <a:p>
            <a:pPr marL="0" indent="0">
              <a:buNone/>
            </a:pPr>
            <a:r>
              <a:rPr lang="en-US" sz="700" kern="0" spc="50" dirty="0">
                <a:solidFill>
                  <a:srgbClr val="64748B"/>
                </a:solidFill>
                <a:latin typeface="Calibri" pitchFamily="34" charset="0"/>
                <a:ea typeface="Calibri" pitchFamily="34" charset="-122"/>
                <a:cs typeface="Calibri" pitchFamily="34" charset="-120"/>
              </a:rPr>
              <a:t>TASK COMPLETION</a:t>
            </a:r>
            <a:endParaRPr lang="en-US" sz="700" dirty="0"/>
          </a:p>
        </p:txBody>
      </p:sp>
      <p:sp>
        <p:nvSpPr>
          <p:cNvPr id="16" name="Text 14"/>
          <p:cNvSpPr/>
          <p:nvPr/>
        </p:nvSpPr>
        <p:spPr>
          <a:xfrm>
            <a:off x="2039112" y="1234440"/>
            <a:ext cx="1517904" cy="438912"/>
          </a:xfrm>
          <a:prstGeom prst="rect">
            <a:avLst/>
          </a:prstGeom>
          <a:noFill/>
          <a:ln/>
        </p:spPr>
        <p:txBody>
          <a:bodyPr wrap="square" rtlCol="0" anchor="ctr"/>
          <a:lstStyle/>
          <a:p>
            <a:pPr marL="0" indent="0">
              <a:buNone/>
            </a:pPr>
            <a:r>
              <a:rPr lang="en-US" sz="2400" b="1" dirty="0">
                <a:solidFill>
                  <a:srgbClr val="1D9E75"/>
                </a:solidFill>
                <a:latin typeface="Calibri" pitchFamily="34" charset="0"/>
                <a:ea typeface="Calibri" pitchFamily="34" charset="-122"/>
                <a:cs typeface="Calibri" pitchFamily="34" charset="-120"/>
              </a:rPr>
              <a:t>82.3%</a:t>
            </a:r>
            <a:endParaRPr lang="en-US" sz="2400" dirty="0"/>
          </a:p>
        </p:txBody>
      </p:sp>
      <p:sp>
        <p:nvSpPr>
          <p:cNvPr id="17" name="Text 15"/>
          <p:cNvSpPr/>
          <p:nvPr/>
        </p:nvSpPr>
        <p:spPr>
          <a:xfrm>
            <a:off x="2039112" y="1709928"/>
            <a:ext cx="1517904" cy="182880"/>
          </a:xfrm>
          <a:prstGeom prst="rect">
            <a:avLst/>
          </a:prstGeom>
          <a:noFill/>
          <a:ln/>
        </p:spPr>
        <p:txBody>
          <a:bodyPr wrap="square" rtlCol="0" anchor="ctr"/>
          <a:lstStyle/>
          <a:p>
            <a:pPr marL="0" indent="0">
              <a:buNone/>
            </a:pPr>
            <a:r>
              <a:rPr lang="en-US" sz="750" dirty="0">
                <a:solidFill>
                  <a:srgbClr val="94A3B8"/>
                </a:solidFill>
                <a:latin typeface="Calibri" pitchFamily="34" charset="0"/>
                <a:ea typeface="Calibri" pitchFamily="34" charset="-122"/>
                <a:cs typeface="Calibri" pitchFamily="34" charset="-120"/>
              </a:rPr>
              <a:t>org-wide average</a:t>
            </a:r>
            <a:endParaRPr lang="en-US" sz="750" dirty="0"/>
          </a:p>
        </p:txBody>
      </p:sp>
      <p:sp>
        <p:nvSpPr>
          <p:cNvPr id="18" name="Shape 16"/>
          <p:cNvSpPr/>
          <p:nvPr/>
        </p:nvSpPr>
        <p:spPr>
          <a:xfrm>
            <a:off x="3703320" y="960120"/>
            <a:ext cx="1664208" cy="1005840"/>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19" name="Shape 17"/>
          <p:cNvSpPr/>
          <p:nvPr/>
        </p:nvSpPr>
        <p:spPr>
          <a:xfrm>
            <a:off x="3703320" y="960120"/>
            <a:ext cx="1664208" cy="54864"/>
          </a:xfrm>
          <a:prstGeom prst="rect">
            <a:avLst/>
          </a:prstGeom>
          <a:solidFill>
            <a:srgbClr val="185FA5"/>
          </a:solidFill>
          <a:ln w="12700">
            <a:solidFill>
              <a:srgbClr val="185FA5"/>
            </a:solidFill>
            <a:prstDash val="solid"/>
          </a:ln>
        </p:spPr>
      </p:sp>
      <p:sp>
        <p:nvSpPr>
          <p:cNvPr id="20" name="Text 18"/>
          <p:cNvSpPr/>
          <p:nvPr/>
        </p:nvSpPr>
        <p:spPr>
          <a:xfrm>
            <a:off x="3776472" y="1051560"/>
            <a:ext cx="1517904" cy="201168"/>
          </a:xfrm>
          <a:prstGeom prst="rect">
            <a:avLst/>
          </a:prstGeom>
          <a:noFill/>
          <a:ln/>
        </p:spPr>
        <p:txBody>
          <a:bodyPr wrap="square" rtlCol="0" anchor="ctr"/>
          <a:lstStyle/>
          <a:p>
            <a:pPr marL="0" indent="0">
              <a:buNone/>
            </a:pPr>
            <a:r>
              <a:rPr lang="en-US" sz="700" kern="0" spc="50" dirty="0">
                <a:solidFill>
                  <a:srgbClr val="64748B"/>
                </a:solidFill>
                <a:latin typeface="Calibri" pitchFamily="34" charset="0"/>
                <a:ea typeface="Calibri" pitchFamily="34" charset="-122"/>
                <a:cs typeface="Calibri" pitchFamily="34" charset="-120"/>
              </a:rPr>
              <a:t>QUALITY SCORE</a:t>
            </a:r>
            <a:endParaRPr lang="en-US" sz="700" dirty="0"/>
          </a:p>
        </p:txBody>
      </p:sp>
      <p:sp>
        <p:nvSpPr>
          <p:cNvPr id="21" name="Text 19"/>
          <p:cNvSpPr/>
          <p:nvPr/>
        </p:nvSpPr>
        <p:spPr>
          <a:xfrm>
            <a:off x="3776472" y="1234440"/>
            <a:ext cx="1517904" cy="438912"/>
          </a:xfrm>
          <a:prstGeom prst="rect">
            <a:avLst/>
          </a:prstGeom>
          <a:noFill/>
          <a:ln/>
        </p:spPr>
        <p:txBody>
          <a:bodyPr wrap="square" rtlCol="0" anchor="ctr"/>
          <a:lstStyle/>
          <a:p>
            <a:pPr marL="0" indent="0">
              <a:buNone/>
            </a:pPr>
            <a:r>
              <a:rPr lang="en-US" sz="2400" b="1" dirty="0">
                <a:solidFill>
                  <a:srgbClr val="185FA5"/>
                </a:solidFill>
                <a:latin typeface="Calibri" pitchFamily="34" charset="0"/>
                <a:ea typeface="Calibri" pitchFamily="34" charset="-122"/>
                <a:cs typeface="Calibri" pitchFamily="34" charset="-120"/>
              </a:rPr>
              <a:t>82.7</a:t>
            </a:r>
            <a:endParaRPr lang="en-US" sz="2400" dirty="0"/>
          </a:p>
        </p:txBody>
      </p:sp>
      <p:sp>
        <p:nvSpPr>
          <p:cNvPr id="22" name="Text 20"/>
          <p:cNvSpPr/>
          <p:nvPr/>
        </p:nvSpPr>
        <p:spPr>
          <a:xfrm>
            <a:off x="3776472" y="1709928"/>
            <a:ext cx="1517904" cy="182880"/>
          </a:xfrm>
          <a:prstGeom prst="rect">
            <a:avLst/>
          </a:prstGeom>
          <a:noFill/>
          <a:ln/>
        </p:spPr>
        <p:txBody>
          <a:bodyPr wrap="square" rtlCol="0" anchor="ctr"/>
          <a:lstStyle/>
          <a:p>
            <a:pPr marL="0" indent="0">
              <a:buNone/>
            </a:pPr>
            <a:r>
              <a:rPr lang="en-US" sz="750" dirty="0">
                <a:solidFill>
                  <a:srgbClr val="94A3B8"/>
                </a:solidFill>
                <a:latin typeface="Calibri" pitchFamily="34" charset="0"/>
                <a:ea typeface="Calibri" pitchFamily="34" charset="-122"/>
                <a:cs typeface="Calibri" pitchFamily="34" charset="-120"/>
              </a:rPr>
              <a:t>r = 0.92 w/ productivity</a:t>
            </a:r>
            <a:endParaRPr lang="en-US" sz="750" dirty="0"/>
          </a:p>
        </p:txBody>
      </p:sp>
      <p:sp>
        <p:nvSpPr>
          <p:cNvPr id="23" name="Shape 21"/>
          <p:cNvSpPr/>
          <p:nvPr/>
        </p:nvSpPr>
        <p:spPr>
          <a:xfrm>
            <a:off x="5440680" y="960120"/>
            <a:ext cx="1664208" cy="1005840"/>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24" name="Shape 22"/>
          <p:cNvSpPr/>
          <p:nvPr/>
        </p:nvSpPr>
        <p:spPr>
          <a:xfrm>
            <a:off x="5440680" y="960120"/>
            <a:ext cx="1664208" cy="54864"/>
          </a:xfrm>
          <a:prstGeom prst="rect">
            <a:avLst/>
          </a:prstGeom>
          <a:solidFill>
            <a:srgbClr val="BA7517"/>
          </a:solidFill>
          <a:ln w="12700">
            <a:solidFill>
              <a:srgbClr val="BA7517"/>
            </a:solidFill>
            <a:prstDash val="solid"/>
          </a:ln>
        </p:spPr>
      </p:sp>
      <p:sp>
        <p:nvSpPr>
          <p:cNvPr id="25" name="Text 23"/>
          <p:cNvSpPr/>
          <p:nvPr/>
        </p:nvSpPr>
        <p:spPr>
          <a:xfrm>
            <a:off x="5513832" y="1051560"/>
            <a:ext cx="1517904" cy="201168"/>
          </a:xfrm>
          <a:prstGeom prst="rect">
            <a:avLst/>
          </a:prstGeom>
          <a:noFill/>
          <a:ln/>
        </p:spPr>
        <p:txBody>
          <a:bodyPr wrap="square" rtlCol="0" anchor="ctr"/>
          <a:lstStyle/>
          <a:p>
            <a:pPr marL="0" indent="0">
              <a:buNone/>
            </a:pPr>
            <a:r>
              <a:rPr lang="en-US" sz="700" kern="0" spc="50" dirty="0">
                <a:solidFill>
                  <a:srgbClr val="64748B"/>
                </a:solidFill>
                <a:latin typeface="Calibri" pitchFamily="34" charset="0"/>
                <a:ea typeface="Calibri" pitchFamily="34" charset="-122"/>
                <a:cs typeface="Calibri" pitchFamily="34" charset="-120"/>
              </a:rPr>
              <a:t>INNOVATION SCORE</a:t>
            </a:r>
            <a:endParaRPr lang="en-US" sz="700" dirty="0"/>
          </a:p>
        </p:txBody>
      </p:sp>
      <p:sp>
        <p:nvSpPr>
          <p:cNvPr id="26" name="Text 24"/>
          <p:cNvSpPr/>
          <p:nvPr/>
        </p:nvSpPr>
        <p:spPr>
          <a:xfrm>
            <a:off x="5513832" y="1234440"/>
            <a:ext cx="1517904" cy="438912"/>
          </a:xfrm>
          <a:prstGeom prst="rect">
            <a:avLst/>
          </a:prstGeom>
          <a:noFill/>
          <a:ln/>
        </p:spPr>
        <p:txBody>
          <a:bodyPr wrap="square" rtlCol="0" anchor="ctr"/>
          <a:lstStyle/>
          <a:p>
            <a:pPr marL="0" indent="0">
              <a:buNone/>
            </a:pPr>
            <a:r>
              <a:rPr lang="en-US" sz="2400" b="1" dirty="0">
                <a:solidFill>
                  <a:srgbClr val="BA7517"/>
                </a:solidFill>
                <a:latin typeface="Calibri" pitchFamily="34" charset="0"/>
                <a:ea typeface="Calibri" pitchFamily="34" charset="-122"/>
                <a:cs typeface="Calibri" pitchFamily="34" charset="-120"/>
              </a:rPr>
              <a:t>73.4</a:t>
            </a:r>
            <a:endParaRPr lang="en-US" sz="2400" dirty="0"/>
          </a:p>
        </p:txBody>
      </p:sp>
      <p:sp>
        <p:nvSpPr>
          <p:cNvPr id="27" name="Text 25"/>
          <p:cNvSpPr/>
          <p:nvPr/>
        </p:nvSpPr>
        <p:spPr>
          <a:xfrm>
            <a:off x="5513832" y="1709928"/>
            <a:ext cx="1517904" cy="182880"/>
          </a:xfrm>
          <a:prstGeom prst="rect">
            <a:avLst/>
          </a:prstGeom>
          <a:noFill/>
          <a:ln/>
        </p:spPr>
        <p:txBody>
          <a:bodyPr wrap="square" rtlCol="0" anchor="ctr"/>
          <a:lstStyle/>
          <a:p>
            <a:pPr marL="0" indent="0">
              <a:buNone/>
            </a:pPr>
            <a:r>
              <a:rPr lang="en-US" sz="750" dirty="0">
                <a:solidFill>
                  <a:srgbClr val="94A3B8"/>
                </a:solidFill>
                <a:latin typeface="Calibri" pitchFamily="34" charset="0"/>
                <a:ea typeface="Calibri" pitchFamily="34" charset="-122"/>
                <a:cs typeface="Calibri" pitchFamily="34" charset="-120"/>
              </a:rPr>
              <a:t>weakest driver</a:t>
            </a:r>
            <a:endParaRPr lang="en-US" sz="750" dirty="0"/>
          </a:p>
        </p:txBody>
      </p:sp>
      <p:sp>
        <p:nvSpPr>
          <p:cNvPr id="28" name="Shape 26"/>
          <p:cNvSpPr/>
          <p:nvPr/>
        </p:nvSpPr>
        <p:spPr>
          <a:xfrm>
            <a:off x="7178040" y="960120"/>
            <a:ext cx="1664208" cy="1005840"/>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29" name="Shape 27"/>
          <p:cNvSpPr/>
          <p:nvPr/>
        </p:nvSpPr>
        <p:spPr>
          <a:xfrm>
            <a:off x="7178040" y="960120"/>
            <a:ext cx="1664208" cy="54864"/>
          </a:xfrm>
          <a:prstGeom prst="rect">
            <a:avLst/>
          </a:prstGeom>
          <a:solidFill>
            <a:srgbClr val="1D9E75"/>
          </a:solidFill>
          <a:ln w="12700">
            <a:solidFill>
              <a:srgbClr val="1D9E75"/>
            </a:solidFill>
            <a:prstDash val="solid"/>
          </a:ln>
        </p:spPr>
      </p:sp>
      <p:sp>
        <p:nvSpPr>
          <p:cNvPr id="30" name="Text 28"/>
          <p:cNvSpPr/>
          <p:nvPr/>
        </p:nvSpPr>
        <p:spPr>
          <a:xfrm>
            <a:off x="7251192" y="1051560"/>
            <a:ext cx="1517904" cy="201168"/>
          </a:xfrm>
          <a:prstGeom prst="rect">
            <a:avLst/>
          </a:prstGeom>
          <a:noFill/>
          <a:ln/>
        </p:spPr>
        <p:txBody>
          <a:bodyPr wrap="square" rtlCol="0" anchor="ctr"/>
          <a:lstStyle/>
          <a:p>
            <a:pPr marL="0" indent="0">
              <a:buNone/>
            </a:pPr>
            <a:r>
              <a:rPr lang="en-US" sz="700" kern="0" spc="50" dirty="0">
                <a:solidFill>
                  <a:srgbClr val="64748B"/>
                </a:solidFill>
                <a:latin typeface="Calibri" pitchFamily="34" charset="0"/>
                <a:ea typeface="Calibri" pitchFamily="34" charset="-122"/>
                <a:cs typeface="Calibri" pitchFamily="34" charset="-120"/>
              </a:rPr>
              <a:t>EFFICIENCY RATING</a:t>
            </a:r>
            <a:endParaRPr lang="en-US" sz="700" dirty="0"/>
          </a:p>
        </p:txBody>
      </p:sp>
      <p:sp>
        <p:nvSpPr>
          <p:cNvPr id="31" name="Text 29"/>
          <p:cNvSpPr/>
          <p:nvPr/>
        </p:nvSpPr>
        <p:spPr>
          <a:xfrm>
            <a:off x="7251192" y="1234440"/>
            <a:ext cx="1517904" cy="438912"/>
          </a:xfrm>
          <a:prstGeom prst="rect">
            <a:avLst/>
          </a:prstGeom>
          <a:noFill/>
          <a:ln/>
        </p:spPr>
        <p:txBody>
          <a:bodyPr wrap="square" rtlCol="0" anchor="ctr"/>
          <a:lstStyle/>
          <a:p>
            <a:pPr marL="0" indent="0">
              <a:buNone/>
            </a:pPr>
            <a:r>
              <a:rPr lang="en-US" sz="2400" b="1" dirty="0">
                <a:solidFill>
                  <a:srgbClr val="1D9E75"/>
                </a:solidFill>
                <a:latin typeface="Calibri" pitchFamily="34" charset="0"/>
                <a:ea typeface="Calibri" pitchFamily="34" charset="-122"/>
                <a:cs typeface="Calibri" pitchFamily="34" charset="-120"/>
              </a:rPr>
              <a:t>79.8</a:t>
            </a:r>
            <a:endParaRPr lang="en-US" sz="2400" dirty="0"/>
          </a:p>
        </p:txBody>
      </p:sp>
      <p:sp>
        <p:nvSpPr>
          <p:cNvPr id="32" name="Text 30"/>
          <p:cNvSpPr/>
          <p:nvPr/>
        </p:nvSpPr>
        <p:spPr>
          <a:xfrm>
            <a:off x="7251192" y="1709928"/>
            <a:ext cx="1517904" cy="182880"/>
          </a:xfrm>
          <a:prstGeom prst="rect">
            <a:avLst/>
          </a:prstGeom>
          <a:noFill/>
          <a:ln/>
        </p:spPr>
        <p:txBody>
          <a:bodyPr wrap="square" rtlCol="0" anchor="ctr"/>
          <a:lstStyle/>
          <a:p>
            <a:pPr marL="0" indent="0">
              <a:buNone/>
            </a:pPr>
            <a:r>
              <a:rPr lang="en-US" sz="750" dirty="0">
                <a:solidFill>
                  <a:srgbClr val="94A3B8"/>
                </a:solidFill>
                <a:latin typeface="Calibri" pitchFamily="34" charset="0"/>
                <a:ea typeface="Calibri" pitchFamily="34" charset="-122"/>
                <a:cs typeface="Calibri" pitchFamily="34" charset="-120"/>
              </a:rPr>
              <a:t>r = 0.84 w/ productivity</a:t>
            </a:r>
            <a:endParaRPr lang="en-US" sz="750" dirty="0"/>
          </a:p>
        </p:txBody>
      </p:sp>
      <p:sp>
        <p:nvSpPr>
          <p:cNvPr id="33" name="Shape 31"/>
          <p:cNvSpPr/>
          <p:nvPr/>
        </p:nvSpPr>
        <p:spPr>
          <a:xfrm>
            <a:off x="228600" y="2148840"/>
            <a:ext cx="1664208" cy="1005840"/>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34" name="Shape 32"/>
          <p:cNvSpPr/>
          <p:nvPr/>
        </p:nvSpPr>
        <p:spPr>
          <a:xfrm>
            <a:off x="228600" y="2148840"/>
            <a:ext cx="1664208" cy="54864"/>
          </a:xfrm>
          <a:prstGeom prst="rect">
            <a:avLst/>
          </a:prstGeom>
          <a:solidFill>
            <a:srgbClr val="185FA5"/>
          </a:solidFill>
          <a:ln w="12700">
            <a:solidFill>
              <a:srgbClr val="185FA5"/>
            </a:solidFill>
            <a:prstDash val="solid"/>
          </a:ln>
        </p:spPr>
      </p:sp>
      <p:sp>
        <p:nvSpPr>
          <p:cNvPr id="35" name="Text 33"/>
          <p:cNvSpPr/>
          <p:nvPr/>
        </p:nvSpPr>
        <p:spPr>
          <a:xfrm>
            <a:off x="301752" y="2240280"/>
            <a:ext cx="1517904" cy="201168"/>
          </a:xfrm>
          <a:prstGeom prst="rect">
            <a:avLst/>
          </a:prstGeom>
          <a:noFill/>
          <a:ln/>
        </p:spPr>
        <p:txBody>
          <a:bodyPr wrap="square" rtlCol="0" anchor="ctr"/>
          <a:lstStyle/>
          <a:p>
            <a:pPr marL="0" indent="0">
              <a:buNone/>
            </a:pPr>
            <a:r>
              <a:rPr lang="en-US" sz="700" kern="0" spc="50" dirty="0">
                <a:solidFill>
                  <a:srgbClr val="64748B"/>
                </a:solidFill>
                <a:latin typeface="Calibri" pitchFamily="34" charset="0"/>
                <a:ea typeface="Calibri" pitchFamily="34" charset="-122"/>
                <a:cs typeface="Calibri" pitchFamily="34" charset="-120"/>
              </a:rPr>
              <a:t>JOB SATISFACTION</a:t>
            </a:r>
            <a:endParaRPr lang="en-US" sz="700" dirty="0"/>
          </a:p>
        </p:txBody>
      </p:sp>
      <p:sp>
        <p:nvSpPr>
          <p:cNvPr id="36" name="Text 34"/>
          <p:cNvSpPr/>
          <p:nvPr/>
        </p:nvSpPr>
        <p:spPr>
          <a:xfrm>
            <a:off x="301752" y="2423160"/>
            <a:ext cx="1517904" cy="438912"/>
          </a:xfrm>
          <a:prstGeom prst="rect">
            <a:avLst/>
          </a:prstGeom>
          <a:noFill/>
          <a:ln/>
        </p:spPr>
        <p:txBody>
          <a:bodyPr wrap="square" rtlCol="0" anchor="ctr"/>
          <a:lstStyle/>
          <a:p>
            <a:pPr marL="0" indent="0">
              <a:buNone/>
            </a:pPr>
            <a:r>
              <a:rPr lang="en-US" sz="2400" b="1" dirty="0">
                <a:solidFill>
                  <a:srgbClr val="185FA5"/>
                </a:solidFill>
                <a:latin typeface="Calibri" pitchFamily="34" charset="0"/>
                <a:ea typeface="Calibri" pitchFamily="34" charset="-122"/>
                <a:cs typeface="Calibri" pitchFamily="34" charset="-120"/>
              </a:rPr>
              <a:t>72.6</a:t>
            </a:r>
            <a:endParaRPr lang="en-US" sz="2400" dirty="0"/>
          </a:p>
        </p:txBody>
      </p:sp>
      <p:sp>
        <p:nvSpPr>
          <p:cNvPr id="37" name="Text 35"/>
          <p:cNvSpPr/>
          <p:nvPr/>
        </p:nvSpPr>
        <p:spPr>
          <a:xfrm>
            <a:off x="301752" y="2898648"/>
            <a:ext cx="1517904" cy="182880"/>
          </a:xfrm>
          <a:prstGeom prst="rect">
            <a:avLst/>
          </a:prstGeom>
          <a:noFill/>
          <a:ln/>
        </p:spPr>
        <p:txBody>
          <a:bodyPr wrap="square" rtlCol="0" anchor="ctr"/>
          <a:lstStyle/>
          <a:p>
            <a:pPr marL="0" indent="0">
              <a:buNone/>
            </a:pPr>
            <a:r>
              <a:rPr lang="en-US" sz="750" dirty="0">
                <a:solidFill>
                  <a:srgbClr val="94A3B8"/>
                </a:solidFill>
                <a:latin typeface="Calibri" pitchFamily="34" charset="0"/>
                <a:ea typeface="Calibri" pitchFamily="34" charset="-122"/>
                <a:cs typeface="Calibri" pitchFamily="34" charset="-120"/>
              </a:rPr>
              <a:t>r = 0.51 moderate</a:t>
            </a:r>
            <a:endParaRPr lang="en-US" sz="750" dirty="0"/>
          </a:p>
        </p:txBody>
      </p:sp>
      <p:sp>
        <p:nvSpPr>
          <p:cNvPr id="38" name="Shape 36"/>
          <p:cNvSpPr/>
          <p:nvPr/>
        </p:nvSpPr>
        <p:spPr>
          <a:xfrm>
            <a:off x="1965960" y="2148840"/>
            <a:ext cx="1664208" cy="1005840"/>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39" name="Shape 37"/>
          <p:cNvSpPr/>
          <p:nvPr/>
        </p:nvSpPr>
        <p:spPr>
          <a:xfrm>
            <a:off x="1965960" y="2148840"/>
            <a:ext cx="1664208" cy="54864"/>
          </a:xfrm>
          <a:prstGeom prst="rect">
            <a:avLst/>
          </a:prstGeom>
          <a:solidFill>
            <a:srgbClr val="1D9E75"/>
          </a:solidFill>
          <a:ln w="12700">
            <a:solidFill>
              <a:srgbClr val="1D9E75"/>
            </a:solidFill>
            <a:prstDash val="solid"/>
          </a:ln>
        </p:spPr>
      </p:sp>
      <p:sp>
        <p:nvSpPr>
          <p:cNvPr id="40" name="Text 38"/>
          <p:cNvSpPr/>
          <p:nvPr/>
        </p:nvSpPr>
        <p:spPr>
          <a:xfrm>
            <a:off x="2039112" y="2240280"/>
            <a:ext cx="1517904" cy="201168"/>
          </a:xfrm>
          <a:prstGeom prst="rect">
            <a:avLst/>
          </a:prstGeom>
          <a:noFill/>
          <a:ln/>
        </p:spPr>
        <p:txBody>
          <a:bodyPr wrap="square" rtlCol="0" anchor="ctr"/>
          <a:lstStyle/>
          <a:p>
            <a:pPr marL="0" indent="0">
              <a:buNone/>
            </a:pPr>
            <a:r>
              <a:rPr lang="en-US" sz="700" kern="0" spc="50" dirty="0">
                <a:solidFill>
                  <a:srgbClr val="64748B"/>
                </a:solidFill>
                <a:latin typeface="Calibri" pitchFamily="34" charset="0"/>
                <a:ea typeface="Calibri" pitchFamily="34" charset="-122"/>
                <a:cs typeface="Calibri" pitchFamily="34" charset="-120"/>
              </a:rPr>
              <a:t>AVG WFH DAYS/WK</a:t>
            </a:r>
            <a:endParaRPr lang="en-US" sz="700" dirty="0"/>
          </a:p>
        </p:txBody>
      </p:sp>
      <p:sp>
        <p:nvSpPr>
          <p:cNvPr id="41" name="Text 39"/>
          <p:cNvSpPr/>
          <p:nvPr/>
        </p:nvSpPr>
        <p:spPr>
          <a:xfrm>
            <a:off x="2039112" y="2423160"/>
            <a:ext cx="1517904" cy="438912"/>
          </a:xfrm>
          <a:prstGeom prst="rect">
            <a:avLst/>
          </a:prstGeom>
          <a:noFill/>
          <a:ln/>
        </p:spPr>
        <p:txBody>
          <a:bodyPr wrap="square" rtlCol="0" anchor="ctr"/>
          <a:lstStyle/>
          <a:p>
            <a:pPr marL="0" indent="0">
              <a:buNone/>
            </a:pPr>
            <a:r>
              <a:rPr lang="en-US" sz="2400" b="1" dirty="0">
                <a:solidFill>
                  <a:srgbClr val="1D9E75"/>
                </a:solidFill>
                <a:latin typeface="Calibri" pitchFamily="34" charset="0"/>
                <a:ea typeface="Calibri" pitchFamily="34" charset="-122"/>
                <a:cs typeface="Calibri" pitchFamily="34" charset="-120"/>
              </a:rPr>
              <a:t>2.9</a:t>
            </a:r>
            <a:endParaRPr lang="en-US" sz="2400" dirty="0"/>
          </a:p>
        </p:txBody>
      </p:sp>
      <p:sp>
        <p:nvSpPr>
          <p:cNvPr id="42" name="Text 40"/>
          <p:cNvSpPr/>
          <p:nvPr/>
        </p:nvSpPr>
        <p:spPr>
          <a:xfrm>
            <a:off x="2039112" y="2898648"/>
            <a:ext cx="1517904" cy="182880"/>
          </a:xfrm>
          <a:prstGeom prst="rect">
            <a:avLst/>
          </a:prstGeom>
          <a:noFill/>
          <a:ln/>
        </p:spPr>
        <p:txBody>
          <a:bodyPr wrap="square" rtlCol="0" anchor="ctr"/>
          <a:lstStyle/>
          <a:p>
            <a:pPr marL="0" indent="0">
              <a:buNone/>
            </a:pPr>
            <a:r>
              <a:rPr lang="en-US" sz="750" dirty="0">
                <a:solidFill>
                  <a:srgbClr val="94A3B8"/>
                </a:solidFill>
                <a:latin typeface="Calibri" pitchFamily="34" charset="0"/>
                <a:ea typeface="Calibri" pitchFamily="34" charset="-122"/>
                <a:cs typeface="Calibri" pitchFamily="34" charset="-120"/>
              </a:rPr>
              <a:t>sweet spot: 2–3 days</a:t>
            </a:r>
            <a:endParaRPr lang="en-US" sz="750" dirty="0"/>
          </a:p>
        </p:txBody>
      </p:sp>
      <p:sp>
        <p:nvSpPr>
          <p:cNvPr id="43" name="Shape 41"/>
          <p:cNvSpPr/>
          <p:nvPr/>
        </p:nvSpPr>
        <p:spPr>
          <a:xfrm>
            <a:off x="3703320" y="2148840"/>
            <a:ext cx="1664208" cy="1005840"/>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44" name="Shape 42"/>
          <p:cNvSpPr/>
          <p:nvPr/>
        </p:nvSpPr>
        <p:spPr>
          <a:xfrm>
            <a:off x="3703320" y="2148840"/>
            <a:ext cx="1664208" cy="54864"/>
          </a:xfrm>
          <a:prstGeom prst="rect">
            <a:avLst/>
          </a:prstGeom>
          <a:solidFill>
            <a:srgbClr val="64748B"/>
          </a:solidFill>
          <a:ln w="12700">
            <a:solidFill>
              <a:srgbClr val="64748B"/>
            </a:solidFill>
            <a:prstDash val="solid"/>
          </a:ln>
        </p:spPr>
      </p:sp>
      <p:sp>
        <p:nvSpPr>
          <p:cNvPr id="45" name="Text 43"/>
          <p:cNvSpPr/>
          <p:nvPr/>
        </p:nvSpPr>
        <p:spPr>
          <a:xfrm>
            <a:off x="3776472" y="2240280"/>
            <a:ext cx="1517904" cy="201168"/>
          </a:xfrm>
          <a:prstGeom prst="rect">
            <a:avLst/>
          </a:prstGeom>
          <a:noFill/>
          <a:ln/>
        </p:spPr>
        <p:txBody>
          <a:bodyPr wrap="square" rtlCol="0" anchor="ctr"/>
          <a:lstStyle/>
          <a:p>
            <a:pPr marL="0" indent="0">
              <a:buNone/>
            </a:pPr>
            <a:r>
              <a:rPr lang="en-US" sz="700" kern="0" spc="50" dirty="0">
                <a:solidFill>
                  <a:srgbClr val="64748B"/>
                </a:solidFill>
                <a:latin typeface="Calibri" pitchFamily="34" charset="0"/>
                <a:ea typeface="Calibri" pitchFamily="34" charset="-122"/>
                <a:cs typeface="Calibri" pitchFamily="34" charset="-120"/>
              </a:rPr>
              <a:t>AVG WORK HOURS/WK</a:t>
            </a:r>
            <a:endParaRPr lang="en-US" sz="700" dirty="0"/>
          </a:p>
        </p:txBody>
      </p:sp>
      <p:sp>
        <p:nvSpPr>
          <p:cNvPr id="46" name="Text 44"/>
          <p:cNvSpPr/>
          <p:nvPr/>
        </p:nvSpPr>
        <p:spPr>
          <a:xfrm>
            <a:off x="3776472" y="2423160"/>
            <a:ext cx="1517904" cy="438912"/>
          </a:xfrm>
          <a:prstGeom prst="rect">
            <a:avLst/>
          </a:prstGeom>
          <a:noFill/>
          <a:ln/>
        </p:spPr>
        <p:txBody>
          <a:bodyPr wrap="square" rtlCol="0" anchor="ctr"/>
          <a:lstStyle/>
          <a:p>
            <a:pPr marL="0" indent="0">
              <a:buNone/>
            </a:pPr>
            <a:r>
              <a:rPr lang="en-US" sz="2400" b="1" dirty="0">
                <a:solidFill>
                  <a:srgbClr val="64748B"/>
                </a:solidFill>
                <a:latin typeface="Calibri" pitchFamily="34" charset="0"/>
                <a:ea typeface="Calibri" pitchFamily="34" charset="-122"/>
                <a:cs typeface="Calibri" pitchFamily="34" charset="-120"/>
              </a:rPr>
              <a:t>41.7</a:t>
            </a:r>
            <a:endParaRPr lang="en-US" sz="2400" dirty="0"/>
          </a:p>
        </p:txBody>
      </p:sp>
      <p:sp>
        <p:nvSpPr>
          <p:cNvPr id="47" name="Text 45"/>
          <p:cNvSpPr/>
          <p:nvPr/>
        </p:nvSpPr>
        <p:spPr>
          <a:xfrm>
            <a:off x="3776472" y="2898648"/>
            <a:ext cx="1517904" cy="182880"/>
          </a:xfrm>
          <a:prstGeom prst="rect">
            <a:avLst/>
          </a:prstGeom>
          <a:noFill/>
          <a:ln/>
        </p:spPr>
        <p:txBody>
          <a:bodyPr wrap="square" rtlCol="0" anchor="ctr"/>
          <a:lstStyle/>
          <a:p>
            <a:pPr marL="0" indent="0">
              <a:buNone/>
            </a:pPr>
            <a:r>
              <a:rPr lang="en-US" sz="750" dirty="0">
                <a:solidFill>
                  <a:srgbClr val="94A3B8"/>
                </a:solidFill>
                <a:latin typeface="Calibri" pitchFamily="34" charset="0"/>
                <a:ea typeface="Calibri" pitchFamily="34" charset="-122"/>
                <a:cs typeface="Calibri" pitchFamily="34" charset="-120"/>
              </a:rPr>
              <a:t>range: 25–65 hrs</a:t>
            </a:r>
            <a:endParaRPr lang="en-US" sz="750" dirty="0"/>
          </a:p>
        </p:txBody>
      </p:sp>
      <p:sp>
        <p:nvSpPr>
          <p:cNvPr id="48" name="Shape 46"/>
          <p:cNvSpPr/>
          <p:nvPr/>
        </p:nvSpPr>
        <p:spPr>
          <a:xfrm>
            <a:off x="5440680" y="2148840"/>
            <a:ext cx="1664208" cy="1005840"/>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49" name="Shape 47"/>
          <p:cNvSpPr/>
          <p:nvPr/>
        </p:nvSpPr>
        <p:spPr>
          <a:xfrm>
            <a:off x="5440680" y="2148840"/>
            <a:ext cx="1664208" cy="54864"/>
          </a:xfrm>
          <a:prstGeom prst="rect">
            <a:avLst/>
          </a:prstGeom>
          <a:solidFill>
            <a:srgbClr val="1D9E75"/>
          </a:solidFill>
          <a:ln w="12700">
            <a:solidFill>
              <a:srgbClr val="1D9E75"/>
            </a:solidFill>
            <a:prstDash val="solid"/>
          </a:ln>
        </p:spPr>
      </p:sp>
      <p:sp>
        <p:nvSpPr>
          <p:cNvPr id="50" name="Text 48"/>
          <p:cNvSpPr/>
          <p:nvPr/>
        </p:nvSpPr>
        <p:spPr>
          <a:xfrm>
            <a:off x="5513832" y="2240280"/>
            <a:ext cx="1517904" cy="201168"/>
          </a:xfrm>
          <a:prstGeom prst="rect">
            <a:avLst/>
          </a:prstGeom>
          <a:noFill/>
          <a:ln/>
        </p:spPr>
        <p:txBody>
          <a:bodyPr wrap="square" rtlCol="0" anchor="ctr"/>
          <a:lstStyle/>
          <a:p>
            <a:pPr marL="0" indent="0">
              <a:buNone/>
            </a:pPr>
            <a:r>
              <a:rPr lang="en-US" sz="700" kern="0" spc="50" dirty="0">
                <a:solidFill>
                  <a:srgbClr val="64748B"/>
                </a:solidFill>
                <a:latin typeface="Calibri" pitchFamily="34" charset="0"/>
                <a:ea typeface="Calibri" pitchFamily="34" charset="-122"/>
                <a:cs typeface="Calibri" pitchFamily="34" charset="-120"/>
              </a:rPr>
              <a:t>HIGH PERFORMERS ≥95</a:t>
            </a:r>
            <a:endParaRPr lang="en-US" sz="700" dirty="0"/>
          </a:p>
        </p:txBody>
      </p:sp>
      <p:sp>
        <p:nvSpPr>
          <p:cNvPr id="51" name="Text 49"/>
          <p:cNvSpPr/>
          <p:nvPr/>
        </p:nvSpPr>
        <p:spPr>
          <a:xfrm>
            <a:off x="5513832" y="2423160"/>
            <a:ext cx="1517904" cy="438912"/>
          </a:xfrm>
          <a:prstGeom prst="rect">
            <a:avLst/>
          </a:prstGeom>
          <a:noFill/>
          <a:ln/>
        </p:spPr>
        <p:txBody>
          <a:bodyPr wrap="square" rtlCol="0" anchor="ctr"/>
          <a:lstStyle/>
          <a:p>
            <a:pPr marL="0" indent="0">
              <a:buNone/>
            </a:pPr>
            <a:r>
              <a:rPr lang="en-US" sz="2400" b="1" dirty="0">
                <a:solidFill>
                  <a:srgbClr val="1D9E75"/>
                </a:solidFill>
                <a:latin typeface="Calibri" pitchFamily="34" charset="0"/>
                <a:ea typeface="Calibri" pitchFamily="34" charset="-122"/>
                <a:cs typeface="Calibri" pitchFamily="34" charset="-120"/>
              </a:rPr>
              <a:t>33.7%</a:t>
            </a:r>
            <a:endParaRPr lang="en-US" sz="2400" dirty="0"/>
          </a:p>
        </p:txBody>
      </p:sp>
      <p:sp>
        <p:nvSpPr>
          <p:cNvPr id="52" name="Text 50"/>
          <p:cNvSpPr/>
          <p:nvPr/>
        </p:nvSpPr>
        <p:spPr>
          <a:xfrm>
            <a:off x="5513832" y="2898648"/>
            <a:ext cx="1517904" cy="182880"/>
          </a:xfrm>
          <a:prstGeom prst="rect">
            <a:avLst/>
          </a:prstGeom>
          <a:noFill/>
          <a:ln/>
        </p:spPr>
        <p:txBody>
          <a:bodyPr wrap="square" rtlCol="0" anchor="ctr"/>
          <a:lstStyle/>
          <a:p>
            <a:pPr marL="0" indent="0">
              <a:buNone/>
            </a:pPr>
            <a:r>
              <a:rPr lang="en-US" sz="750" dirty="0">
                <a:solidFill>
                  <a:srgbClr val="94A3B8"/>
                </a:solidFill>
                <a:latin typeface="Calibri" pitchFamily="34" charset="0"/>
                <a:ea typeface="Calibri" pitchFamily="34" charset="-122"/>
                <a:cs typeface="Calibri" pitchFamily="34" charset="-120"/>
              </a:rPr>
              <a:t>506 of 1,500 employees</a:t>
            </a:r>
            <a:endParaRPr lang="en-US" sz="750" dirty="0"/>
          </a:p>
        </p:txBody>
      </p:sp>
      <p:sp>
        <p:nvSpPr>
          <p:cNvPr id="53" name="Shape 51"/>
          <p:cNvSpPr/>
          <p:nvPr/>
        </p:nvSpPr>
        <p:spPr>
          <a:xfrm>
            <a:off x="7178040" y="2148840"/>
            <a:ext cx="1664208" cy="1005840"/>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54" name="Shape 52"/>
          <p:cNvSpPr/>
          <p:nvPr/>
        </p:nvSpPr>
        <p:spPr>
          <a:xfrm>
            <a:off x="7178040" y="2148840"/>
            <a:ext cx="1664208" cy="54864"/>
          </a:xfrm>
          <a:prstGeom prst="rect">
            <a:avLst/>
          </a:prstGeom>
          <a:solidFill>
            <a:srgbClr val="A32D2D"/>
          </a:solidFill>
          <a:ln w="12700">
            <a:solidFill>
              <a:srgbClr val="A32D2D"/>
            </a:solidFill>
            <a:prstDash val="solid"/>
          </a:ln>
        </p:spPr>
      </p:sp>
      <p:sp>
        <p:nvSpPr>
          <p:cNvPr id="55" name="Text 53"/>
          <p:cNvSpPr/>
          <p:nvPr/>
        </p:nvSpPr>
        <p:spPr>
          <a:xfrm>
            <a:off x="7251192" y="2240280"/>
            <a:ext cx="1517904" cy="201168"/>
          </a:xfrm>
          <a:prstGeom prst="rect">
            <a:avLst/>
          </a:prstGeom>
          <a:noFill/>
          <a:ln/>
        </p:spPr>
        <p:txBody>
          <a:bodyPr wrap="square" rtlCol="0" anchor="ctr"/>
          <a:lstStyle/>
          <a:p>
            <a:pPr marL="0" indent="0">
              <a:buNone/>
            </a:pPr>
            <a:r>
              <a:rPr lang="en-US" sz="700" kern="0" spc="50" dirty="0">
                <a:solidFill>
                  <a:srgbClr val="64748B"/>
                </a:solidFill>
                <a:latin typeface="Calibri" pitchFamily="34" charset="0"/>
                <a:ea typeface="Calibri" pitchFamily="34" charset="-122"/>
                <a:cs typeface="Calibri" pitchFamily="34" charset="-120"/>
              </a:rPr>
              <a:t>LOW PERFORMERS &lt;60</a:t>
            </a:r>
            <a:endParaRPr lang="en-US" sz="700" dirty="0"/>
          </a:p>
        </p:txBody>
      </p:sp>
      <p:sp>
        <p:nvSpPr>
          <p:cNvPr id="56" name="Text 54"/>
          <p:cNvSpPr/>
          <p:nvPr/>
        </p:nvSpPr>
        <p:spPr>
          <a:xfrm>
            <a:off x="7251192" y="2423160"/>
            <a:ext cx="1517904" cy="438912"/>
          </a:xfrm>
          <a:prstGeom prst="rect">
            <a:avLst/>
          </a:prstGeom>
          <a:noFill/>
          <a:ln/>
        </p:spPr>
        <p:txBody>
          <a:bodyPr wrap="square" rtlCol="0" anchor="ctr"/>
          <a:lstStyle/>
          <a:p>
            <a:pPr marL="0" indent="0">
              <a:buNone/>
            </a:pPr>
            <a:r>
              <a:rPr lang="en-US" sz="2400" b="1" dirty="0">
                <a:solidFill>
                  <a:srgbClr val="A32D2D"/>
                </a:solidFill>
                <a:latin typeface="Calibri" pitchFamily="34" charset="0"/>
                <a:ea typeface="Calibri" pitchFamily="34" charset="-122"/>
                <a:cs typeface="Calibri" pitchFamily="34" charset="-120"/>
              </a:rPr>
              <a:t>9.3%</a:t>
            </a:r>
            <a:endParaRPr lang="en-US" sz="2400" dirty="0"/>
          </a:p>
        </p:txBody>
      </p:sp>
      <p:sp>
        <p:nvSpPr>
          <p:cNvPr id="57" name="Text 55"/>
          <p:cNvSpPr/>
          <p:nvPr/>
        </p:nvSpPr>
        <p:spPr>
          <a:xfrm>
            <a:off x="7251192" y="2898648"/>
            <a:ext cx="1517904" cy="182880"/>
          </a:xfrm>
          <a:prstGeom prst="rect">
            <a:avLst/>
          </a:prstGeom>
          <a:noFill/>
          <a:ln/>
        </p:spPr>
        <p:txBody>
          <a:bodyPr wrap="square" rtlCol="0" anchor="ctr"/>
          <a:lstStyle/>
          <a:p>
            <a:pPr marL="0" indent="0">
              <a:buNone/>
            </a:pPr>
            <a:r>
              <a:rPr lang="en-US" sz="750" dirty="0">
                <a:solidFill>
                  <a:srgbClr val="94A3B8"/>
                </a:solidFill>
                <a:latin typeface="Calibri" pitchFamily="34" charset="0"/>
                <a:ea typeface="Calibri" pitchFamily="34" charset="-122"/>
                <a:cs typeface="Calibri" pitchFamily="34" charset="-120"/>
              </a:rPr>
              <a:t>139 at-risk employees</a:t>
            </a:r>
            <a:endParaRPr lang="en-US" sz="750" dirty="0"/>
          </a:p>
        </p:txBody>
      </p:sp>
      <p:sp>
        <p:nvSpPr>
          <p:cNvPr id="58" name="Text 56"/>
          <p:cNvSpPr/>
          <p:nvPr/>
        </p:nvSpPr>
        <p:spPr>
          <a:xfrm>
            <a:off x="274320" y="4407408"/>
            <a:ext cx="8595360" cy="292608"/>
          </a:xfrm>
          <a:prstGeom prst="rect">
            <a:avLst/>
          </a:prstGeom>
          <a:noFill/>
          <a:ln/>
        </p:spPr>
        <p:txBody>
          <a:bodyPr wrap="square" rtlCol="0" anchor="ctr"/>
          <a:lstStyle/>
          <a:p>
            <a:pPr marL="0" indent="0" algn="ctr">
              <a:buNone/>
            </a:pPr>
            <a:r>
              <a:rPr lang="en-US" sz="950" i="1" dirty="0">
                <a:solidFill>
                  <a:srgbClr val="64748B"/>
                </a:solidFill>
                <a:latin typeface="Calibri" pitchFamily="34" charset="0"/>
                <a:ea typeface="Calibri" pitchFamily="34" charset="-122"/>
                <a:cs typeface="Calibri" pitchFamily="34" charset="-120"/>
              </a:rPr>
              <a:t>Critical insight: Low performer rate (9.3%) is entirely preventable — driven by manager support and home office quality.</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4">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Shape 1"/>
          <p:cNvSpPr/>
          <p:nvPr/>
        </p:nvSpPr>
        <p:spPr>
          <a:xfrm>
            <a:off x="0" y="0"/>
            <a:ext cx="109728" cy="777240"/>
          </a:xfrm>
          <a:prstGeom prst="rect">
            <a:avLst/>
          </a:prstGeom>
          <a:solidFill>
            <a:srgbClr val="1D9E75"/>
          </a:solidFill>
          <a:ln w="12700">
            <a:solidFill>
              <a:srgbClr val="1D9E75"/>
            </a:solidFill>
            <a:prstDash val="solid"/>
          </a:ln>
        </p:spPr>
      </p:sp>
      <p:sp>
        <p:nvSpPr>
          <p:cNvPr id="4" name="Text 2"/>
          <p:cNvSpPr/>
          <p:nvPr/>
        </p:nvSpPr>
        <p:spPr>
          <a:xfrm>
            <a:off x="274320" y="0"/>
            <a:ext cx="8686800" cy="7772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KPI Analysis</a:t>
            </a:r>
            <a:endParaRPr lang="en-US" sz="2200" dirty="0"/>
          </a:p>
        </p:txBody>
      </p:sp>
      <p:sp>
        <p:nvSpPr>
          <p:cNvPr id="5" name="Text 3"/>
          <p:cNvSpPr/>
          <p:nvPr/>
        </p:nvSpPr>
        <p:spPr>
          <a:xfrm>
            <a:off x="274320" y="512064"/>
            <a:ext cx="8686800" cy="265176"/>
          </a:xfrm>
          <a:prstGeom prst="rect">
            <a:avLst/>
          </a:prstGeom>
          <a:noFill/>
          <a:ln/>
        </p:spPr>
        <p:txBody>
          <a:bodyPr wrap="square" rtlCol="0" anchor="ctr"/>
          <a:lstStyle/>
          <a:p>
            <a:pPr marL="0" indent="0">
              <a:buNone/>
            </a:pPr>
            <a:r>
              <a:rPr lang="en-US" sz="950" b="1" dirty="0">
                <a:solidFill>
                  <a:schemeClr val="bg1"/>
                </a:solidFill>
                <a:latin typeface="Calibri" pitchFamily="34" charset="0"/>
                <a:ea typeface="Calibri" pitchFamily="34" charset="-122"/>
                <a:cs typeface="Calibri" pitchFamily="34" charset="-120"/>
              </a:rPr>
              <a:t>Productivity by job level and industry</a:t>
            </a:r>
            <a:endParaRPr lang="en-US" sz="950" b="1" dirty="0">
              <a:solidFill>
                <a:schemeClr val="bg1"/>
              </a:solidFill>
            </a:endParaRPr>
          </a:p>
        </p:txBody>
      </p:sp>
      <p:sp>
        <p:nvSpPr>
          <p:cNvPr id="6" name="Shape 4"/>
          <p:cNvSpPr/>
          <p:nvPr/>
        </p:nvSpPr>
        <p:spPr>
          <a:xfrm>
            <a:off x="0" y="4892040"/>
            <a:ext cx="9144000" cy="251460"/>
          </a:xfrm>
          <a:prstGeom prst="rect">
            <a:avLst/>
          </a:prstGeom>
          <a:solidFill>
            <a:srgbClr val="1E2761"/>
          </a:solidFill>
          <a:ln w="12700">
            <a:solidFill>
              <a:srgbClr val="1E2761"/>
            </a:solidFill>
            <a:prstDash val="solid"/>
          </a:ln>
        </p:spPr>
      </p:sp>
      <p:sp>
        <p:nvSpPr>
          <p:cNvPr id="7" name="Text 5"/>
          <p:cNvSpPr/>
          <p:nvPr/>
        </p:nvSpPr>
        <p:spPr>
          <a:xfrm>
            <a:off x="0" y="4892040"/>
            <a:ext cx="9144000" cy="251460"/>
          </a:xfrm>
          <a:prstGeom prst="rect">
            <a:avLst/>
          </a:prstGeom>
          <a:noFill/>
          <a:ln/>
        </p:spPr>
        <p:txBody>
          <a:bodyPr wrap="square"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Remote Work Productivity Analysis  ·  Slide 23 of 41</a:t>
            </a:r>
            <a:endParaRPr lang="en-US" sz="800" dirty="0"/>
          </a:p>
        </p:txBody>
      </p:sp>
      <p:sp>
        <p:nvSpPr>
          <p:cNvPr id="8" name="Text 6"/>
          <p:cNvSpPr/>
          <p:nvPr/>
        </p:nvSpPr>
        <p:spPr>
          <a:xfrm>
            <a:off x="274320" y="914400"/>
            <a:ext cx="4023360" cy="274320"/>
          </a:xfrm>
          <a:prstGeom prst="rect">
            <a:avLst/>
          </a:prstGeom>
          <a:noFill/>
          <a:ln/>
        </p:spPr>
        <p:txBody>
          <a:bodyPr wrap="square"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Productivity By Job Level</a:t>
            </a:r>
            <a:endParaRPr lang="en-US" sz="1100" dirty="0"/>
          </a:p>
        </p:txBody>
      </p:sp>
      <p:graphicFrame>
        <p:nvGraphicFramePr>
          <p:cNvPr id="9" name="Chart 0"/>
          <p:cNvGraphicFramePr/>
          <p:nvPr/>
        </p:nvGraphicFramePr>
        <p:xfrm>
          <a:off x="274320" y="1188720"/>
          <a:ext cx="402336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7"/>
          <p:cNvSpPr/>
          <p:nvPr/>
        </p:nvSpPr>
        <p:spPr>
          <a:xfrm>
            <a:off x="4663440" y="914400"/>
            <a:ext cx="4206240" cy="274320"/>
          </a:xfrm>
          <a:prstGeom prst="rect">
            <a:avLst/>
          </a:prstGeom>
          <a:noFill/>
          <a:ln/>
        </p:spPr>
        <p:txBody>
          <a:bodyPr wrap="square" rtlCol="0" anchor="ctr"/>
          <a:lstStyle/>
          <a:p>
            <a:r>
              <a:rPr lang="en-US" sz="1100" b="1" dirty="0">
                <a:solidFill>
                  <a:srgbClr val="1E293B"/>
                </a:solidFill>
                <a:latin typeface="Calibri" pitchFamily="34" charset="0"/>
                <a:ea typeface="Calibri" pitchFamily="34" charset="-122"/>
                <a:cs typeface="Calibri" pitchFamily="34" charset="-120"/>
              </a:rPr>
              <a:t>Productivity By Industry</a:t>
            </a:r>
            <a:endParaRPr lang="en-US" sz="1100" dirty="0"/>
          </a:p>
        </p:txBody>
      </p:sp>
      <p:graphicFrame>
        <p:nvGraphicFramePr>
          <p:cNvPr id="11" name="Chart 1"/>
          <p:cNvGraphicFramePr/>
          <p:nvPr/>
        </p:nvGraphicFramePr>
        <p:xfrm>
          <a:off x="4663440" y="1188720"/>
          <a:ext cx="4206240" cy="301752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5">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Shape 1"/>
          <p:cNvSpPr/>
          <p:nvPr/>
        </p:nvSpPr>
        <p:spPr>
          <a:xfrm>
            <a:off x="0" y="0"/>
            <a:ext cx="109728" cy="777240"/>
          </a:xfrm>
          <a:prstGeom prst="rect">
            <a:avLst/>
          </a:prstGeom>
          <a:solidFill>
            <a:srgbClr val="1D9E75"/>
          </a:solidFill>
          <a:ln w="12700">
            <a:solidFill>
              <a:srgbClr val="1D9E75"/>
            </a:solidFill>
            <a:prstDash val="solid"/>
          </a:ln>
        </p:spPr>
      </p:sp>
      <p:sp>
        <p:nvSpPr>
          <p:cNvPr id="4" name="Text 2"/>
          <p:cNvSpPr/>
          <p:nvPr/>
        </p:nvSpPr>
        <p:spPr>
          <a:xfrm>
            <a:off x="274320" y="0"/>
            <a:ext cx="8686800" cy="7772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Key Business Insights</a:t>
            </a:r>
            <a:endParaRPr lang="en-US" sz="2200" dirty="0"/>
          </a:p>
        </p:txBody>
      </p:sp>
      <p:sp>
        <p:nvSpPr>
          <p:cNvPr id="5" name="Text 3"/>
          <p:cNvSpPr/>
          <p:nvPr/>
        </p:nvSpPr>
        <p:spPr>
          <a:xfrm>
            <a:off x="274320" y="512064"/>
            <a:ext cx="8686800" cy="265176"/>
          </a:xfrm>
          <a:prstGeom prst="rect">
            <a:avLst/>
          </a:prstGeom>
          <a:noFill/>
          <a:ln/>
        </p:spPr>
        <p:txBody>
          <a:bodyPr wrap="square" rtlCol="0" anchor="ctr"/>
          <a:lstStyle/>
          <a:p>
            <a:pPr marL="0" indent="0">
              <a:buNone/>
            </a:pPr>
            <a:r>
              <a:rPr lang="ar-EG" sz="950" b="1" dirty="0">
                <a:solidFill>
                  <a:schemeClr val="bg1"/>
                </a:solidFill>
                <a:latin typeface="Calibri" pitchFamily="34" charset="0"/>
                <a:ea typeface="Calibri" pitchFamily="34" charset="-122"/>
                <a:cs typeface="Calibri" pitchFamily="34" charset="-120"/>
              </a:rPr>
              <a:t>7</a:t>
            </a:r>
            <a:r>
              <a:rPr lang="en-US" sz="950" b="1" dirty="0">
                <a:solidFill>
                  <a:schemeClr val="bg1"/>
                </a:solidFill>
                <a:latin typeface="Calibri" pitchFamily="34" charset="0"/>
                <a:ea typeface="Calibri" pitchFamily="34" charset="-122"/>
                <a:cs typeface="Calibri" pitchFamily="34" charset="-120"/>
              </a:rPr>
              <a:t> evidence-based findings — Insights 1 to 4</a:t>
            </a:r>
            <a:endParaRPr lang="en-US" sz="950" b="1" dirty="0">
              <a:solidFill>
                <a:schemeClr val="bg1"/>
              </a:solidFill>
            </a:endParaRPr>
          </a:p>
        </p:txBody>
      </p:sp>
      <p:sp>
        <p:nvSpPr>
          <p:cNvPr id="6" name="Shape 4"/>
          <p:cNvSpPr/>
          <p:nvPr/>
        </p:nvSpPr>
        <p:spPr>
          <a:xfrm>
            <a:off x="0" y="4892040"/>
            <a:ext cx="9144000" cy="251460"/>
          </a:xfrm>
          <a:prstGeom prst="rect">
            <a:avLst/>
          </a:prstGeom>
          <a:solidFill>
            <a:srgbClr val="1E2761"/>
          </a:solidFill>
          <a:ln w="12700">
            <a:solidFill>
              <a:srgbClr val="1E2761"/>
            </a:solidFill>
            <a:prstDash val="solid"/>
          </a:ln>
        </p:spPr>
      </p:sp>
      <p:sp>
        <p:nvSpPr>
          <p:cNvPr id="7" name="Text 5"/>
          <p:cNvSpPr/>
          <p:nvPr/>
        </p:nvSpPr>
        <p:spPr>
          <a:xfrm>
            <a:off x="0" y="4892040"/>
            <a:ext cx="9144000" cy="251460"/>
          </a:xfrm>
          <a:prstGeom prst="rect">
            <a:avLst/>
          </a:prstGeom>
          <a:noFill/>
          <a:ln/>
        </p:spPr>
        <p:txBody>
          <a:bodyPr wrap="square"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Remote Work Productivity Analysis  ·  Slide 24 of 41</a:t>
            </a:r>
            <a:endParaRPr lang="en-US" sz="800" dirty="0"/>
          </a:p>
        </p:txBody>
      </p:sp>
      <p:sp>
        <p:nvSpPr>
          <p:cNvPr id="8" name="Shape 6"/>
          <p:cNvSpPr/>
          <p:nvPr/>
        </p:nvSpPr>
        <p:spPr>
          <a:xfrm>
            <a:off x="228600" y="960120"/>
            <a:ext cx="2029968" cy="3794760"/>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9" name="Shape 7"/>
          <p:cNvSpPr/>
          <p:nvPr/>
        </p:nvSpPr>
        <p:spPr>
          <a:xfrm>
            <a:off x="228600" y="960120"/>
            <a:ext cx="2029968" cy="73152"/>
          </a:xfrm>
          <a:prstGeom prst="rect">
            <a:avLst/>
          </a:prstGeom>
          <a:solidFill>
            <a:srgbClr val="A32D2D"/>
          </a:solidFill>
          <a:ln w="12700">
            <a:solidFill>
              <a:srgbClr val="A32D2D"/>
            </a:solidFill>
            <a:prstDash val="solid"/>
          </a:ln>
        </p:spPr>
      </p:sp>
      <p:sp>
        <p:nvSpPr>
          <p:cNvPr id="10" name="Shape 8"/>
          <p:cNvSpPr/>
          <p:nvPr/>
        </p:nvSpPr>
        <p:spPr>
          <a:xfrm>
            <a:off x="978408" y="1115568"/>
            <a:ext cx="530352" cy="530352"/>
          </a:xfrm>
          <a:prstGeom prst="ellipse">
            <a:avLst/>
          </a:prstGeom>
          <a:solidFill>
            <a:srgbClr val="A32D2D"/>
          </a:solidFill>
          <a:ln w="12700">
            <a:solidFill>
              <a:srgbClr val="A32D2D"/>
            </a:solidFill>
            <a:prstDash val="solid"/>
          </a:ln>
        </p:spPr>
      </p:sp>
      <p:sp>
        <p:nvSpPr>
          <p:cNvPr id="11" name="Text 9"/>
          <p:cNvSpPr/>
          <p:nvPr/>
        </p:nvSpPr>
        <p:spPr>
          <a:xfrm>
            <a:off x="978408" y="1115568"/>
            <a:ext cx="530352" cy="530352"/>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Text 10"/>
          <p:cNvSpPr/>
          <p:nvPr/>
        </p:nvSpPr>
        <p:spPr>
          <a:xfrm>
            <a:off x="338328" y="1719072"/>
            <a:ext cx="1810512" cy="658368"/>
          </a:xfrm>
          <a:prstGeom prst="rect">
            <a:avLst/>
          </a:prstGeom>
          <a:noFill/>
          <a:ln/>
        </p:spPr>
        <p:txBody>
          <a:bodyPr wrap="square"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Manager support drives a 27% performance gap</a:t>
            </a:r>
            <a:endParaRPr lang="en-US" sz="1000" dirty="0"/>
          </a:p>
        </p:txBody>
      </p:sp>
      <p:sp>
        <p:nvSpPr>
          <p:cNvPr id="13" name="Shape 11"/>
          <p:cNvSpPr/>
          <p:nvPr/>
        </p:nvSpPr>
        <p:spPr>
          <a:xfrm>
            <a:off x="594360" y="2487168"/>
            <a:ext cx="1298448" cy="0"/>
          </a:xfrm>
          <a:prstGeom prst="line">
            <a:avLst/>
          </a:prstGeom>
          <a:noFill/>
          <a:ln w="9525">
            <a:solidFill>
              <a:srgbClr val="A32D2D"/>
            </a:solidFill>
            <a:prstDash val="solid"/>
          </a:ln>
        </p:spPr>
      </p:sp>
      <p:sp>
        <p:nvSpPr>
          <p:cNvPr id="14" name="Text 12"/>
          <p:cNvSpPr/>
          <p:nvPr/>
        </p:nvSpPr>
        <p:spPr>
          <a:xfrm>
            <a:off x="338328" y="2578608"/>
            <a:ext cx="1810512" cy="2011680"/>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Very Low → Very High support: 68.7 to 87.6 — the single largest controllable variable</a:t>
            </a:r>
            <a:endParaRPr lang="en-US" sz="900" dirty="0"/>
          </a:p>
        </p:txBody>
      </p:sp>
      <p:sp>
        <p:nvSpPr>
          <p:cNvPr id="15" name="Shape 13"/>
          <p:cNvSpPr/>
          <p:nvPr/>
        </p:nvSpPr>
        <p:spPr>
          <a:xfrm>
            <a:off x="2404872" y="960120"/>
            <a:ext cx="2029968" cy="3794760"/>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16" name="Shape 14"/>
          <p:cNvSpPr/>
          <p:nvPr/>
        </p:nvSpPr>
        <p:spPr>
          <a:xfrm>
            <a:off x="2404872" y="960120"/>
            <a:ext cx="2029968" cy="73152"/>
          </a:xfrm>
          <a:prstGeom prst="rect">
            <a:avLst/>
          </a:prstGeom>
          <a:solidFill>
            <a:srgbClr val="185FA5"/>
          </a:solidFill>
          <a:ln w="12700">
            <a:solidFill>
              <a:srgbClr val="185FA5"/>
            </a:solidFill>
            <a:prstDash val="solid"/>
          </a:ln>
        </p:spPr>
      </p:sp>
      <p:sp>
        <p:nvSpPr>
          <p:cNvPr id="17" name="Shape 15"/>
          <p:cNvSpPr/>
          <p:nvPr/>
        </p:nvSpPr>
        <p:spPr>
          <a:xfrm>
            <a:off x="3154680" y="1115568"/>
            <a:ext cx="530352" cy="530352"/>
          </a:xfrm>
          <a:prstGeom prst="ellipse">
            <a:avLst/>
          </a:prstGeom>
          <a:solidFill>
            <a:srgbClr val="185FA5"/>
          </a:solidFill>
          <a:ln w="12700">
            <a:solidFill>
              <a:srgbClr val="185FA5"/>
            </a:solidFill>
            <a:prstDash val="solid"/>
          </a:ln>
        </p:spPr>
      </p:sp>
      <p:sp>
        <p:nvSpPr>
          <p:cNvPr id="18" name="Text 16"/>
          <p:cNvSpPr/>
          <p:nvPr/>
        </p:nvSpPr>
        <p:spPr>
          <a:xfrm>
            <a:off x="3154680" y="1115568"/>
            <a:ext cx="530352" cy="530352"/>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9" name="Text 17"/>
          <p:cNvSpPr/>
          <p:nvPr/>
        </p:nvSpPr>
        <p:spPr>
          <a:xfrm>
            <a:off x="2514600" y="1719072"/>
            <a:ext cx="1810512" cy="658368"/>
          </a:xfrm>
          <a:prstGeom prst="rect">
            <a:avLst/>
          </a:prstGeom>
          <a:noFill/>
          <a:ln/>
        </p:spPr>
        <p:txBody>
          <a:bodyPr wrap="square"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Hybrid 2–3 days is the productivity sweet spot</a:t>
            </a:r>
            <a:endParaRPr lang="en-US" sz="1000" dirty="0"/>
          </a:p>
        </p:txBody>
      </p:sp>
      <p:sp>
        <p:nvSpPr>
          <p:cNvPr id="20" name="Shape 18"/>
          <p:cNvSpPr/>
          <p:nvPr/>
        </p:nvSpPr>
        <p:spPr>
          <a:xfrm>
            <a:off x="2770632" y="2487168"/>
            <a:ext cx="1298448" cy="0"/>
          </a:xfrm>
          <a:prstGeom prst="line">
            <a:avLst/>
          </a:prstGeom>
          <a:noFill/>
          <a:ln w="9525">
            <a:solidFill>
              <a:srgbClr val="185FA5"/>
            </a:solidFill>
            <a:prstDash val="solid"/>
          </a:ln>
        </p:spPr>
      </p:sp>
      <p:sp>
        <p:nvSpPr>
          <p:cNvPr id="21" name="Text 19"/>
          <p:cNvSpPr/>
          <p:nvPr/>
        </p:nvSpPr>
        <p:spPr>
          <a:xfrm>
            <a:off x="2514600" y="2578608"/>
            <a:ext cx="1810512" cy="2011680"/>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Full RTO (0 days) = 80.9 — the worst outcome. 2 WFH days = 85.1 — the peak.</a:t>
            </a:r>
            <a:endParaRPr lang="en-US" sz="900" dirty="0"/>
          </a:p>
        </p:txBody>
      </p:sp>
      <p:sp>
        <p:nvSpPr>
          <p:cNvPr id="22" name="Shape 20"/>
          <p:cNvSpPr/>
          <p:nvPr/>
        </p:nvSpPr>
        <p:spPr>
          <a:xfrm>
            <a:off x="4581144" y="960120"/>
            <a:ext cx="2029968" cy="3794760"/>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23" name="Shape 21"/>
          <p:cNvSpPr/>
          <p:nvPr/>
        </p:nvSpPr>
        <p:spPr>
          <a:xfrm>
            <a:off x="4581144" y="960120"/>
            <a:ext cx="2029968" cy="73152"/>
          </a:xfrm>
          <a:prstGeom prst="rect">
            <a:avLst/>
          </a:prstGeom>
          <a:solidFill>
            <a:srgbClr val="1D9E75"/>
          </a:solidFill>
          <a:ln w="12700">
            <a:solidFill>
              <a:srgbClr val="1D9E75"/>
            </a:solidFill>
            <a:prstDash val="solid"/>
          </a:ln>
        </p:spPr>
      </p:sp>
      <p:sp>
        <p:nvSpPr>
          <p:cNvPr id="24" name="Shape 22"/>
          <p:cNvSpPr/>
          <p:nvPr/>
        </p:nvSpPr>
        <p:spPr>
          <a:xfrm>
            <a:off x="5330952" y="1115568"/>
            <a:ext cx="530352" cy="530352"/>
          </a:xfrm>
          <a:prstGeom prst="ellipse">
            <a:avLst/>
          </a:prstGeom>
          <a:solidFill>
            <a:srgbClr val="1D9E75"/>
          </a:solidFill>
          <a:ln w="12700">
            <a:solidFill>
              <a:srgbClr val="1D9E75"/>
            </a:solidFill>
            <a:prstDash val="solid"/>
          </a:ln>
        </p:spPr>
      </p:sp>
      <p:sp>
        <p:nvSpPr>
          <p:cNvPr id="25" name="Text 23"/>
          <p:cNvSpPr/>
          <p:nvPr/>
        </p:nvSpPr>
        <p:spPr>
          <a:xfrm>
            <a:off x="5330952" y="1115568"/>
            <a:ext cx="530352" cy="530352"/>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6" name="Text 24"/>
          <p:cNvSpPr/>
          <p:nvPr/>
        </p:nvSpPr>
        <p:spPr>
          <a:xfrm>
            <a:off x="4690872" y="1719072"/>
            <a:ext cx="1810512" cy="658368"/>
          </a:xfrm>
          <a:prstGeom prst="rect">
            <a:avLst/>
          </a:prstGeom>
          <a:noFill/>
          <a:ln/>
        </p:spPr>
        <p:txBody>
          <a:bodyPr wrap="square"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Quality of work, not hours, drives output</a:t>
            </a:r>
            <a:endParaRPr lang="en-US" sz="1000" dirty="0"/>
          </a:p>
        </p:txBody>
      </p:sp>
      <p:sp>
        <p:nvSpPr>
          <p:cNvPr id="27" name="Shape 25"/>
          <p:cNvSpPr/>
          <p:nvPr/>
        </p:nvSpPr>
        <p:spPr>
          <a:xfrm>
            <a:off x="4946904" y="2487168"/>
            <a:ext cx="1298448" cy="0"/>
          </a:xfrm>
          <a:prstGeom prst="line">
            <a:avLst/>
          </a:prstGeom>
          <a:noFill/>
          <a:ln w="9525">
            <a:solidFill>
              <a:srgbClr val="1D9E75"/>
            </a:solidFill>
            <a:prstDash val="solid"/>
          </a:ln>
        </p:spPr>
      </p:sp>
      <p:sp>
        <p:nvSpPr>
          <p:cNvPr id="28" name="Text 26"/>
          <p:cNvSpPr/>
          <p:nvPr/>
        </p:nvSpPr>
        <p:spPr>
          <a:xfrm>
            <a:off x="4690872" y="2578608"/>
            <a:ext cx="1810512" cy="2011680"/>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Quality Score r=0.92 with productivity. Work Hours r=−0.03 — effectively zero impact.</a:t>
            </a:r>
            <a:endParaRPr lang="en-US" sz="900" dirty="0"/>
          </a:p>
        </p:txBody>
      </p:sp>
      <p:sp>
        <p:nvSpPr>
          <p:cNvPr id="29" name="Shape 27"/>
          <p:cNvSpPr/>
          <p:nvPr/>
        </p:nvSpPr>
        <p:spPr>
          <a:xfrm>
            <a:off x="6757416" y="960120"/>
            <a:ext cx="2029968" cy="3794760"/>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30" name="Shape 28"/>
          <p:cNvSpPr/>
          <p:nvPr/>
        </p:nvSpPr>
        <p:spPr>
          <a:xfrm>
            <a:off x="6757416" y="960120"/>
            <a:ext cx="2029968" cy="73152"/>
          </a:xfrm>
          <a:prstGeom prst="rect">
            <a:avLst/>
          </a:prstGeom>
          <a:solidFill>
            <a:srgbClr val="185FA5"/>
          </a:solidFill>
          <a:ln w="12700">
            <a:solidFill>
              <a:srgbClr val="185FA5"/>
            </a:solidFill>
            <a:prstDash val="solid"/>
          </a:ln>
        </p:spPr>
      </p:sp>
      <p:sp>
        <p:nvSpPr>
          <p:cNvPr id="31" name="Shape 29"/>
          <p:cNvSpPr/>
          <p:nvPr/>
        </p:nvSpPr>
        <p:spPr>
          <a:xfrm>
            <a:off x="7507224" y="1115568"/>
            <a:ext cx="530352" cy="530352"/>
          </a:xfrm>
          <a:prstGeom prst="ellipse">
            <a:avLst/>
          </a:prstGeom>
          <a:solidFill>
            <a:srgbClr val="185FA5"/>
          </a:solidFill>
          <a:ln w="12700">
            <a:solidFill>
              <a:srgbClr val="185FA5"/>
            </a:solidFill>
            <a:prstDash val="solid"/>
          </a:ln>
        </p:spPr>
      </p:sp>
      <p:sp>
        <p:nvSpPr>
          <p:cNvPr id="32" name="Text 30"/>
          <p:cNvSpPr/>
          <p:nvPr/>
        </p:nvSpPr>
        <p:spPr>
          <a:xfrm>
            <a:off x="7507224" y="1115568"/>
            <a:ext cx="530352" cy="530352"/>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3" name="Text 31"/>
          <p:cNvSpPr/>
          <p:nvPr/>
        </p:nvSpPr>
        <p:spPr>
          <a:xfrm>
            <a:off x="6867144" y="1719072"/>
            <a:ext cx="1810512" cy="658368"/>
          </a:xfrm>
          <a:prstGeom prst="rect">
            <a:avLst/>
          </a:prstGeom>
          <a:noFill/>
          <a:ln/>
        </p:spPr>
        <p:txBody>
          <a:bodyPr wrap="square"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Home office quality matters more than bandwidth</a:t>
            </a:r>
            <a:endParaRPr lang="en-US" sz="1000" dirty="0"/>
          </a:p>
        </p:txBody>
      </p:sp>
      <p:sp>
        <p:nvSpPr>
          <p:cNvPr id="34" name="Shape 32"/>
          <p:cNvSpPr/>
          <p:nvPr/>
        </p:nvSpPr>
        <p:spPr>
          <a:xfrm>
            <a:off x="7123176" y="2487168"/>
            <a:ext cx="1298448" cy="0"/>
          </a:xfrm>
          <a:prstGeom prst="line">
            <a:avLst/>
          </a:prstGeom>
          <a:noFill/>
          <a:ln w="9525">
            <a:solidFill>
              <a:srgbClr val="185FA5"/>
            </a:solidFill>
            <a:prstDash val="solid"/>
          </a:ln>
        </p:spPr>
      </p:sp>
      <p:sp>
        <p:nvSpPr>
          <p:cNvPr id="35" name="Text 33"/>
          <p:cNvSpPr/>
          <p:nvPr/>
        </p:nvSpPr>
        <p:spPr>
          <a:xfrm>
            <a:off x="6867144" y="2578608"/>
            <a:ext cx="1810512" cy="2011680"/>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Poor office = 75.9 vs Excellent = 86.2. Internet speed gap is only 2 pts.</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6">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Shape 1"/>
          <p:cNvSpPr/>
          <p:nvPr/>
        </p:nvSpPr>
        <p:spPr>
          <a:xfrm>
            <a:off x="0" y="0"/>
            <a:ext cx="109728" cy="777240"/>
          </a:xfrm>
          <a:prstGeom prst="rect">
            <a:avLst/>
          </a:prstGeom>
          <a:solidFill>
            <a:srgbClr val="1D9E75"/>
          </a:solidFill>
          <a:ln w="12700">
            <a:solidFill>
              <a:srgbClr val="1D9E75"/>
            </a:solidFill>
            <a:prstDash val="solid"/>
          </a:ln>
        </p:spPr>
      </p:sp>
      <p:sp>
        <p:nvSpPr>
          <p:cNvPr id="4" name="Text 2"/>
          <p:cNvSpPr/>
          <p:nvPr/>
        </p:nvSpPr>
        <p:spPr>
          <a:xfrm>
            <a:off x="274320" y="0"/>
            <a:ext cx="8686800" cy="7772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Key Business Insights</a:t>
            </a:r>
            <a:endParaRPr lang="en-US" sz="2200" dirty="0"/>
          </a:p>
        </p:txBody>
      </p:sp>
      <p:sp>
        <p:nvSpPr>
          <p:cNvPr id="5" name="Text 3"/>
          <p:cNvSpPr/>
          <p:nvPr/>
        </p:nvSpPr>
        <p:spPr>
          <a:xfrm>
            <a:off x="274320" y="512064"/>
            <a:ext cx="8686800" cy="265176"/>
          </a:xfrm>
          <a:prstGeom prst="rect">
            <a:avLst/>
          </a:prstGeom>
          <a:noFill/>
          <a:ln/>
        </p:spPr>
        <p:txBody>
          <a:bodyPr wrap="square" rtlCol="0" anchor="ctr"/>
          <a:lstStyle/>
          <a:p>
            <a:pPr marL="0" indent="0">
              <a:buNone/>
            </a:pPr>
            <a:r>
              <a:rPr lang="en-US" sz="950" b="1" dirty="0">
                <a:solidFill>
                  <a:schemeClr val="bg1"/>
                </a:solidFill>
                <a:latin typeface="Calibri" pitchFamily="34" charset="0"/>
                <a:ea typeface="Calibri" pitchFamily="34" charset="-122"/>
                <a:cs typeface="Calibri" pitchFamily="34" charset="-120"/>
              </a:rPr>
              <a:t>8 evidence-based findings — Insights 5 to </a:t>
            </a:r>
            <a:r>
              <a:rPr lang="ar-EG" sz="950" b="1" dirty="0">
                <a:solidFill>
                  <a:schemeClr val="bg1"/>
                </a:solidFill>
                <a:latin typeface="Calibri" pitchFamily="34" charset="0"/>
                <a:ea typeface="Calibri" pitchFamily="34" charset="-122"/>
                <a:cs typeface="Calibri" pitchFamily="34" charset="-120"/>
              </a:rPr>
              <a:t>7</a:t>
            </a:r>
            <a:endParaRPr lang="en-US" sz="950" b="1" dirty="0">
              <a:solidFill>
                <a:schemeClr val="bg1"/>
              </a:solidFill>
            </a:endParaRPr>
          </a:p>
        </p:txBody>
      </p:sp>
      <p:sp>
        <p:nvSpPr>
          <p:cNvPr id="6" name="Shape 4"/>
          <p:cNvSpPr/>
          <p:nvPr/>
        </p:nvSpPr>
        <p:spPr>
          <a:xfrm>
            <a:off x="0" y="4892040"/>
            <a:ext cx="9144000" cy="251460"/>
          </a:xfrm>
          <a:prstGeom prst="rect">
            <a:avLst/>
          </a:prstGeom>
          <a:solidFill>
            <a:srgbClr val="1E2761"/>
          </a:solidFill>
          <a:ln w="12700">
            <a:solidFill>
              <a:srgbClr val="1E2761"/>
            </a:solidFill>
            <a:prstDash val="solid"/>
          </a:ln>
        </p:spPr>
      </p:sp>
      <p:sp>
        <p:nvSpPr>
          <p:cNvPr id="7" name="Text 5"/>
          <p:cNvSpPr/>
          <p:nvPr/>
        </p:nvSpPr>
        <p:spPr>
          <a:xfrm>
            <a:off x="0" y="4892040"/>
            <a:ext cx="9144000" cy="251460"/>
          </a:xfrm>
          <a:prstGeom prst="rect">
            <a:avLst/>
          </a:prstGeom>
          <a:noFill/>
          <a:ln/>
        </p:spPr>
        <p:txBody>
          <a:bodyPr wrap="square"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Remote Work Productivity Analysis  ·  Slide 25 of 41</a:t>
            </a:r>
            <a:endParaRPr lang="en-US" sz="800" dirty="0"/>
          </a:p>
        </p:txBody>
      </p:sp>
      <p:sp>
        <p:nvSpPr>
          <p:cNvPr id="8" name="Shape 6"/>
          <p:cNvSpPr/>
          <p:nvPr/>
        </p:nvSpPr>
        <p:spPr>
          <a:xfrm>
            <a:off x="1163776" y="960120"/>
            <a:ext cx="2029968" cy="3794760"/>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9" name="Shape 7"/>
          <p:cNvSpPr/>
          <p:nvPr/>
        </p:nvSpPr>
        <p:spPr>
          <a:xfrm>
            <a:off x="1163776" y="960120"/>
            <a:ext cx="2029968" cy="73152"/>
          </a:xfrm>
          <a:prstGeom prst="rect">
            <a:avLst/>
          </a:prstGeom>
          <a:solidFill>
            <a:srgbClr val="BA7517"/>
          </a:solidFill>
          <a:ln w="12700">
            <a:solidFill>
              <a:srgbClr val="BA7517"/>
            </a:solidFill>
            <a:prstDash val="solid"/>
          </a:ln>
        </p:spPr>
      </p:sp>
      <p:sp>
        <p:nvSpPr>
          <p:cNvPr id="10" name="Shape 8"/>
          <p:cNvSpPr/>
          <p:nvPr/>
        </p:nvSpPr>
        <p:spPr>
          <a:xfrm>
            <a:off x="1913584" y="1115568"/>
            <a:ext cx="530352" cy="530352"/>
          </a:xfrm>
          <a:prstGeom prst="ellipse">
            <a:avLst/>
          </a:prstGeom>
          <a:solidFill>
            <a:srgbClr val="BA7517"/>
          </a:solidFill>
          <a:ln w="12700">
            <a:solidFill>
              <a:srgbClr val="BA7517"/>
            </a:solidFill>
            <a:prstDash val="solid"/>
          </a:ln>
        </p:spPr>
      </p:sp>
      <p:sp>
        <p:nvSpPr>
          <p:cNvPr id="11" name="Text 9"/>
          <p:cNvSpPr/>
          <p:nvPr/>
        </p:nvSpPr>
        <p:spPr>
          <a:xfrm>
            <a:off x="1913584" y="1115568"/>
            <a:ext cx="530352" cy="530352"/>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2" name="Text 10"/>
          <p:cNvSpPr/>
          <p:nvPr/>
        </p:nvSpPr>
        <p:spPr>
          <a:xfrm>
            <a:off x="1273504" y="1719072"/>
            <a:ext cx="1810512" cy="658368"/>
          </a:xfrm>
          <a:prstGeom prst="rect">
            <a:avLst/>
          </a:prstGeom>
          <a:noFill/>
          <a:ln/>
        </p:spPr>
        <p:txBody>
          <a:bodyPr wrap="square"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Junior employees under-mentored by design</a:t>
            </a:r>
            <a:endParaRPr lang="en-US" sz="1000" dirty="0"/>
          </a:p>
        </p:txBody>
      </p:sp>
      <p:sp>
        <p:nvSpPr>
          <p:cNvPr id="13" name="Shape 11"/>
          <p:cNvSpPr/>
          <p:nvPr/>
        </p:nvSpPr>
        <p:spPr>
          <a:xfrm>
            <a:off x="1529536" y="2487168"/>
            <a:ext cx="1298448" cy="0"/>
          </a:xfrm>
          <a:prstGeom prst="line">
            <a:avLst/>
          </a:prstGeom>
          <a:noFill/>
          <a:ln w="9525">
            <a:solidFill>
              <a:srgbClr val="BA7517"/>
            </a:solidFill>
            <a:prstDash val="solid"/>
          </a:ln>
        </p:spPr>
      </p:sp>
      <p:sp>
        <p:nvSpPr>
          <p:cNvPr id="14" name="Text 12"/>
          <p:cNvSpPr/>
          <p:nvPr/>
        </p:nvSpPr>
        <p:spPr>
          <a:xfrm>
            <a:off x="1273504" y="2578608"/>
            <a:ext cx="1810512" cy="2011680"/>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Junior 78.6 vs Manager 90.3 — an 11.7-pt structural gap driven by lack of mentorship.</a:t>
            </a:r>
            <a:endParaRPr lang="en-US" sz="900" dirty="0"/>
          </a:p>
        </p:txBody>
      </p:sp>
      <p:sp>
        <p:nvSpPr>
          <p:cNvPr id="15" name="Shape 13"/>
          <p:cNvSpPr/>
          <p:nvPr/>
        </p:nvSpPr>
        <p:spPr>
          <a:xfrm>
            <a:off x="3561721" y="960120"/>
            <a:ext cx="2029968" cy="3794760"/>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16" name="Shape 14"/>
          <p:cNvSpPr/>
          <p:nvPr/>
        </p:nvSpPr>
        <p:spPr>
          <a:xfrm>
            <a:off x="3561721" y="960120"/>
            <a:ext cx="2029968" cy="73152"/>
          </a:xfrm>
          <a:prstGeom prst="rect">
            <a:avLst/>
          </a:prstGeom>
          <a:solidFill>
            <a:srgbClr val="A32D2D"/>
          </a:solidFill>
          <a:ln w="12700">
            <a:solidFill>
              <a:srgbClr val="A32D2D"/>
            </a:solidFill>
            <a:prstDash val="solid"/>
          </a:ln>
        </p:spPr>
      </p:sp>
      <p:sp>
        <p:nvSpPr>
          <p:cNvPr id="17" name="Shape 15"/>
          <p:cNvSpPr/>
          <p:nvPr/>
        </p:nvSpPr>
        <p:spPr>
          <a:xfrm>
            <a:off x="4311529" y="1115568"/>
            <a:ext cx="530352" cy="530352"/>
          </a:xfrm>
          <a:prstGeom prst="ellipse">
            <a:avLst/>
          </a:prstGeom>
          <a:solidFill>
            <a:srgbClr val="A32D2D"/>
          </a:solidFill>
          <a:ln w="12700">
            <a:solidFill>
              <a:srgbClr val="A32D2D"/>
            </a:solidFill>
            <a:prstDash val="solid"/>
          </a:ln>
        </p:spPr>
      </p:sp>
      <p:sp>
        <p:nvSpPr>
          <p:cNvPr id="18" name="Text 16"/>
          <p:cNvSpPr/>
          <p:nvPr/>
        </p:nvSpPr>
        <p:spPr>
          <a:xfrm>
            <a:off x="4311529" y="1115568"/>
            <a:ext cx="530352" cy="530352"/>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19" name="Text 17"/>
          <p:cNvSpPr/>
          <p:nvPr/>
        </p:nvSpPr>
        <p:spPr>
          <a:xfrm>
            <a:off x="3671449" y="1719072"/>
            <a:ext cx="1810512" cy="658368"/>
          </a:xfrm>
          <a:prstGeom prst="rect">
            <a:avLst/>
          </a:prstGeom>
          <a:noFill/>
          <a:ln/>
        </p:spPr>
        <p:txBody>
          <a:bodyPr wrap="square"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Government &amp; Non-profit lag by 6 points</a:t>
            </a:r>
            <a:endParaRPr lang="en-US" sz="1000" dirty="0"/>
          </a:p>
        </p:txBody>
      </p:sp>
      <p:sp>
        <p:nvSpPr>
          <p:cNvPr id="20" name="Shape 18"/>
          <p:cNvSpPr/>
          <p:nvPr/>
        </p:nvSpPr>
        <p:spPr>
          <a:xfrm>
            <a:off x="3927481" y="2487168"/>
            <a:ext cx="1298448" cy="0"/>
          </a:xfrm>
          <a:prstGeom prst="line">
            <a:avLst/>
          </a:prstGeom>
          <a:noFill/>
          <a:ln w="9525">
            <a:solidFill>
              <a:srgbClr val="A32D2D"/>
            </a:solidFill>
            <a:prstDash val="solid"/>
          </a:ln>
        </p:spPr>
      </p:sp>
      <p:sp>
        <p:nvSpPr>
          <p:cNvPr id="21" name="Text 19"/>
          <p:cNvSpPr/>
          <p:nvPr/>
        </p:nvSpPr>
        <p:spPr>
          <a:xfrm>
            <a:off x="3671449" y="2578608"/>
            <a:ext cx="1810512" cy="2011680"/>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Gov't 79.0, Non-profit 80.3 vs Healthcare 84.9. Rigid structures and older tooling explain the gap.</a:t>
            </a:r>
            <a:endParaRPr lang="en-US" sz="900" dirty="0"/>
          </a:p>
        </p:txBody>
      </p:sp>
      <p:sp>
        <p:nvSpPr>
          <p:cNvPr id="22" name="Shape 20"/>
          <p:cNvSpPr/>
          <p:nvPr/>
        </p:nvSpPr>
        <p:spPr>
          <a:xfrm>
            <a:off x="5973525" y="960120"/>
            <a:ext cx="2029968" cy="3794760"/>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23" name="Shape 21"/>
          <p:cNvSpPr/>
          <p:nvPr/>
        </p:nvSpPr>
        <p:spPr>
          <a:xfrm>
            <a:off x="5973525" y="960120"/>
            <a:ext cx="2029968" cy="73152"/>
          </a:xfrm>
          <a:prstGeom prst="rect">
            <a:avLst/>
          </a:prstGeom>
          <a:solidFill>
            <a:srgbClr val="BA7517"/>
          </a:solidFill>
          <a:ln w="12700">
            <a:solidFill>
              <a:srgbClr val="BA7517"/>
            </a:solidFill>
            <a:prstDash val="solid"/>
          </a:ln>
        </p:spPr>
      </p:sp>
      <p:sp>
        <p:nvSpPr>
          <p:cNvPr id="24" name="Shape 22"/>
          <p:cNvSpPr/>
          <p:nvPr/>
        </p:nvSpPr>
        <p:spPr>
          <a:xfrm>
            <a:off x="6723333" y="1115568"/>
            <a:ext cx="530352" cy="530352"/>
          </a:xfrm>
          <a:prstGeom prst="ellipse">
            <a:avLst/>
          </a:prstGeom>
          <a:solidFill>
            <a:srgbClr val="BA7517"/>
          </a:solidFill>
          <a:ln w="12700">
            <a:solidFill>
              <a:srgbClr val="BA7517"/>
            </a:solidFill>
            <a:prstDash val="solid"/>
          </a:ln>
        </p:spPr>
      </p:sp>
      <p:sp>
        <p:nvSpPr>
          <p:cNvPr id="25" name="Text 23"/>
          <p:cNvSpPr/>
          <p:nvPr/>
        </p:nvSpPr>
        <p:spPr>
          <a:xfrm>
            <a:off x="6723333" y="1115568"/>
            <a:ext cx="530352" cy="530352"/>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7</a:t>
            </a:r>
            <a:endParaRPr lang="en-US" sz="1800" dirty="0"/>
          </a:p>
        </p:txBody>
      </p:sp>
      <p:sp>
        <p:nvSpPr>
          <p:cNvPr id="26" name="Text 24"/>
          <p:cNvSpPr/>
          <p:nvPr/>
        </p:nvSpPr>
        <p:spPr>
          <a:xfrm>
            <a:off x="6083253" y="1719072"/>
            <a:ext cx="1810512" cy="658368"/>
          </a:xfrm>
          <a:prstGeom prst="rect">
            <a:avLst/>
          </a:prstGeom>
          <a:noFill/>
          <a:ln/>
        </p:spPr>
        <p:txBody>
          <a:bodyPr wrap="square"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Daily meetings reduce productivity</a:t>
            </a:r>
            <a:endParaRPr lang="en-US" sz="1000" dirty="0"/>
          </a:p>
        </p:txBody>
      </p:sp>
      <p:sp>
        <p:nvSpPr>
          <p:cNvPr id="27" name="Shape 25"/>
          <p:cNvSpPr/>
          <p:nvPr/>
        </p:nvSpPr>
        <p:spPr>
          <a:xfrm>
            <a:off x="6339285" y="2487168"/>
            <a:ext cx="1298448" cy="0"/>
          </a:xfrm>
          <a:prstGeom prst="line">
            <a:avLst/>
          </a:prstGeom>
          <a:noFill/>
          <a:ln w="9525">
            <a:solidFill>
              <a:srgbClr val="BA7517"/>
            </a:solidFill>
            <a:prstDash val="solid"/>
          </a:ln>
        </p:spPr>
      </p:sp>
      <p:sp>
        <p:nvSpPr>
          <p:cNvPr id="28" name="Text 26"/>
          <p:cNvSpPr/>
          <p:nvPr/>
        </p:nvSpPr>
        <p:spPr>
          <a:xfrm>
            <a:off x="6083253" y="2578608"/>
            <a:ext cx="1810512" cy="2011680"/>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Daily collaboration 82.8 vs bi-weekly 85.3 — over-meeting is eroding deep work time.</a:t>
            </a:r>
            <a:endParaRPr lang="en-US" sz="900" dirty="0"/>
          </a:p>
        </p:txBody>
      </p:sp>
      <p:sp>
        <p:nvSpPr>
          <p:cNvPr id="32" name="Text 30"/>
          <p:cNvSpPr/>
          <p:nvPr/>
        </p:nvSpPr>
        <p:spPr>
          <a:xfrm>
            <a:off x="7507224" y="1115568"/>
            <a:ext cx="530352" cy="530352"/>
          </a:xfrm>
          <a:prstGeom prst="rect">
            <a:avLst/>
          </a:prstGeom>
          <a:noFill/>
          <a:ln/>
        </p:spPr>
        <p:txBody>
          <a:bodyPr wrap="square" rtlCol="0" anchor="ctr"/>
          <a:lstStyle/>
          <a:p>
            <a:pPr marL="0" indent="0" algn="ctr">
              <a:buNone/>
            </a:pP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Shape 1"/>
          <p:cNvSpPr/>
          <p:nvPr/>
        </p:nvSpPr>
        <p:spPr>
          <a:xfrm>
            <a:off x="0" y="0"/>
            <a:ext cx="109728" cy="777240"/>
          </a:xfrm>
          <a:prstGeom prst="rect">
            <a:avLst/>
          </a:prstGeom>
          <a:solidFill>
            <a:srgbClr val="1D9E75"/>
          </a:solidFill>
          <a:ln w="12700">
            <a:solidFill>
              <a:srgbClr val="1D9E75"/>
            </a:solidFill>
            <a:prstDash val="solid"/>
          </a:ln>
        </p:spPr>
      </p:sp>
      <p:sp>
        <p:nvSpPr>
          <p:cNvPr id="4" name="Text 2"/>
          <p:cNvSpPr/>
          <p:nvPr/>
        </p:nvSpPr>
        <p:spPr>
          <a:xfrm>
            <a:off x="274320" y="0"/>
            <a:ext cx="8686800" cy="777240"/>
          </a:xfrm>
          <a:prstGeom prst="rect">
            <a:avLst/>
          </a:prstGeom>
          <a:noFill/>
          <a:ln/>
        </p:spPr>
        <p:txBody>
          <a:bodyPr wrap="square" rtlCol="0" anchor="ctr"/>
          <a:lstStyle/>
          <a:p>
            <a:pPr lvl="0"/>
            <a:r>
              <a:rPr lang="en-GB" sz="2200" b="1" dirty="0">
                <a:solidFill>
                  <a:srgbClr val="FFFFFF"/>
                </a:solidFill>
                <a:latin typeface="Calibri" pitchFamily="34" charset="0"/>
                <a:ea typeface="Calibri" pitchFamily="34" charset="-122"/>
                <a:cs typeface="Calibri" pitchFamily="34" charset="-120"/>
              </a:rPr>
              <a:t>HR Actionable Insights &amp; Strategic Recommendations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274320" y="512064"/>
            <a:ext cx="8686800" cy="26517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chemeClr val="bg1"/>
                </a:solidFill>
                <a:effectLst/>
                <a:uLnTx/>
                <a:uFillTx/>
                <a:latin typeface="Calibri" pitchFamily="34" charset="0"/>
                <a:ea typeface="Calibri" pitchFamily="34" charset="-122"/>
                <a:cs typeface="Calibri" pitchFamily="34" charset="-120"/>
              </a:rPr>
              <a:t>8 evidence-based findings</a:t>
            </a:r>
            <a:endParaRPr kumimoji="0" lang="en-US" sz="95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6" name="Shape 4"/>
          <p:cNvSpPr/>
          <p:nvPr/>
        </p:nvSpPr>
        <p:spPr>
          <a:xfrm>
            <a:off x="0" y="4892040"/>
            <a:ext cx="9144000" cy="251460"/>
          </a:xfrm>
          <a:prstGeom prst="rect">
            <a:avLst/>
          </a:prstGeom>
          <a:solidFill>
            <a:srgbClr val="1E2761"/>
          </a:solidFill>
          <a:ln w="12700">
            <a:solidFill>
              <a:srgbClr val="1E2761"/>
            </a:solidFill>
            <a:prstDash val="solid"/>
          </a:ln>
        </p:spPr>
      </p:sp>
      <p:sp>
        <p:nvSpPr>
          <p:cNvPr id="7" name="Text 5"/>
          <p:cNvSpPr/>
          <p:nvPr/>
        </p:nvSpPr>
        <p:spPr>
          <a:xfrm>
            <a:off x="0" y="4892040"/>
            <a:ext cx="9144000" cy="2514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Remote Work Productivity Analysis  ·  Slide 26 of 41</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978408" y="1137138"/>
            <a:ext cx="530352" cy="50878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3154680" y="1115568"/>
            <a:ext cx="530352"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5330952" y="1115568"/>
            <a:ext cx="530352"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p:cNvSpPr/>
          <p:nvPr/>
        </p:nvSpPr>
        <p:spPr>
          <a:xfrm>
            <a:off x="7507224" y="1115568"/>
            <a:ext cx="530352"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4</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6" name="Picture 3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830" y="884092"/>
            <a:ext cx="7130562" cy="4007948"/>
          </a:xfrm>
          <a:prstGeom prst="rect">
            <a:avLst/>
          </a:prstGeom>
        </p:spPr>
      </p:pic>
    </p:spTree>
    <p:extLst>
      <p:ext uri="{BB962C8B-B14F-4D97-AF65-F5344CB8AC3E}">
        <p14:creationId xmlns:p14="http://schemas.microsoft.com/office/powerpoint/2010/main" val="22738811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Shape 1"/>
          <p:cNvSpPr/>
          <p:nvPr/>
        </p:nvSpPr>
        <p:spPr>
          <a:xfrm>
            <a:off x="0" y="0"/>
            <a:ext cx="109728" cy="777240"/>
          </a:xfrm>
          <a:prstGeom prst="rect">
            <a:avLst/>
          </a:prstGeom>
          <a:solidFill>
            <a:srgbClr val="1D9E75"/>
          </a:solidFill>
          <a:ln w="12700">
            <a:solidFill>
              <a:srgbClr val="1D9E75"/>
            </a:solidFill>
            <a:prstDash val="solid"/>
          </a:ln>
        </p:spPr>
      </p:sp>
      <p:sp>
        <p:nvSpPr>
          <p:cNvPr id="4" name="Text 2"/>
          <p:cNvSpPr/>
          <p:nvPr/>
        </p:nvSpPr>
        <p:spPr>
          <a:xfrm>
            <a:off x="274320" y="0"/>
            <a:ext cx="8686800" cy="7772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HR Actionable Insights &amp; Strategic Recommendations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274320" y="512064"/>
            <a:ext cx="8686800" cy="26517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chemeClr val="bg1"/>
                </a:solidFill>
                <a:effectLst/>
                <a:uLnTx/>
                <a:uFillTx/>
                <a:latin typeface="Calibri" pitchFamily="34" charset="0"/>
                <a:ea typeface="Calibri" pitchFamily="34" charset="-122"/>
                <a:cs typeface="Calibri" pitchFamily="34" charset="-120"/>
              </a:rPr>
              <a:t>8 evidence-based findings</a:t>
            </a:r>
            <a:endParaRPr kumimoji="0" lang="en-US" sz="95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6" name="Shape 4"/>
          <p:cNvSpPr/>
          <p:nvPr/>
        </p:nvSpPr>
        <p:spPr>
          <a:xfrm>
            <a:off x="0" y="4892040"/>
            <a:ext cx="9144000" cy="251460"/>
          </a:xfrm>
          <a:prstGeom prst="rect">
            <a:avLst/>
          </a:prstGeom>
          <a:solidFill>
            <a:srgbClr val="1E2761"/>
          </a:solidFill>
          <a:ln w="12700">
            <a:solidFill>
              <a:srgbClr val="1E2761"/>
            </a:solidFill>
            <a:prstDash val="solid"/>
          </a:ln>
        </p:spPr>
      </p:sp>
      <p:sp>
        <p:nvSpPr>
          <p:cNvPr id="7" name="Text 5"/>
          <p:cNvSpPr/>
          <p:nvPr/>
        </p:nvSpPr>
        <p:spPr>
          <a:xfrm>
            <a:off x="0" y="4892040"/>
            <a:ext cx="9144000" cy="2514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Remote Work Productivity Analysis  ·  Slide 27 of 41</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978408" y="1137138"/>
            <a:ext cx="530352" cy="50878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3154680" y="1115568"/>
            <a:ext cx="530352"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5330952" y="1115568"/>
            <a:ext cx="530352"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p:cNvSpPr/>
          <p:nvPr/>
        </p:nvSpPr>
        <p:spPr>
          <a:xfrm>
            <a:off x="7507224" y="1115568"/>
            <a:ext cx="530352"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4</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4647" y="834683"/>
            <a:ext cx="7088114" cy="3999914"/>
          </a:xfrm>
          <a:prstGeom prst="rect">
            <a:avLst/>
          </a:prstGeom>
        </p:spPr>
      </p:pic>
    </p:spTree>
    <p:extLst>
      <p:ext uri="{BB962C8B-B14F-4D97-AF65-F5344CB8AC3E}">
        <p14:creationId xmlns:p14="http://schemas.microsoft.com/office/powerpoint/2010/main" val="41888835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Shape 1"/>
          <p:cNvSpPr/>
          <p:nvPr/>
        </p:nvSpPr>
        <p:spPr>
          <a:xfrm>
            <a:off x="0" y="0"/>
            <a:ext cx="109728" cy="777240"/>
          </a:xfrm>
          <a:prstGeom prst="rect">
            <a:avLst/>
          </a:prstGeom>
          <a:solidFill>
            <a:srgbClr val="1D9E75"/>
          </a:solidFill>
          <a:ln w="12700">
            <a:solidFill>
              <a:srgbClr val="1D9E75"/>
            </a:solidFill>
            <a:prstDash val="solid"/>
          </a:ln>
        </p:spPr>
      </p:sp>
      <p:sp>
        <p:nvSpPr>
          <p:cNvPr id="4" name="Text 2"/>
          <p:cNvSpPr/>
          <p:nvPr/>
        </p:nvSpPr>
        <p:spPr>
          <a:xfrm>
            <a:off x="274320" y="0"/>
            <a:ext cx="8686800" cy="7772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HR Actionable Insights &amp; Strategic Recommendations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274320" y="512064"/>
            <a:ext cx="8686800" cy="26517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chemeClr val="bg1"/>
                </a:solidFill>
                <a:effectLst/>
                <a:uLnTx/>
                <a:uFillTx/>
                <a:latin typeface="Calibri" pitchFamily="34" charset="0"/>
                <a:ea typeface="Calibri" pitchFamily="34" charset="-122"/>
                <a:cs typeface="Calibri" pitchFamily="34" charset="-120"/>
              </a:rPr>
              <a:t>8 evidence-based findings</a:t>
            </a:r>
            <a:endParaRPr kumimoji="0" lang="en-US" sz="95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6" name="Shape 4"/>
          <p:cNvSpPr/>
          <p:nvPr/>
        </p:nvSpPr>
        <p:spPr>
          <a:xfrm>
            <a:off x="0" y="4892040"/>
            <a:ext cx="9144000" cy="251460"/>
          </a:xfrm>
          <a:prstGeom prst="rect">
            <a:avLst/>
          </a:prstGeom>
          <a:solidFill>
            <a:srgbClr val="1E2761"/>
          </a:solidFill>
          <a:ln w="12700">
            <a:solidFill>
              <a:srgbClr val="1E2761"/>
            </a:solidFill>
            <a:prstDash val="solid"/>
          </a:ln>
        </p:spPr>
      </p:sp>
      <p:sp>
        <p:nvSpPr>
          <p:cNvPr id="7" name="Text 5"/>
          <p:cNvSpPr/>
          <p:nvPr/>
        </p:nvSpPr>
        <p:spPr>
          <a:xfrm>
            <a:off x="0" y="4892040"/>
            <a:ext cx="9144000" cy="2514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Remote Work Productivity Analysis  ·  Slide 28 of 41</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978408" y="1137138"/>
            <a:ext cx="530352" cy="50878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3154680" y="1115568"/>
            <a:ext cx="530352"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5330952" y="1115568"/>
            <a:ext cx="530352"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p:cNvSpPr/>
          <p:nvPr/>
        </p:nvSpPr>
        <p:spPr>
          <a:xfrm>
            <a:off x="7507224" y="1115568"/>
            <a:ext cx="530352"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4</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3584" y="799514"/>
            <a:ext cx="6349133" cy="4070252"/>
          </a:xfrm>
          <a:prstGeom prst="rect">
            <a:avLst/>
          </a:prstGeom>
        </p:spPr>
      </p:pic>
    </p:spTree>
    <p:extLst>
      <p:ext uri="{BB962C8B-B14F-4D97-AF65-F5344CB8AC3E}">
        <p14:creationId xmlns:p14="http://schemas.microsoft.com/office/powerpoint/2010/main" val="5868246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Shape 1"/>
          <p:cNvSpPr/>
          <p:nvPr/>
        </p:nvSpPr>
        <p:spPr>
          <a:xfrm>
            <a:off x="0" y="0"/>
            <a:ext cx="109728" cy="777240"/>
          </a:xfrm>
          <a:prstGeom prst="rect">
            <a:avLst/>
          </a:prstGeom>
          <a:solidFill>
            <a:srgbClr val="1D9E75"/>
          </a:solidFill>
          <a:ln w="12700">
            <a:solidFill>
              <a:srgbClr val="1D9E75"/>
            </a:solidFill>
            <a:prstDash val="solid"/>
          </a:ln>
        </p:spPr>
      </p:sp>
      <p:sp>
        <p:nvSpPr>
          <p:cNvPr id="4" name="Text 2"/>
          <p:cNvSpPr/>
          <p:nvPr/>
        </p:nvSpPr>
        <p:spPr>
          <a:xfrm>
            <a:off x="274320" y="0"/>
            <a:ext cx="8686800" cy="7772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HR Actionable Insights &amp; Strategic Recommendations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274320" y="512064"/>
            <a:ext cx="8686800" cy="26517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chemeClr val="bg1"/>
                </a:solidFill>
                <a:effectLst/>
                <a:uLnTx/>
                <a:uFillTx/>
                <a:latin typeface="Calibri" pitchFamily="34" charset="0"/>
                <a:ea typeface="Calibri" pitchFamily="34" charset="-122"/>
                <a:cs typeface="Calibri" pitchFamily="34" charset="-120"/>
              </a:rPr>
              <a:t>8 evidence-based findings</a:t>
            </a:r>
            <a:endParaRPr kumimoji="0" lang="en-US" sz="95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6" name="Shape 4"/>
          <p:cNvSpPr/>
          <p:nvPr/>
        </p:nvSpPr>
        <p:spPr>
          <a:xfrm>
            <a:off x="0" y="4892040"/>
            <a:ext cx="9144000" cy="251460"/>
          </a:xfrm>
          <a:prstGeom prst="rect">
            <a:avLst/>
          </a:prstGeom>
          <a:solidFill>
            <a:srgbClr val="1E2761"/>
          </a:solidFill>
          <a:ln w="12700">
            <a:solidFill>
              <a:srgbClr val="1E2761"/>
            </a:solidFill>
            <a:prstDash val="solid"/>
          </a:ln>
        </p:spPr>
      </p:sp>
      <p:sp>
        <p:nvSpPr>
          <p:cNvPr id="7" name="Text 5"/>
          <p:cNvSpPr/>
          <p:nvPr/>
        </p:nvSpPr>
        <p:spPr>
          <a:xfrm>
            <a:off x="0" y="4892040"/>
            <a:ext cx="9144000" cy="2514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Remote Work Productivity Analysis  ·  Slide 29 of 41</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978408" y="1137138"/>
            <a:ext cx="530352" cy="50878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3154680" y="1115568"/>
            <a:ext cx="530352"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5330952" y="1115568"/>
            <a:ext cx="530352"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p:cNvSpPr/>
          <p:nvPr/>
        </p:nvSpPr>
        <p:spPr>
          <a:xfrm>
            <a:off x="7507224" y="1115568"/>
            <a:ext cx="530352"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4</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64987" y="777240"/>
            <a:ext cx="6142237" cy="4114800"/>
          </a:xfrm>
          <a:prstGeom prst="rect">
            <a:avLst/>
          </a:prstGeom>
        </p:spPr>
      </p:pic>
    </p:spTree>
    <p:extLst>
      <p:ext uri="{BB962C8B-B14F-4D97-AF65-F5344CB8AC3E}">
        <p14:creationId xmlns:p14="http://schemas.microsoft.com/office/powerpoint/2010/main" val="5010098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Shape 1"/>
          <p:cNvSpPr/>
          <p:nvPr/>
        </p:nvSpPr>
        <p:spPr>
          <a:xfrm>
            <a:off x="0" y="0"/>
            <a:ext cx="109728" cy="777240"/>
          </a:xfrm>
          <a:prstGeom prst="rect">
            <a:avLst/>
          </a:prstGeom>
          <a:solidFill>
            <a:srgbClr val="1D9E75"/>
          </a:solidFill>
          <a:ln w="12700">
            <a:solidFill>
              <a:srgbClr val="1D9E75"/>
            </a:solidFill>
            <a:prstDash val="solid"/>
          </a:ln>
        </p:spPr>
      </p:sp>
      <p:sp>
        <p:nvSpPr>
          <p:cNvPr id="4" name="Text 2"/>
          <p:cNvSpPr/>
          <p:nvPr/>
        </p:nvSpPr>
        <p:spPr>
          <a:xfrm>
            <a:off x="274320" y="0"/>
            <a:ext cx="8686800" cy="7772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HR Actionable Insights &amp; Strategic Recommendations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274320" y="512064"/>
            <a:ext cx="8686800" cy="26517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chemeClr val="bg1"/>
                </a:solidFill>
                <a:effectLst/>
                <a:uLnTx/>
                <a:uFillTx/>
                <a:latin typeface="Calibri" pitchFamily="34" charset="0"/>
                <a:ea typeface="Calibri" pitchFamily="34" charset="-122"/>
                <a:cs typeface="Calibri" pitchFamily="34" charset="-120"/>
              </a:rPr>
              <a:t>8 evidence-based findings</a:t>
            </a:r>
            <a:endParaRPr kumimoji="0" lang="en-US" sz="95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6" name="Shape 4"/>
          <p:cNvSpPr/>
          <p:nvPr/>
        </p:nvSpPr>
        <p:spPr>
          <a:xfrm>
            <a:off x="0" y="4892040"/>
            <a:ext cx="9144000" cy="251460"/>
          </a:xfrm>
          <a:prstGeom prst="rect">
            <a:avLst/>
          </a:prstGeom>
          <a:solidFill>
            <a:srgbClr val="1E2761"/>
          </a:solidFill>
          <a:ln w="12700">
            <a:solidFill>
              <a:srgbClr val="1E2761"/>
            </a:solidFill>
            <a:prstDash val="solid"/>
          </a:ln>
        </p:spPr>
      </p:sp>
      <p:sp>
        <p:nvSpPr>
          <p:cNvPr id="7" name="Text 5"/>
          <p:cNvSpPr/>
          <p:nvPr/>
        </p:nvSpPr>
        <p:spPr>
          <a:xfrm>
            <a:off x="0" y="4892040"/>
            <a:ext cx="9144000" cy="2514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Remote Work Productivity Analysis  ·  Slide </a:t>
            </a:r>
            <a:r>
              <a:rPr lang="en-US" sz="800" dirty="0">
                <a:solidFill>
                  <a:srgbClr val="94A3B8"/>
                </a:solidFill>
                <a:latin typeface="Calibri" pitchFamily="34" charset="0"/>
                <a:ea typeface="Calibri" pitchFamily="34" charset="-122"/>
                <a:cs typeface="Calibri" pitchFamily="34" charset="-120"/>
              </a:rPr>
              <a:t>30</a:t>
            </a:r>
            <a:r>
              <a:rPr kumimoji="0" lang="en-US" sz="8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 of 41</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978408" y="1137138"/>
            <a:ext cx="530352" cy="50878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3154680" y="1115568"/>
            <a:ext cx="530352"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5330952" y="1115568"/>
            <a:ext cx="530352"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p:cNvSpPr/>
          <p:nvPr/>
        </p:nvSpPr>
        <p:spPr>
          <a:xfrm>
            <a:off x="7507224" y="1115568"/>
            <a:ext cx="530352"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4</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89185" y="777240"/>
            <a:ext cx="6261398" cy="4114800"/>
          </a:xfrm>
          <a:prstGeom prst="rect">
            <a:avLst/>
          </a:prstGeom>
        </p:spPr>
      </p:pic>
    </p:spTree>
    <p:extLst>
      <p:ext uri="{BB962C8B-B14F-4D97-AF65-F5344CB8AC3E}">
        <p14:creationId xmlns:p14="http://schemas.microsoft.com/office/powerpoint/2010/main" val="41982944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Shape 1"/>
          <p:cNvSpPr/>
          <p:nvPr/>
        </p:nvSpPr>
        <p:spPr>
          <a:xfrm>
            <a:off x="0" y="0"/>
            <a:ext cx="109728" cy="777240"/>
          </a:xfrm>
          <a:prstGeom prst="rect">
            <a:avLst/>
          </a:prstGeom>
          <a:solidFill>
            <a:srgbClr val="1D9E75"/>
          </a:solidFill>
          <a:ln w="12700">
            <a:solidFill>
              <a:srgbClr val="1D9E75"/>
            </a:solidFill>
            <a:prstDash val="solid"/>
          </a:ln>
        </p:spPr>
      </p:sp>
      <p:sp>
        <p:nvSpPr>
          <p:cNvPr id="4" name="Text 2"/>
          <p:cNvSpPr/>
          <p:nvPr/>
        </p:nvSpPr>
        <p:spPr>
          <a:xfrm>
            <a:off x="274320" y="0"/>
            <a:ext cx="8686800" cy="7772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HR Actionable Insights &amp; Strategic Recommendations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274320" y="512064"/>
            <a:ext cx="8686800" cy="26517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chemeClr val="bg1"/>
                </a:solidFill>
                <a:effectLst/>
                <a:uLnTx/>
                <a:uFillTx/>
                <a:latin typeface="Calibri" pitchFamily="34" charset="0"/>
                <a:ea typeface="Calibri" pitchFamily="34" charset="-122"/>
                <a:cs typeface="Calibri" pitchFamily="34" charset="-120"/>
              </a:rPr>
              <a:t>8 evidence-based findings</a:t>
            </a:r>
            <a:endParaRPr kumimoji="0" lang="en-US" sz="95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6" name="Shape 4"/>
          <p:cNvSpPr/>
          <p:nvPr/>
        </p:nvSpPr>
        <p:spPr>
          <a:xfrm>
            <a:off x="0" y="4892040"/>
            <a:ext cx="9144000" cy="251460"/>
          </a:xfrm>
          <a:prstGeom prst="rect">
            <a:avLst/>
          </a:prstGeom>
          <a:solidFill>
            <a:srgbClr val="1E2761"/>
          </a:solidFill>
          <a:ln w="12700">
            <a:solidFill>
              <a:srgbClr val="1E2761"/>
            </a:solidFill>
            <a:prstDash val="solid"/>
          </a:ln>
        </p:spPr>
      </p:sp>
      <p:sp>
        <p:nvSpPr>
          <p:cNvPr id="7" name="Text 5"/>
          <p:cNvSpPr/>
          <p:nvPr/>
        </p:nvSpPr>
        <p:spPr>
          <a:xfrm>
            <a:off x="0" y="4892040"/>
            <a:ext cx="9144000" cy="2514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Remote Work Productivity Analysis  ·  Slide 31 of 41</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978408" y="1137138"/>
            <a:ext cx="530352" cy="50878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3154680" y="1115568"/>
            <a:ext cx="530352"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5330952" y="1115568"/>
            <a:ext cx="530352"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p:cNvSpPr/>
          <p:nvPr/>
        </p:nvSpPr>
        <p:spPr>
          <a:xfrm>
            <a:off x="7507224" y="1115568"/>
            <a:ext cx="530352" cy="53035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4</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408" y="777240"/>
            <a:ext cx="7054931" cy="4114800"/>
          </a:xfrm>
          <a:prstGeom prst="rect">
            <a:avLst/>
          </a:prstGeom>
        </p:spPr>
      </p:pic>
    </p:spTree>
    <p:extLst>
      <p:ext uri="{BB962C8B-B14F-4D97-AF65-F5344CB8AC3E}">
        <p14:creationId xmlns:p14="http://schemas.microsoft.com/office/powerpoint/2010/main" val="39644516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7">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Shape 1"/>
          <p:cNvSpPr/>
          <p:nvPr/>
        </p:nvSpPr>
        <p:spPr>
          <a:xfrm>
            <a:off x="0" y="0"/>
            <a:ext cx="109728" cy="777240"/>
          </a:xfrm>
          <a:prstGeom prst="rect">
            <a:avLst/>
          </a:prstGeom>
          <a:solidFill>
            <a:srgbClr val="1D9E75"/>
          </a:solidFill>
          <a:ln w="12700">
            <a:solidFill>
              <a:srgbClr val="1D9E75"/>
            </a:solidFill>
            <a:prstDash val="solid"/>
          </a:ln>
        </p:spPr>
      </p:sp>
      <p:sp>
        <p:nvSpPr>
          <p:cNvPr id="4" name="Text 2"/>
          <p:cNvSpPr/>
          <p:nvPr/>
        </p:nvSpPr>
        <p:spPr>
          <a:xfrm>
            <a:off x="274320" y="0"/>
            <a:ext cx="8686800" cy="7772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Performance Drivers</a:t>
            </a:r>
            <a:endParaRPr lang="en-US" sz="2200" dirty="0"/>
          </a:p>
        </p:txBody>
      </p:sp>
      <p:sp>
        <p:nvSpPr>
          <p:cNvPr id="5" name="Text 3"/>
          <p:cNvSpPr/>
          <p:nvPr/>
        </p:nvSpPr>
        <p:spPr>
          <a:xfrm>
            <a:off x="274320" y="512064"/>
            <a:ext cx="8686800" cy="265176"/>
          </a:xfrm>
          <a:prstGeom prst="rect">
            <a:avLst/>
          </a:prstGeom>
          <a:noFill/>
          <a:ln/>
        </p:spPr>
        <p:txBody>
          <a:bodyPr wrap="square" rtlCol="0" anchor="ctr"/>
          <a:lstStyle/>
          <a:p>
            <a:pPr marL="0" indent="0">
              <a:buNone/>
            </a:pPr>
            <a:r>
              <a:rPr lang="en-US" sz="950" b="1" dirty="0">
                <a:solidFill>
                  <a:schemeClr val="bg1"/>
                </a:solidFill>
                <a:latin typeface="Calibri" pitchFamily="34" charset="0"/>
                <a:ea typeface="Calibri" pitchFamily="34" charset="-122"/>
                <a:cs typeface="Calibri" pitchFamily="34" charset="-120"/>
              </a:rPr>
              <a:t>Correlation analysis — what actually moves the productivity needle</a:t>
            </a:r>
            <a:endParaRPr lang="en-US" sz="950" b="1" dirty="0">
              <a:solidFill>
                <a:schemeClr val="bg1"/>
              </a:solidFill>
            </a:endParaRPr>
          </a:p>
        </p:txBody>
      </p:sp>
      <p:sp>
        <p:nvSpPr>
          <p:cNvPr id="6" name="Shape 4"/>
          <p:cNvSpPr/>
          <p:nvPr/>
        </p:nvSpPr>
        <p:spPr>
          <a:xfrm>
            <a:off x="0" y="4892040"/>
            <a:ext cx="9144000" cy="251460"/>
          </a:xfrm>
          <a:prstGeom prst="rect">
            <a:avLst/>
          </a:prstGeom>
          <a:solidFill>
            <a:srgbClr val="1E2761"/>
          </a:solidFill>
          <a:ln w="12700">
            <a:solidFill>
              <a:srgbClr val="1E2761"/>
            </a:solidFill>
            <a:prstDash val="solid"/>
          </a:ln>
        </p:spPr>
      </p:sp>
      <p:sp>
        <p:nvSpPr>
          <p:cNvPr id="7" name="Text 5"/>
          <p:cNvSpPr/>
          <p:nvPr/>
        </p:nvSpPr>
        <p:spPr>
          <a:xfrm>
            <a:off x="0" y="4892040"/>
            <a:ext cx="9144000" cy="251460"/>
          </a:xfrm>
          <a:prstGeom prst="rect">
            <a:avLst/>
          </a:prstGeom>
          <a:noFill/>
          <a:ln/>
        </p:spPr>
        <p:txBody>
          <a:bodyPr wrap="square"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Remote Work Productivity Analysis  ·  Slide 32 of 41</a:t>
            </a:r>
            <a:endParaRPr lang="en-US" sz="800" dirty="0"/>
          </a:p>
        </p:txBody>
      </p:sp>
      <p:sp>
        <p:nvSpPr>
          <p:cNvPr id="8" name="Text 6"/>
          <p:cNvSpPr/>
          <p:nvPr/>
        </p:nvSpPr>
        <p:spPr>
          <a:xfrm>
            <a:off x="274320" y="914400"/>
            <a:ext cx="4114800" cy="274320"/>
          </a:xfrm>
          <a:prstGeom prst="rect">
            <a:avLst/>
          </a:prstGeom>
          <a:noFill/>
          <a:ln/>
        </p:spPr>
        <p:txBody>
          <a:bodyPr wrap="square"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Manager Support Impact</a:t>
            </a:r>
            <a:endParaRPr lang="en-US" sz="1100" dirty="0"/>
          </a:p>
        </p:txBody>
      </p:sp>
      <p:graphicFrame>
        <p:nvGraphicFramePr>
          <p:cNvPr id="9" name="Chart 0"/>
          <p:cNvGraphicFramePr/>
          <p:nvPr/>
        </p:nvGraphicFramePr>
        <p:xfrm>
          <a:off x="274320" y="1188720"/>
          <a:ext cx="411480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7"/>
          <p:cNvSpPr/>
          <p:nvPr/>
        </p:nvSpPr>
        <p:spPr>
          <a:xfrm>
            <a:off x="4663440" y="914400"/>
            <a:ext cx="4206240" cy="274320"/>
          </a:xfrm>
          <a:prstGeom prst="rect">
            <a:avLst/>
          </a:prstGeom>
          <a:noFill/>
          <a:ln/>
        </p:spPr>
        <p:txBody>
          <a:bodyPr wrap="square"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Variable Correlation with Productivity</a:t>
            </a:r>
            <a:endParaRPr lang="en-US" sz="1100" dirty="0"/>
          </a:p>
        </p:txBody>
      </p:sp>
      <p:graphicFrame>
        <p:nvGraphicFramePr>
          <p:cNvPr id="11" name="Chart 1"/>
          <p:cNvGraphicFramePr/>
          <p:nvPr/>
        </p:nvGraphicFramePr>
        <p:xfrm>
          <a:off x="4663440" y="1188720"/>
          <a:ext cx="4206240" cy="292608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8">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Shape 1"/>
          <p:cNvSpPr/>
          <p:nvPr/>
        </p:nvSpPr>
        <p:spPr>
          <a:xfrm>
            <a:off x="0" y="0"/>
            <a:ext cx="109728" cy="777240"/>
          </a:xfrm>
          <a:prstGeom prst="rect">
            <a:avLst/>
          </a:prstGeom>
          <a:solidFill>
            <a:srgbClr val="1D9E75"/>
          </a:solidFill>
          <a:ln w="12700">
            <a:solidFill>
              <a:srgbClr val="1D9E75"/>
            </a:solidFill>
            <a:prstDash val="solid"/>
          </a:ln>
        </p:spPr>
      </p:sp>
      <p:sp>
        <p:nvSpPr>
          <p:cNvPr id="4" name="Text 2"/>
          <p:cNvSpPr/>
          <p:nvPr/>
        </p:nvSpPr>
        <p:spPr>
          <a:xfrm>
            <a:off x="274320" y="0"/>
            <a:ext cx="8686800" cy="7772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Business Question Answered — BQ1</a:t>
            </a:r>
            <a:endParaRPr lang="en-US" sz="2200" dirty="0"/>
          </a:p>
        </p:txBody>
      </p:sp>
      <p:sp>
        <p:nvSpPr>
          <p:cNvPr id="5" name="Text 3"/>
          <p:cNvSpPr/>
          <p:nvPr/>
        </p:nvSpPr>
        <p:spPr>
          <a:xfrm>
            <a:off x="274320" y="512064"/>
            <a:ext cx="8686800" cy="265176"/>
          </a:xfrm>
          <a:prstGeom prst="rect">
            <a:avLst/>
          </a:prstGeom>
          <a:noFill/>
          <a:ln/>
        </p:spPr>
        <p:txBody>
          <a:bodyPr wrap="square" rtlCol="0" anchor="ctr"/>
          <a:lstStyle/>
          <a:p>
            <a:pPr marL="0" indent="0">
              <a:buNone/>
            </a:pPr>
            <a:r>
              <a:rPr lang="en-US" sz="950" b="1" dirty="0">
                <a:solidFill>
                  <a:schemeClr val="bg1"/>
                </a:solidFill>
                <a:latin typeface="Calibri" pitchFamily="34" charset="0"/>
                <a:ea typeface="Calibri" pitchFamily="34" charset="-122"/>
                <a:cs typeface="Calibri" pitchFamily="34" charset="-120"/>
              </a:rPr>
              <a:t>Does WFH frequency affect productivity? Is there an optimal hybrid arrangement?</a:t>
            </a:r>
            <a:endParaRPr lang="en-US" sz="950" b="1" dirty="0">
              <a:solidFill>
                <a:schemeClr val="bg1"/>
              </a:solidFill>
            </a:endParaRPr>
          </a:p>
        </p:txBody>
      </p:sp>
      <p:sp>
        <p:nvSpPr>
          <p:cNvPr id="6" name="Shape 4"/>
          <p:cNvSpPr/>
          <p:nvPr/>
        </p:nvSpPr>
        <p:spPr>
          <a:xfrm>
            <a:off x="0" y="4892040"/>
            <a:ext cx="9144000" cy="251460"/>
          </a:xfrm>
          <a:prstGeom prst="rect">
            <a:avLst/>
          </a:prstGeom>
          <a:solidFill>
            <a:srgbClr val="1E2761"/>
          </a:solidFill>
          <a:ln w="12700">
            <a:solidFill>
              <a:srgbClr val="1E2761"/>
            </a:solidFill>
            <a:prstDash val="solid"/>
          </a:ln>
        </p:spPr>
      </p:sp>
      <p:sp>
        <p:nvSpPr>
          <p:cNvPr id="7" name="Text 5"/>
          <p:cNvSpPr/>
          <p:nvPr/>
        </p:nvSpPr>
        <p:spPr>
          <a:xfrm>
            <a:off x="0" y="4892040"/>
            <a:ext cx="9144000" cy="251460"/>
          </a:xfrm>
          <a:prstGeom prst="rect">
            <a:avLst/>
          </a:prstGeom>
          <a:noFill/>
          <a:ln/>
        </p:spPr>
        <p:txBody>
          <a:bodyPr wrap="square"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Remote Work Productivity Analysis  ·  Slide 33 of 41</a:t>
            </a:r>
            <a:endParaRPr lang="en-US" sz="800" dirty="0"/>
          </a:p>
        </p:txBody>
      </p:sp>
      <p:sp>
        <p:nvSpPr>
          <p:cNvPr id="8" name="Shape 6"/>
          <p:cNvSpPr/>
          <p:nvPr/>
        </p:nvSpPr>
        <p:spPr>
          <a:xfrm>
            <a:off x="228600" y="932688"/>
            <a:ext cx="8686800" cy="566928"/>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9" name="Shape 7"/>
          <p:cNvSpPr/>
          <p:nvPr/>
        </p:nvSpPr>
        <p:spPr>
          <a:xfrm>
            <a:off x="228600" y="932688"/>
            <a:ext cx="8686800" cy="54864"/>
          </a:xfrm>
          <a:prstGeom prst="rect">
            <a:avLst/>
          </a:prstGeom>
          <a:solidFill>
            <a:srgbClr val="185FA5"/>
          </a:solidFill>
          <a:ln w="12700">
            <a:solidFill>
              <a:srgbClr val="185FA5"/>
            </a:solidFill>
            <a:prstDash val="solid"/>
          </a:ln>
        </p:spPr>
      </p:sp>
      <p:sp>
        <p:nvSpPr>
          <p:cNvPr id="10" name="Text 8"/>
          <p:cNvSpPr/>
          <p:nvPr/>
        </p:nvSpPr>
        <p:spPr>
          <a:xfrm>
            <a:off x="347472" y="1005840"/>
            <a:ext cx="1371600" cy="201168"/>
          </a:xfrm>
          <a:prstGeom prst="rect">
            <a:avLst/>
          </a:prstGeom>
          <a:noFill/>
          <a:ln/>
        </p:spPr>
        <p:txBody>
          <a:bodyPr wrap="square" rtlCol="0" anchor="ctr"/>
          <a:lstStyle/>
          <a:p>
            <a:pPr marL="0" indent="0">
              <a:buNone/>
            </a:pPr>
            <a:r>
              <a:rPr lang="en-US" sz="800" b="1" dirty="0">
                <a:solidFill>
                  <a:srgbClr val="185FA5"/>
                </a:solidFill>
                <a:latin typeface="Calibri" pitchFamily="34" charset="0"/>
                <a:ea typeface="Calibri" pitchFamily="34" charset="-122"/>
                <a:cs typeface="Calibri" pitchFamily="34" charset="-120"/>
              </a:rPr>
              <a:t>❓  QUESTION</a:t>
            </a:r>
            <a:endParaRPr lang="en-US" sz="800" dirty="0"/>
          </a:p>
        </p:txBody>
      </p:sp>
      <p:sp>
        <p:nvSpPr>
          <p:cNvPr id="11" name="Text 9"/>
          <p:cNvSpPr/>
          <p:nvPr/>
        </p:nvSpPr>
        <p:spPr>
          <a:xfrm>
            <a:off x="347472" y="1188720"/>
            <a:ext cx="8321040" cy="256032"/>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Does WFH frequency affect productivity? Is there an optimal hybrid arrangement?</a:t>
            </a:r>
            <a:endParaRPr lang="en-US" sz="1000" dirty="0"/>
          </a:p>
        </p:txBody>
      </p:sp>
      <p:sp>
        <p:nvSpPr>
          <p:cNvPr id="12" name="Shape 10"/>
          <p:cNvSpPr/>
          <p:nvPr/>
        </p:nvSpPr>
        <p:spPr>
          <a:xfrm>
            <a:off x="228600" y="1627632"/>
            <a:ext cx="8686800" cy="548640"/>
          </a:xfrm>
          <a:prstGeom prst="rect">
            <a:avLst/>
          </a:prstGeom>
          <a:solidFill>
            <a:srgbClr val="EBF5FF"/>
          </a:solidFill>
          <a:ln w="6350">
            <a:solidFill>
              <a:srgbClr val="D1D9EE"/>
            </a:solidFill>
            <a:prstDash val="solid"/>
          </a:ln>
          <a:effectLst>
            <a:outerShdw blurRad="101600" dist="25400" dir="8100000" algn="bl" rotWithShape="0">
              <a:srgbClr val="000000">
                <a:alpha val="10000"/>
              </a:srgbClr>
            </a:outerShdw>
          </a:effectLst>
        </p:spPr>
      </p:sp>
      <p:sp>
        <p:nvSpPr>
          <p:cNvPr id="13" name="Shape 11"/>
          <p:cNvSpPr/>
          <p:nvPr/>
        </p:nvSpPr>
        <p:spPr>
          <a:xfrm>
            <a:off x="228600" y="1627632"/>
            <a:ext cx="73152" cy="548640"/>
          </a:xfrm>
          <a:prstGeom prst="rect">
            <a:avLst/>
          </a:prstGeom>
          <a:solidFill>
            <a:srgbClr val="185FA5"/>
          </a:solidFill>
          <a:ln w="12700">
            <a:solidFill>
              <a:srgbClr val="185FA5"/>
            </a:solidFill>
            <a:prstDash val="solid"/>
          </a:ln>
        </p:spPr>
      </p:sp>
      <p:sp>
        <p:nvSpPr>
          <p:cNvPr id="14" name="Text 12"/>
          <p:cNvSpPr/>
          <p:nvPr/>
        </p:nvSpPr>
        <p:spPr>
          <a:xfrm>
            <a:off x="384048" y="1682496"/>
            <a:ext cx="1463040" cy="201168"/>
          </a:xfrm>
          <a:prstGeom prst="rect">
            <a:avLst/>
          </a:prstGeom>
          <a:noFill/>
          <a:ln/>
        </p:spPr>
        <p:txBody>
          <a:bodyPr wrap="square" rtlCol="0" anchor="ctr"/>
          <a:lstStyle/>
          <a:p>
            <a:pPr marL="0" indent="0">
              <a:buNone/>
            </a:pPr>
            <a:r>
              <a:rPr lang="en-US" sz="800" b="1" dirty="0">
                <a:solidFill>
                  <a:srgbClr val="185FA5"/>
                </a:solidFill>
                <a:latin typeface="Calibri" pitchFamily="34" charset="0"/>
                <a:ea typeface="Calibri" pitchFamily="34" charset="-122"/>
                <a:cs typeface="Calibri" pitchFamily="34" charset="-120"/>
              </a:rPr>
              <a:t>DATA EVIDENCE</a:t>
            </a:r>
            <a:endParaRPr lang="en-US" sz="800" dirty="0"/>
          </a:p>
        </p:txBody>
      </p:sp>
      <p:sp>
        <p:nvSpPr>
          <p:cNvPr id="15" name="Text 13"/>
          <p:cNvSpPr/>
          <p:nvPr/>
        </p:nvSpPr>
        <p:spPr>
          <a:xfrm>
            <a:off x="384048" y="1883664"/>
            <a:ext cx="8229600" cy="237744"/>
          </a:xfrm>
          <a:prstGeom prst="rect">
            <a:avLst/>
          </a:prstGeom>
          <a:noFill/>
          <a:ln/>
        </p:spPr>
        <p:txBody>
          <a:bodyPr wrap="square"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0 days: 80.9  ·  1 day: 81.4  ·  2 days: 85.1 ★  ·  3 days: 84.4  ·  4 days: 82.2  ·  5 days: 83.2</a:t>
            </a:r>
            <a:endParaRPr lang="en-US" sz="950" dirty="0"/>
          </a:p>
        </p:txBody>
      </p:sp>
      <p:sp>
        <p:nvSpPr>
          <p:cNvPr id="16" name="Shape 14"/>
          <p:cNvSpPr/>
          <p:nvPr/>
        </p:nvSpPr>
        <p:spPr>
          <a:xfrm>
            <a:off x="228600" y="2304288"/>
            <a:ext cx="4206240" cy="1508760"/>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17" name="Shape 15"/>
          <p:cNvSpPr/>
          <p:nvPr/>
        </p:nvSpPr>
        <p:spPr>
          <a:xfrm>
            <a:off x="228600" y="2304288"/>
            <a:ext cx="4206240" cy="54864"/>
          </a:xfrm>
          <a:prstGeom prst="rect">
            <a:avLst/>
          </a:prstGeom>
          <a:solidFill>
            <a:srgbClr val="185FA5"/>
          </a:solidFill>
          <a:ln w="12700">
            <a:solidFill>
              <a:srgbClr val="185FA5"/>
            </a:solidFill>
            <a:prstDash val="solid"/>
          </a:ln>
        </p:spPr>
      </p:sp>
      <p:sp>
        <p:nvSpPr>
          <p:cNvPr id="18" name="Text 16"/>
          <p:cNvSpPr/>
          <p:nvPr/>
        </p:nvSpPr>
        <p:spPr>
          <a:xfrm>
            <a:off x="347472" y="2395728"/>
            <a:ext cx="3968496" cy="237744"/>
          </a:xfrm>
          <a:prstGeom prst="rect">
            <a:avLst/>
          </a:prstGeom>
          <a:noFill/>
          <a:ln/>
        </p:spPr>
        <p:txBody>
          <a:bodyPr wrap="square" rtlCol="0" anchor="ctr"/>
          <a:lstStyle/>
          <a:p>
            <a:pPr marL="0" indent="0">
              <a:buNone/>
            </a:pPr>
            <a:r>
              <a:rPr lang="en-US" sz="900" b="1" dirty="0">
                <a:solidFill>
                  <a:srgbClr val="185FA5"/>
                </a:solidFill>
                <a:latin typeface="Calibri" pitchFamily="34" charset="0"/>
                <a:ea typeface="Calibri" pitchFamily="34" charset="-122"/>
                <a:cs typeface="Calibri" pitchFamily="34" charset="-120"/>
              </a:rPr>
              <a:t>ANALYSIS</a:t>
            </a:r>
            <a:endParaRPr lang="en-US" sz="900" dirty="0"/>
          </a:p>
        </p:txBody>
      </p:sp>
      <p:sp>
        <p:nvSpPr>
          <p:cNvPr id="19" name="Text 17"/>
          <p:cNvSpPr/>
          <p:nvPr/>
        </p:nvSpPr>
        <p:spPr>
          <a:xfrm>
            <a:off x="347472" y="2670048"/>
            <a:ext cx="3968496" cy="1078992"/>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Yes. Productivity peaks at 2 WFH days (85.1) and is lowest at 0 days — full in-office (80.9). Full remote (5 days) scores 83.2, better than in-office but below the 2-day sweet spot.</a:t>
            </a:r>
            <a:endParaRPr lang="en-US" sz="1000" dirty="0"/>
          </a:p>
        </p:txBody>
      </p:sp>
      <p:sp>
        <p:nvSpPr>
          <p:cNvPr id="20" name="Shape 18"/>
          <p:cNvSpPr/>
          <p:nvPr/>
        </p:nvSpPr>
        <p:spPr>
          <a:xfrm>
            <a:off x="4709160" y="2304288"/>
            <a:ext cx="4206240" cy="1508760"/>
          </a:xfrm>
          <a:prstGeom prst="rect">
            <a:avLst/>
          </a:prstGeom>
          <a:solidFill>
            <a:srgbClr val="F0FFF8"/>
          </a:solidFill>
          <a:ln w="6350">
            <a:solidFill>
              <a:srgbClr val="D1D9EE"/>
            </a:solidFill>
            <a:prstDash val="solid"/>
          </a:ln>
          <a:effectLst>
            <a:outerShdw blurRad="101600" dist="25400" dir="8100000" algn="bl" rotWithShape="0">
              <a:srgbClr val="000000">
                <a:alpha val="10000"/>
              </a:srgbClr>
            </a:outerShdw>
          </a:effectLst>
        </p:spPr>
      </p:sp>
      <p:sp>
        <p:nvSpPr>
          <p:cNvPr id="21" name="Shape 19"/>
          <p:cNvSpPr/>
          <p:nvPr/>
        </p:nvSpPr>
        <p:spPr>
          <a:xfrm>
            <a:off x="4709160" y="2304288"/>
            <a:ext cx="4206240" cy="54864"/>
          </a:xfrm>
          <a:prstGeom prst="rect">
            <a:avLst/>
          </a:prstGeom>
          <a:solidFill>
            <a:srgbClr val="1D9E75"/>
          </a:solidFill>
          <a:ln w="12700">
            <a:solidFill>
              <a:srgbClr val="1D9E75"/>
            </a:solidFill>
            <a:prstDash val="solid"/>
          </a:ln>
        </p:spPr>
      </p:sp>
      <p:sp>
        <p:nvSpPr>
          <p:cNvPr id="22" name="Text 20"/>
          <p:cNvSpPr/>
          <p:nvPr/>
        </p:nvSpPr>
        <p:spPr>
          <a:xfrm>
            <a:off x="4828032" y="2395728"/>
            <a:ext cx="3968496" cy="237744"/>
          </a:xfrm>
          <a:prstGeom prst="rect">
            <a:avLst/>
          </a:prstGeom>
          <a:noFill/>
          <a:ln/>
        </p:spPr>
        <p:txBody>
          <a:bodyPr wrap="square" rtlCol="0" anchor="ctr"/>
          <a:lstStyle/>
          <a:p>
            <a:pPr marL="0" indent="0">
              <a:buNone/>
            </a:pPr>
            <a:r>
              <a:rPr lang="en-US" sz="900" b="1" dirty="0">
                <a:solidFill>
                  <a:srgbClr val="1D9E75"/>
                </a:solidFill>
                <a:latin typeface="Calibri" pitchFamily="34" charset="0"/>
                <a:ea typeface="Calibri" pitchFamily="34" charset="-122"/>
                <a:cs typeface="Calibri" pitchFamily="34" charset="-120"/>
              </a:rPr>
              <a:t>BUSINESS CONCLUSION</a:t>
            </a:r>
            <a:endParaRPr lang="en-US" sz="900" dirty="0"/>
          </a:p>
        </p:txBody>
      </p:sp>
      <p:sp>
        <p:nvSpPr>
          <p:cNvPr id="23" name="Text 21"/>
          <p:cNvSpPr/>
          <p:nvPr/>
        </p:nvSpPr>
        <p:spPr>
          <a:xfrm>
            <a:off x="4828032" y="2670048"/>
            <a:ext cx="3968496" cy="1078992"/>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A hybrid model of 2–3 days WFH is the optimal arrangement. Full RTO mandates are counterproductive and cost ~4 productivity points per employee.</a:t>
            </a:r>
            <a:endParaRPr lang="en-US" sz="1000" dirty="0"/>
          </a:p>
        </p:txBody>
      </p:sp>
      <p:sp>
        <p:nvSpPr>
          <p:cNvPr id="24" name="Shape 22"/>
          <p:cNvSpPr/>
          <p:nvPr/>
        </p:nvSpPr>
        <p:spPr>
          <a:xfrm>
            <a:off x="228600" y="3950208"/>
            <a:ext cx="8686800" cy="658368"/>
          </a:xfrm>
          <a:prstGeom prst="rect">
            <a:avLst/>
          </a:prstGeom>
          <a:solidFill>
            <a:srgbClr val="1E2761"/>
          </a:solidFill>
          <a:ln w="6350">
            <a:solidFill>
              <a:srgbClr val="D1D9EE"/>
            </a:solidFill>
            <a:prstDash val="solid"/>
          </a:ln>
          <a:effectLst>
            <a:outerShdw blurRad="101600" dist="25400" dir="8100000" algn="bl" rotWithShape="0">
              <a:srgbClr val="000000">
                <a:alpha val="10000"/>
              </a:srgbClr>
            </a:outerShdw>
          </a:effectLst>
        </p:spPr>
      </p:sp>
      <p:sp>
        <p:nvSpPr>
          <p:cNvPr id="25" name="Text 23"/>
          <p:cNvSpPr/>
          <p:nvPr/>
        </p:nvSpPr>
        <p:spPr>
          <a:xfrm>
            <a:off x="365760" y="4005072"/>
            <a:ext cx="1828800" cy="256032"/>
          </a:xfrm>
          <a:prstGeom prst="rect">
            <a:avLst/>
          </a:prstGeom>
          <a:noFill/>
          <a:ln/>
        </p:spPr>
        <p:txBody>
          <a:bodyPr wrap="square" rtlCol="0" anchor="ctr"/>
          <a:lstStyle/>
          <a:p>
            <a:pPr marL="0" indent="0">
              <a:buNone/>
            </a:pPr>
            <a:r>
              <a:rPr lang="en-US" sz="850" b="1" dirty="0">
                <a:solidFill>
                  <a:srgbClr val="1D9E75"/>
                </a:solidFill>
                <a:latin typeface="Calibri" pitchFamily="34" charset="0"/>
                <a:ea typeface="Calibri" pitchFamily="34" charset="-122"/>
                <a:cs typeface="Calibri" pitchFamily="34" charset="-120"/>
              </a:rPr>
              <a:t>★  KEY TAKEAWAY</a:t>
            </a:r>
            <a:endParaRPr lang="en-US" sz="850" dirty="0"/>
          </a:p>
        </p:txBody>
      </p:sp>
      <p:sp>
        <p:nvSpPr>
          <p:cNvPr id="26" name="Text 24"/>
          <p:cNvSpPr/>
          <p:nvPr/>
        </p:nvSpPr>
        <p:spPr>
          <a:xfrm>
            <a:off x="2194560" y="3986784"/>
            <a:ext cx="6492240" cy="47548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A hybrid model of 2–3 days WFH is the optimal arrangement.</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9">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Shape 1"/>
          <p:cNvSpPr/>
          <p:nvPr/>
        </p:nvSpPr>
        <p:spPr>
          <a:xfrm>
            <a:off x="0" y="0"/>
            <a:ext cx="109728" cy="777240"/>
          </a:xfrm>
          <a:prstGeom prst="rect">
            <a:avLst/>
          </a:prstGeom>
          <a:solidFill>
            <a:srgbClr val="1D9E75"/>
          </a:solidFill>
          <a:ln w="12700">
            <a:solidFill>
              <a:srgbClr val="1D9E75"/>
            </a:solidFill>
            <a:prstDash val="solid"/>
          </a:ln>
        </p:spPr>
      </p:sp>
      <p:sp>
        <p:nvSpPr>
          <p:cNvPr id="4" name="Text 2"/>
          <p:cNvSpPr/>
          <p:nvPr/>
        </p:nvSpPr>
        <p:spPr>
          <a:xfrm>
            <a:off x="274320" y="0"/>
            <a:ext cx="8686800" cy="7772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Business Question Answered — BQ2</a:t>
            </a:r>
            <a:endParaRPr lang="en-US" sz="2200" dirty="0"/>
          </a:p>
        </p:txBody>
      </p:sp>
      <p:sp>
        <p:nvSpPr>
          <p:cNvPr id="5" name="Text 3"/>
          <p:cNvSpPr/>
          <p:nvPr/>
        </p:nvSpPr>
        <p:spPr>
          <a:xfrm>
            <a:off x="274320" y="512064"/>
            <a:ext cx="8686800" cy="265176"/>
          </a:xfrm>
          <a:prstGeom prst="rect">
            <a:avLst/>
          </a:prstGeom>
          <a:noFill/>
          <a:ln/>
        </p:spPr>
        <p:txBody>
          <a:bodyPr wrap="square" rtlCol="0" anchor="ctr"/>
          <a:lstStyle/>
          <a:p>
            <a:pPr marL="0" indent="0">
              <a:buNone/>
            </a:pPr>
            <a:r>
              <a:rPr lang="en-US" sz="950" b="1" dirty="0">
                <a:solidFill>
                  <a:schemeClr val="bg1"/>
                </a:solidFill>
                <a:latin typeface="Calibri" pitchFamily="34" charset="0"/>
                <a:ea typeface="Calibri" pitchFamily="34" charset="-122"/>
                <a:cs typeface="Calibri" pitchFamily="34" charset="-120"/>
              </a:rPr>
              <a:t>How does manager support level affect productivity, satisfaction, and task completion?</a:t>
            </a:r>
            <a:endParaRPr lang="en-US" sz="950" b="1" dirty="0">
              <a:solidFill>
                <a:schemeClr val="bg1"/>
              </a:solidFill>
            </a:endParaRPr>
          </a:p>
        </p:txBody>
      </p:sp>
      <p:sp>
        <p:nvSpPr>
          <p:cNvPr id="6" name="Shape 4"/>
          <p:cNvSpPr/>
          <p:nvPr/>
        </p:nvSpPr>
        <p:spPr>
          <a:xfrm>
            <a:off x="0" y="4892040"/>
            <a:ext cx="9144000" cy="251460"/>
          </a:xfrm>
          <a:prstGeom prst="rect">
            <a:avLst/>
          </a:prstGeom>
          <a:solidFill>
            <a:srgbClr val="1E2761"/>
          </a:solidFill>
          <a:ln w="12700">
            <a:solidFill>
              <a:srgbClr val="1E2761"/>
            </a:solidFill>
            <a:prstDash val="solid"/>
          </a:ln>
        </p:spPr>
      </p:sp>
      <p:sp>
        <p:nvSpPr>
          <p:cNvPr id="7" name="Text 5"/>
          <p:cNvSpPr/>
          <p:nvPr/>
        </p:nvSpPr>
        <p:spPr>
          <a:xfrm>
            <a:off x="0" y="4892040"/>
            <a:ext cx="9144000" cy="251460"/>
          </a:xfrm>
          <a:prstGeom prst="rect">
            <a:avLst/>
          </a:prstGeom>
          <a:noFill/>
          <a:ln/>
        </p:spPr>
        <p:txBody>
          <a:bodyPr wrap="square"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Remote Work Productivity Analysis  ·  Slide 34 of 41</a:t>
            </a:r>
            <a:endParaRPr lang="en-US" sz="800" dirty="0"/>
          </a:p>
        </p:txBody>
      </p:sp>
      <p:sp>
        <p:nvSpPr>
          <p:cNvPr id="8" name="Shape 6"/>
          <p:cNvSpPr/>
          <p:nvPr/>
        </p:nvSpPr>
        <p:spPr>
          <a:xfrm>
            <a:off x="228600" y="932688"/>
            <a:ext cx="8686800" cy="566928"/>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9" name="Shape 7"/>
          <p:cNvSpPr/>
          <p:nvPr/>
        </p:nvSpPr>
        <p:spPr>
          <a:xfrm>
            <a:off x="228600" y="932688"/>
            <a:ext cx="8686800" cy="54864"/>
          </a:xfrm>
          <a:prstGeom prst="rect">
            <a:avLst/>
          </a:prstGeom>
          <a:solidFill>
            <a:srgbClr val="A32D2D"/>
          </a:solidFill>
          <a:ln w="12700">
            <a:solidFill>
              <a:srgbClr val="A32D2D"/>
            </a:solidFill>
            <a:prstDash val="solid"/>
          </a:ln>
        </p:spPr>
      </p:sp>
      <p:sp>
        <p:nvSpPr>
          <p:cNvPr id="10" name="Text 8"/>
          <p:cNvSpPr/>
          <p:nvPr/>
        </p:nvSpPr>
        <p:spPr>
          <a:xfrm>
            <a:off x="347472" y="1005840"/>
            <a:ext cx="1371600" cy="201168"/>
          </a:xfrm>
          <a:prstGeom prst="rect">
            <a:avLst/>
          </a:prstGeom>
          <a:noFill/>
          <a:ln/>
        </p:spPr>
        <p:txBody>
          <a:bodyPr wrap="square" rtlCol="0" anchor="ctr"/>
          <a:lstStyle/>
          <a:p>
            <a:pPr marL="0" indent="0">
              <a:buNone/>
            </a:pPr>
            <a:r>
              <a:rPr lang="en-US" sz="800" b="1" dirty="0">
                <a:solidFill>
                  <a:srgbClr val="A32D2D"/>
                </a:solidFill>
                <a:latin typeface="Calibri" pitchFamily="34" charset="0"/>
                <a:ea typeface="Calibri" pitchFamily="34" charset="-122"/>
                <a:cs typeface="Calibri" pitchFamily="34" charset="-120"/>
              </a:rPr>
              <a:t>❓  QUESTION</a:t>
            </a:r>
            <a:endParaRPr lang="en-US" sz="800" dirty="0"/>
          </a:p>
        </p:txBody>
      </p:sp>
      <p:sp>
        <p:nvSpPr>
          <p:cNvPr id="11" name="Text 9"/>
          <p:cNvSpPr/>
          <p:nvPr/>
        </p:nvSpPr>
        <p:spPr>
          <a:xfrm>
            <a:off x="347472" y="1188720"/>
            <a:ext cx="8321040" cy="256032"/>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How does manager support level affect productivity, satisfaction, and task completion?</a:t>
            </a:r>
            <a:endParaRPr lang="en-US" sz="1000" dirty="0"/>
          </a:p>
        </p:txBody>
      </p:sp>
      <p:sp>
        <p:nvSpPr>
          <p:cNvPr id="12" name="Shape 10"/>
          <p:cNvSpPr/>
          <p:nvPr/>
        </p:nvSpPr>
        <p:spPr>
          <a:xfrm>
            <a:off x="228600" y="1627632"/>
            <a:ext cx="8686800" cy="548640"/>
          </a:xfrm>
          <a:prstGeom prst="rect">
            <a:avLst/>
          </a:prstGeom>
          <a:solidFill>
            <a:srgbClr val="EBF5FF"/>
          </a:solidFill>
          <a:ln w="6350">
            <a:solidFill>
              <a:srgbClr val="D1D9EE"/>
            </a:solidFill>
            <a:prstDash val="solid"/>
          </a:ln>
          <a:effectLst>
            <a:outerShdw blurRad="101600" dist="25400" dir="8100000" algn="bl" rotWithShape="0">
              <a:srgbClr val="000000">
                <a:alpha val="10000"/>
              </a:srgbClr>
            </a:outerShdw>
          </a:effectLst>
        </p:spPr>
      </p:sp>
      <p:sp>
        <p:nvSpPr>
          <p:cNvPr id="13" name="Shape 11"/>
          <p:cNvSpPr/>
          <p:nvPr/>
        </p:nvSpPr>
        <p:spPr>
          <a:xfrm>
            <a:off x="228600" y="1627632"/>
            <a:ext cx="73152" cy="548640"/>
          </a:xfrm>
          <a:prstGeom prst="rect">
            <a:avLst/>
          </a:prstGeom>
          <a:solidFill>
            <a:srgbClr val="A32D2D"/>
          </a:solidFill>
          <a:ln w="12700">
            <a:solidFill>
              <a:srgbClr val="A32D2D"/>
            </a:solidFill>
            <a:prstDash val="solid"/>
          </a:ln>
        </p:spPr>
      </p:sp>
      <p:sp>
        <p:nvSpPr>
          <p:cNvPr id="14" name="Text 12"/>
          <p:cNvSpPr/>
          <p:nvPr/>
        </p:nvSpPr>
        <p:spPr>
          <a:xfrm>
            <a:off x="384048" y="1682496"/>
            <a:ext cx="1463040" cy="201168"/>
          </a:xfrm>
          <a:prstGeom prst="rect">
            <a:avLst/>
          </a:prstGeom>
          <a:noFill/>
          <a:ln/>
        </p:spPr>
        <p:txBody>
          <a:bodyPr wrap="square" rtlCol="0" anchor="ctr"/>
          <a:lstStyle/>
          <a:p>
            <a:pPr marL="0" indent="0">
              <a:buNone/>
            </a:pPr>
            <a:r>
              <a:rPr lang="en-US" sz="800" b="1" dirty="0">
                <a:solidFill>
                  <a:srgbClr val="A32D2D"/>
                </a:solidFill>
                <a:latin typeface="Calibri" pitchFamily="34" charset="0"/>
                <a:ea typeface="Calibri" pitchFamily="34" charset="-122"/>
                <a:cs typeface="Calibri" pitchFamily="34" charset="-120"/>
              </a:rPr>
              <a:t>DATA EVIDENCE</a:t>
            </a:r>
            <a:endParaRPr lang="en-US" sz="800" dirty="0"/>
          </a:p>
        </p:txBody>
      </p:sp>
      <p:sp>
        <p:nvSpPr>
          <p:cNvPr id="15" name="Text 13"/>
          <p:cNvSpPr/>
          <p:nvPr/>
        </p:nvSpPr>
        <p:spPr>
          <a:xfrm>
            <a:off x="384048" y="1883664"/>
            <a:ext cx="8229600" cy="237744"/>
          </a:xfrm>
          <a:prstGeom prst="rect">
            <a:avLst/>
          </a:prstGeom>
          <a:noFill/>
          <a:ln/>
        </p:spPr>
        <p:txBody>
          <a:bodyPr wrap="square"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Very Low: 68.7  ·  Low: 76.6  ·  Moderate: 80.6  ·  High: 86.9  ·  Very High: 87.6</a:t>
            </a:r>
            <a:endParaRPr lang="en-US" sz="950" dirty="0"/>
          </a:p>
        </p:txBody>
      </p:sp>
      <p:sp>
        <p:nvSpPr>
          <p:cNvPr id="16" name="Shape 14"/>
          <p:cNvSpPr/>
          <p:nvPr/>
        </p:nvSpPr>
        <p:spPr>
          <a:xfrm>
            <a:off x="228600" y="2304288"/>
            <a:ext cx="4206240" cy="1508760"/>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17" name="Shape 15"/>
          <p:cNvSpPr/>
          <p:nvPr/>
        </p:nvSpPr>
        <p:spPr>
          <a:xfrm>
            <a:off x="228600" y="2304288"/>
            <a:ext cx="4206240" cy="54864"/>
          </a:xfrm>
          <a:prstGeom prst="rect">
            <a:avLst/>
          </a:prstGeom>
          <a:solidFill>
            <a:srgbClr val="A32D2D"/>
          </a:solidFill>
          <a:ln w="12700">
            <a:solidFill>
              <a:srgbClr val="A32D2D"/>
            </a:solidFill>
            <a:prstDash val="solid"/>
          </a:ln>
        </p:spPr>
      </p:sp>
      <p:sp>
        <p:nvSpPr>
          <p:cNvPr id="18" name="Text 16"/>
          <p:cNvSpPr/>
          <p:nvPr/>
        </p:nvSpPr>
        <p:spPr>
          <a:xfrm>
            <a:off x="347472" y="2395728"/>
            <a:ext cx="3968496" cy="237744"/>
          </a:xfrm>
          <a:prstGeom prst="rect">
            <a:avLst/>
          </a:prstGeom>
          <a:noFill/>
          <a:ln/>
        </p:spPr>
        <p:txBody>
          <a:bodyPr wrap="square" rtlCol="0" anchor="ctr"/>
          <a:lstStyle/>
          <a:p>
            <a:pPr marL="0" indent="0">
              <a:buNone/>
            </a:pPr>
            <a:r>
              <a:rPr lang="en-US" sz="900" b="1" dirty="0">
                <a:solidFill>
                  <a:srgbClr val="A32D2D"/>
                </a:solidFill>
                <a:latin typeface="Calibri" pitchFamily="34" charset="0"/>
                <a:ea typeface="Calibri" pitchFamily="34" charset="-122"/>
                <a:cs typeface="Calibri" pitchFamily="34" charset="-120"/>
              </a:rPr>
              <a:t>ANALYSIS</a:t>
            </a:r>
            <a:endParaRPr lang="en-US" sz="900" dirty="0"/>
          </a:p>
        </p:txBody>
      </p:sp>
      <p:sp>
        <p:nvSpPr>
          <p:cNvPr id="19" name="Text 17"/>
          <p:cNvSpPr/>
          <p:nvPr/>
        </p:nvSpPr>
        <p:spPr>
          <a:xfrm>
            <a:off x="347472" y="2670048"/>
            <a:ext cx="3968496" cy="1078992"/>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Manager support is the single most impactful controllable variable. Very High support = 87.6 productivity. Very Low = 68.7 — a 27% gap. The pattern holds across satisfaction (89 vs 58) and task completion (86.6 vs 70.3).</a:t>
            </a:r>
            <a:endParaRPr lang="en-US" sz="1000" dirty="0"/>
          </a:p>
        </p:txBody>
      </p:sp>
      <p:sp>
        <p:nvSpPr>
          <p:cNvPr id="20" name="Shape 18"/>
          <p:cNvSpPr/>
          <p:nvPr/>
        </p:nvSpPr>
        <p:spPr>
          <a:xfrm>
            <a:off x="4709160" y="2304288"/>
            <a:ext cx="4206240" cy="1508760"/>
          </a:xfrm>
          <a:prstGeom prst="rect">
            <a:avLst/>
          </a:prstGeom>
          <a:solidFill>
            <a:srgbClr val="F0FFF8"/>
          </a:solidFill>
          <a:ln w="6350">
            <a:solidFill>
              <a:srgbClr val="D1D9EE"/>
            </a:solidFill>
            <a:prstDash val="solid"/>
          </a:ln>
          <a:effectLst>
            <a:outerShdw blurRad="101600" dist="25400" dir="8100000" algn="bl" rotWithShape="0">
              <a:srgbClr val="000000">
                <a:alpha val="10000"/>
              </a:srgbClr>
            </a:outerShdw>
          </a:effectLst>
        </p:spPr>
      </p:sp>
      <p:sp>
        <p:nvSpPr>
          <p:cNvPr id="21" name="Shape 19"/>
          <p:cNvSpPr/>
          <p:nvPr/>
        </p:nvSpPr>
        <p:spPr>
          <a:xfrm>
            <a:off x="4709160" y="2304288"/>
            <a:ext cx="4206240" cy="54864"/>
          </a:xfrm>
          <a:prstGeom prst="rect">
            <a:avLst/>
          </a:prstGeom>
          <a:solidFill>
            <a:srgbClr val="1D9E75"/>
          </a:solidFill>
          <a:ln w="12700">
            <a:solidFill>
              <a:srgbClr val="1D9E75"/>
            </a:solidFill>
            <a:prstDash val="solid"/>
          </a:ln>
        </p:spPr>
      </p:sp>
      <p:sp>
        <p:nvSpPr>
          <p:cNvPr id="22" name="Text 20"/>
          <p:cNvSpPr/>
          <p:nvPr/>
        </p:nvSpPr>
        <p:spPr>
          <a:xfrm>
            <a:off x="4828032" y="2395728"/>
            <a:ext cx="3968496" cy="237744"/>
          </a:xfrm>
          <a:prstGeom prst="rect">
            <a:avLst/>
          </a:prstGeom>
          <a:noFill/>
          <a:ln/>
        </p:spPr>
        <p:txBody>
          <a:bodyPr wrap="square" rtlCol="0" anchor="ctr"/>
          <a:lstStyle/>
          <a:p>
            <a:pPr marL="0" indent="0">
              <a:buNone/>
            </a:pPr>
            <a:r>
              <a:rPr lang="en-US" sz="900" b="1" dirty="0">
                <a:solidFill>
                  <a:srgbClr val="1D9E75"/>
                </a:solidFill>
                <a:latin typeface="Calibri" pitchFamily="34" charset="0"/>
                <a:ea typeface="Calibri" pitchFamily="34" charset="-122"/>
                <a:cs typeface="Calibri" pitchFamily="34" charset="-120"/>
              </a:rPr>
              <a:t>BUSINESS CONCLUSION</a:t>
            </a:r>
            <a:endParaRPr lang="en-US" sz="900" dirty="0"/>
          </a:p>
        </p:txBody>
      </p:sp>
      <p:sp>
        <p:nvSpPr>
          <p:cNvPr id="23" name="Text 21"/>
          <p:cNvSpPr/>
          <p:nvPr/>
        </p:nvSpPr>
        <p:spPr>
          <a:xfrm>
            <a:off x="4828032" y="2670048"/>
            <a:ext cx="3968496" cy="1078992"/>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Investing in manager training, coaching, and 360° feedback programmes delivers the highest ROI of any HR intervention. This is a leadership execution problem.</a:t>
            </a:r>
            <a:endParaRPr lang="en-US" sz="1000" dirty="0"/>
          </a:p>
        </p:txBody>
      </p:sp>
      <p:sp>
        <p:nvSpPr>
          <p:cNvPr id="24" name="Shape 22"/>
          <p:cNvSpPr/>
          <p:nvPr/>
        </p:nvSpPr>
        <p:spPr>
          <a:xfrm>
            <a:off x="228600" y="3950208"/>
            <a:ext cx="8686800" cy="658368"/>
          </a:xfrm>
          <a:prstGeom prst="rect">
            <a:avLst/>
          </a:prstGeom>
          <a:solidFill>
            <a:srgbClr val="1E2761"/>
          </a:solidFill>
          <a:ln w="6350">
            <a:solidFill>
              <a:srgbClr val="D1D9EE"/>
            </a:solidFill>
            <a:prstDash val="solid"/>
          </a:ln>
          <a:effectLst>
            <a:outerShdw blurRad="101600" dist="25400" dir="8100000" algn="bl" rotWithShape="0">
              <a:srgbClr val="000000">
                <a:alpha val="10000"/>
              </a:srgbClr>
            </a:outerShdw>
          </a:effectLst>
        </p:spPr>
      </p:sp>
      <p:sp>
        <p:nvSpPr>
          <p:cNvPr id="25" name="Text 23"/>
          <p:cNvSpPr/>
          <p:nvPr/>
        </p:nvSpPr>
        <p:spPr>
          <a:xfrm>
            <a:off x="365760" y="4005072"/>
            <a:ext cx="1828800" cy="256032"/>
          </a:xfrm>
          <a:prstGeom prst="rect">
            <a:avLst/>
          </a:prstGeom>
          <a:noFill/>
          <a:ln/>
        </p:spPr>
        <p:txBody>
          <a:bodyPr wrap="square" rtlCol="0" anchor="ctr"/>
          <a:lstStyle/>
          <a:p>
            <a:pPr marL="0" indent="0">
              <a:buNone/>
            </a:pPr>
            <a:r>
              <a:rPr lang="en-US" sz="850" b="1" dirty="0">
                <a:solidFill>
                  <a:srgbClr val="1D9E75"/>
                </a:solidFill>
                <a:latin typeface="Calibri" pitchFamily="34" charset="0"/>
                <a:ea typeface="Calibri" pitchFamily="34" charset="-122"/>
                <a:cs typeface="Calibri" pitchFamily="34" charset="-120"/>
              </a:rPr>
              <a:t>★  KEY TAKEAWAY</a:t>
            </a:r>
            <a:endParaRPr lang="en-US" sz="850" dirty="0"/>
          </a:p>
        </p:txBody>
      </p:sp>
      <p:sp>
        <p:nvSpPr>
          <p:cNvPr id="26" name="Text 24"/>
          <p:cNvSpPr/>
          <p:nvPr/>
        </p:nvSpPr>
        <p:spPr>
          <a:xfrm>
            <a:off x="2194560" y="3986784"/>
            <a:ext cx="6492240" cy="47548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Investing in manager training, coaching, and 360° feedback programmes delivers the highest ROI of any HR intervention.</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0">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Shape 1"/>
          <p:cNvSpPr/>
          <p:nvPr/>
        </p:nvSpPr>
        <p:spPr>
          <a:xfrm>
            <a:off x="0" y="0"/>
            <a:ext cx="109728" cy="777240"/>
          </a:xfrm>
          <a:prstGeom prst="rect">
            <a:avLst/>
          </a:prstGeom>
          <a:solidFill>
            <a:srgbClr val="1D9E75"/>
          </a:solidFill>
          <a:ln w="12700">
            <a:solidFill>
              <a:srgbClr val="1D9E75"/>
            </a:solidFill>
            <a:prstDash val="solid"/>
          </a:ln>
        </p:spPr>
      </p:sp>
      <p:sp>
        <p:nvSpPr>
          <p:cNvPr id="4" name="Text 2"/>
          <p:cNvSpPr/>
          <p:nvPr/>
        </p:nvSpPr>
        <p:spPr>
          <a:xfrm>
            <a:off x="274320" y="0"/>
            <a:ext cx="8686800" cy="7772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Business Question Answered — BQ3 &amp; BQ4</a:t>
            </a:r>
            <a:endParaRPr lang="en-US" sz="2200" dirty="0"/>
          </a:p>
        </p:txBody>
      </p:sp>
      <p:sp>
        <p:nvSpPr>
          <p:cNvPr id="5" name="Text 3"/>
          <p:cNvSpPr/>
          <p:nvPr/>
        </p:nvSpPr>
        <p:spPr>
          <a:xfrm>
            <a:off x="274320" y="512064"/>
            <a:ext cx="8686800" cy="265176"/>
          </a:xfrm>
          <a:prstGeom prst="rect">
            <a:avLst/>
          </a:prstGeom>
          <a:noFill/>
          <a:ln/>
        </p:spPr>
        <p:txBody>
          <a:bodyPr wrap="square" rtlCol="0" anchor="ctr"/>
          <a:lstStyle/>
          <a:p>
            <a:pPr marL="0" indent="0">
              <a:buNone/>
            </a:pPr>
            <a:r>
              <a:rPr lang="en-US" sz="950" b="1" dirty="0">
                <a:solidFill>
                  <a:schemeClr val="bg1"/>
                </a:solidFill>
                <a:latin typeface="Calibri" pitchFamily="34" charset="0"/>
                <a:ea typeface="Calibri" pitchFamily="34" charset="-122"/>
                <a:cs typeface="Calibri" pitchFamily="34" charset="-120"/>
              </a:rPr>
              <a:t>Do home office quality and internet speed affect performance? Which industries lead?</a:t>
            </a:r>
            <a:endParaRPr lang="en-US" sz="950" b="1" dirty="0">
              <a:solidFill>
                <a:schemeClr val="bg1"/>
              </a:solidFill>
            </a:endParaRPr>
          </a:p>
        </p:txBody>
      </p:sp>
      <p:sp>
        <p:nvSpPr>
          <p:cNvPr id="6" name="Shape 4"/>
          <p:cNvSpPr/>
          <p:nvPr/>
        </p:nvSpPr>
        <p:spPr>
          <a:xfrm>
            <a:off x="0" y="4892040"/>
            <a:ext cx="9144000" cy="251460"/>
          </a:xfrm>
          <a:prstGeom prst="rect">
            <a:avLst/>
          </a:prstGeom>
          <a:solidFill>
            <a:srgbClr val="1E2761"/>
          </a:solidFill>
          <a:ln w="12700">
            <a:solidFill>
              <a:srgbClr val="1E2761"/>
            </a:solidFill>
            <a:prstDash val="solid"/>
          </a:ln>
        </p:spPr>
      </p:sp>
      <p:sp>
        <p:nvSpPr>
          <p:cNvPr id="7" name="Text 5"/>
          <p:cNvSpPr/>
          <p:nvPr/>
        </p:nvSpPr>
        <p:spPr>
          <a:xfrm>
            <a:off x="0" y="4892040"/>
            <a:ext cx="9144000" cy="251460"/>
          </a:xfrm>
          <a:prstGeom prst="rect">
            <a:avLst/>
          </a:prstGeom>
          <a:noFill/>
          <a:ln/>
        </p:spPr>
        <p:txBody>
          <a:bodyPr wrap="square"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Remote Work Productivity Analysis  ·  Slide 35 of 41</a:t>
            </a:r>
            <a:endParaRPr lang="en-US" sz="800" dirty="0"/>
          </a:p>
        </p:txBody>
      </p:sp>
      <p:sp>
        <p:nvSpPr>
          <p:cNvPr id="8" name="Shape 6"/>
          <p:cNvSpPr/>
          <p:nvPr/>
        </p:nvSpPr>
        <p:spPr>
          <a:xfrm>
            <a:off x="228600" y="932688"/>
            <a:ext cx="8686800" cy="566928"/>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9" name="Shape 7"/>
          <p:cNvSpPr/>
          <p:nvPr/>
        </p:nvSpPr>
        <p:spPr>
          <a:xfrm>
            <a:off x="228600" y="932688"/>
            <a:ext cx="8686800" cy="54864"/>
          </a:xfrm>
          <a:prstGeom prst="rect">
            <a:avLst/>
          </a:prstGeom>
          <a:solidFill>
            <a:srgbClr val="1D9E75"/>
          </a:solidFill>
          <a:ln w="12700">
            <a:solidFill>
              <a:srgbClr val="1D9E75"/>
            </a:solidFill>
            <a:prstDash val="solid"/>
          </a:ln>
        </p:spPr>
      </p:sp>
      <p:sp>
        <p:nvSpPr>
          <p:cNvPr id="10" name="Text 8"/>
          <p:cNvSpPr/>
          <p:nvPr/>
        </p:nvSpPr>
        <p:spPr>
          <a:xfrm>
            <a:off x="347472" y="1005840"/>
            <a:ext cx="1371600" cy="201168"/>
          </a:xfrm>
          <a:prstGeom prst="rect">
            <a:avLst/>
          </a:prstGeom>
          <a:noFill/>
          <a:ln/>
        </p:spPr>
        <p:txBody>
          <a:bodyPr wrap="square" rtlCol="0" anchor="ctr"/>
          <a:lstStyle/>
          <a:p>
            <a:pPr marL="0" indent="0">
              <a:buNone/>
            </a:pPr>
            <a:r>
              <a:rPr lang="en-US" sz="800" b="1" dirty="0">
                <a:solidFill>
                  <a:srgbClr val="1D9E75"/>
                </a:solidFill>
                <a:latin typeface="Calibri" pitchFamily="34" charset="0"/>
                <a:ea typeface="Calibri" pitchFamily="34" charset="-122"/>
                <a:cs typeface="Calibri" pitchFamily="34" charset="-120"/>
              </a:rPr>
              <a:t>❓  QUESTION</a:t>
            </a:r>
            <a:endParaRPr lang="en-US" sz="800" dirty="0"/>
          </a:p>
        </p:txBody>
      </p:sp>
      <p:sp>
        <p:nvSpPr>
          <p:cNvPr id="11" name="Text 9"/>
          <p:cNvSpPr/>
          <p:nvPr/>
        </p:nvSpPr>
        <p:spPr>
          <a:xfrm>
            <a:off x="347472" y="1188720"/>
            <a:ext cx="8321040" cy="256032"/>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Do home office quality and internet speed affect performance? Which industries lead?</a:t>
            </a:r>
            <a:endParaRPr lang="en-US" sz="1000" dirty="0"/>
          </a:p>
        </p:txBody>
      </p:sp>
      <p:sp>
        <p:nvSpPr>
          <p:cNvPr id="12" name="Shape 10"/>
          <p:cNvSpPr/>
          <p:nvPr/>
        </p:nvSpPr>
        <p:spPr>
          <a:xfrm>
            <a:off x="228600" y="1627632"/>
            <a:ext cx="8686800" cy="548640"/>
          </a:xfrm>
          <a:prstGeom prst="rect">
            <a:avLst/>
          </a:prstGeom>
          <a:solidFill>
            <a:srgbClr val="EBF5FF"/>
          </a:solidFill>
          <a:ln w="6350">
            <a:solidFill>
              <a:srgbClr val="D1D9EE"/>
            </a:solidFill>
            <a:prstDash val="solid"/>
          </a:ln>
          <a:effectLst>
            <a:outerShdw blurRad="101600" dist="25400" dir="8100000" algn="bl" rotWithShape="0">
              <a:srgbClr val="000000">
                <a:alpha val="10000"/>
              </a:srgbClr>
            </a:outerShdw>
          </a:effectLst>
        </p:spPr>
      </p:sp>
      <p:sp>
        <p:nvSpPr>
          <p:cNvPr id="13" name="Shape 11"/>
          <p:cNvSpPr/>
          <p:nvPr/>
        </p:nvSpPr>
        <p:spPr>
          <a:xfrm>
            <a:off x="228600" y="1627632"/>
            <a:ext cx="73152" cy="548640"/>
          </a:xfrm>
          <a:prstGeom prst="rect">
            <a:avLst/>
          </a:prstGeom>
          <a:solidFill>
            <a:srgbClr val="1D9E75"/>
          </a:solidFill>
          <a:ln w="12700">
            <a:solidFill>
              <a:srgbClr val="1D9E75"/>
            </a:solidFill>
            <a:prstDash val="solid"/>
          </a:ln>
        </p:spPr>
      </p:sp>
      <p:sp>
        <p:nvSpPr>
          <p:cNvPr id="14" name="Text 12"/>
          <p:cNvSpPr/>
          <p:nvPr/>
        </p:nvSpPr>
        <p:spPr>
          <a:xfrm>
            <a:off x="384048" y="1682496"/>
            <a:ext cx="1463040" cy="201168"/>
          </a:xfrm>
          <a:prstGeom prst="rect">
            <a:avLst/>
          </a:prstGeom>
          <a:noFill/>
          <a:ln/>
        </p:spPr>
        <p:txBody>
          <a:bodyPr wrap="square" rtlCol="0" anchor="ctr"/>
          <a:lstStyle/>
          <a:p>
            <a:pPr marL="0" indent="0">
              <a:buNone/>
            </a:pPr>
            <a:r>
              <a:rPr lang="en-US" sz="800" b="1" dirty="0">
                <a:solidFill>
                  <a:srgbClr val="1D9E75"/>
                </a:solidFill>
                <a:latin typeface="Calibri" pitchFamily="34" charset="0"/>
                <a:ea typeface="Calibri" pitchFamily="34" charset="-122"/>
                <a:cs typeface="Calibri" pitchFamily="34" charset="-120"/>
              </a:rPr>
              <a:t>DATA EVIDENCE</a:t>
            </a:r>
            <a:endParaRPr lang="en-US" sz="800" dirty="0"/>
          </a:p>
        </p:txBody>
      </p:sp>
      <p:sp>
        <p:nvSpPr>
          <p:cNvPr id="15" name="Text 13"/>
          <p:cNvSpPr/>
          <p:nvPr/>
        </p:nvSpPr>
        <p:spPr>
          <a:xfrm>
            <a:off x="384048" y="1883664"/>
            <a:ext cx="8229600" cy="237744"/>
          </a:xfrm>
          <a:prstGeom prst="rect">
            <a:avLst/>
          </a:prstGeom>
          <a:noFill/>
          <a:ln/>
        </p:spPr>
        <p:txBody>
          <a:bodyPr wrap="square"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Poor office: 75.9  ·  Average: 81.8  ·  Good: 83.7  ·  Excellent: 86.2  ||  Healthcare: 84.9  ·  Government: 79.0</a:t>
            </a:r>
            <a:endParaRPr lang="en-US" sz="950" dirty="0"/>
          </a:p>
        </p:txBody>
      </p:sp>
      <p:sp>
        <p:nvSpPr>
          <p:cNvPr id="16" name="Shape 14"/>
          <p:cNvSpPr/>
          <p:nvPr/>
        </p:nvSpPr>
        <p:spPr>
          <a:xfrm>
            <a:off x="228600" y="2304288"/>
            <a:ext cx="4206240" cy="1508760"/>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17" name="Shape 15"/>
          <p:cNvSpPr/>
          <p:nvPr/>
        </p:nvSpPr>
        <p:spPr>
          <a:xfrm>
            <a:off x="228600" y="2304288"/>
            <a:ext cx="4206240" cy="54864"/>
          </a:xfrm>
          <a:prstGeom prst="rect">
            <a:avLst/>
          </a:prstGeom>
          <a:solidFill>
            <a:srgbClr val="1D9E75"/>
          </a:solidFill>
          <a:ln w="12700">
            <a:solidFill>
              <a:srgbClr val="1D9E75"/>
            </a:solidFill>
            <a:prstDash val="solid"/>
          </a:ln>
        </p:spPr>
      </p:sp>
      <p:sp>
        <p:nvSpPr>
          <p:cNvPr id="18" name="Text 16"/>
          <p:cNvSpPr/>
          <p:nvPr/>
        </p:nvSpPr>
        <p:spPr>
          <a:xfrm>
            <a:off x="347472" y="2395728"/>
            <a:ext cx="3968496" cy="237744"/>
          </a:xfrm>
          <a:prstGeom prst="rect">
            <a:avLst/>
          </a:prstGeom>
          <a:noFill/>
          <a:ln/>
        </p:spPr>
        <p:txBody>
          <a:bodyPr wrap="square" rtlCol="0" anchor="ctr"/>
          <a:lstStyle/>
          <a:p>
            <a:pPr marL="0" indent="0">
              <a:buNone/>
            </a:pPr>
            <a:r>
              <a:rPr lang="en-US" sz="900" b="1" dirty="0">
                <a:solidFill>
                  <a:srgbClr val="1D9E75"/>
                </a:solidFill>
                <a:latin typeface="Calibri" pitchFamily="34" charset="0"/>
                <a:ea typeface="Calibri" pitchFamily="34" charset="-122"/>
                <a:cs typeface="Calibri" pitchFamily="34" charset="-120"/>
              </a:rPr>
              <a:t>ANALYSIS</a:t>
            </a:r>
            <a:endParaRPr lang="en-US" sz="900" dirty="0"/>
          </a:p>
        </p:txBody>
      </p:sp>
      <p:sp>
        <p:nvSpPr>
          <p:cNvPr id="19" name="Text 17"/>
          <p:cNvSpPr/>
          <p:nvPr/>
        </p:nvSpPr>
        <p:spPr>
          <a:xfrm>
            <a:off x="347472" y="2670048"/>
            <a:ext cx="3968496" cy="1078992"/>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Home office quality produces a 10-point spread (Poor: 75.9 → Excellent: 86.2). Internet speed shows only a 2-point difference. Healthcare leads industry productivity (84.9); Government lags (79.0) by nearly 6 points.</a:t>
            </a:r>
            <a:endParaRPr lang="en-US" sz="1000" dirty="0"/>
          </a:p>
        </p:txBody>
      </p:sp>
      <p:sp>
        <p:nvSpPr>
          <p:cNvPr id="20" name="Shape 18"/>
          <p:cNvSpPr/>
          <p:nvPr/>
        </p:nvSpPr>
        <p:spPr>
          <a:xfrm>
            <a:off x="4709160" y="2304288"/>
            <a:ext cx="4206240" cy="1508760"/>
          </a:xfrm>
          <a:prstGeom prst="rect">
            <a:avLst/>
          </a:prstGeom>
          <a:solidFill>
            <a:srgbClr val="F0FFF8"/>
          </a:solidFill>
          <a:ln w="6350">
            <a:solidFill>
              <a:srgbClr val="D1D9EE"/>
            </a:solidFill>
            <a:prstDash val="solid"/>
          </a:ln>
          <a:effectLst>
            <a:outerShdw blurRad="101600" dist="25400" dir="8100000" algn="bl" rotWithShape="0">
              <a:srgbClr val="000000">
                <a:alpha val="10000"/>
              </a:srgbClr>
            </a:outerShdw>
          </a:effectLst>
        </p:spPr>
      </p:sp>
      <p:sp>
        <p:nvSpPr>
          <p:cNvPr id="21" name="Shape 19"/>
          <p:cNvSpPr/>
          <p:nvPr/>
        </p:nvSpPr>
        <p:spPr>
          <a:xfrm>
            <a:off x="4709160" y="2304288"/>
            <a:ext cx="4206240" cy="54864"/>
          </a:xfrm>
          <a:prstGeom prst="rect">
            <a:avLst/>
          </a:prstGeom>
          <a:solidFill>
            <a:srgbClr val="1D9E75"/>
          </a:solidFill>
          <a:ln w="12700">
            <a:solidFill>
              <a:srgbClr val="1D9E75"/>
            </a:solidFill>
            <a:prstDash val="solid"/>
          </a:ln>
        </p:spPr>
      </p:sp>
      <p:sp>
        <p:nvSpPr>
          <p:cNvPr id="22" name="Text 20"/>
          <p:cNvSpPr/>
          <p:nvPr/>
        </p:nvSpPr>
        <p:spPr>
          <a:xfrm>
            <a:off x="4828032" y="2395728"/>
            <a:ext cx="3968496" cy="237744"/>
          </a:xfrm>
          <a:prstGeom prst="rect">
            <a:avLst/>
          </a:prstGeom>
          <a:noFill/>
          <a:ln/>
        </p:spPr>
        <p:txBody>
          <a:bodyPr wrap="square" rtlCol="0" anchor="ctr"/>
          <a:lstStyle/>
          <a:p>
            <a:pPr marL="0" indent="0">
              <a:buNone/>
            </a:pPr>
            <a:r>
              <a:rPr lang="en-US" sz="900" b="1" dirty="0">
                <a:solidFill>
                  <a:srgbClr val="1D9E75"/>
                </a:solidFill>
                <a:latin typeface="Calibri" pitchFamily="34" charset="0"/>
                <a:ea typeface="Calibri" pitchFamily="34" charset="-122"/>
                <a:cs typeface="Calibri" pitchFamily="34" charset="-120"/>
              </a:rPr>
              <a:t>BUSINESS CONCLUSION</a:t>
            </a:r>
            <a:endParaRPr lang="en-US" sz="900" dirty="0"/>
          </a:p>
        </p:txBody>
      </p:sp>
      <p:sp>
        <p:nvSpPr>
          <p:cNvPr id="23" name="Text 21"/>
          <p:cNvSpPr/>
          <p:nvPr/>
        </p:nvSpPr>
        <p:spPr>
          <a:xfrm>
            <a:off x="4828032" y="2670048"/>
            <a:ext cx="3968496" cy="1078992"/>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Redirect infrastructure budgets from broadband upgrades to home office stipends. Healthcare's lead is linked to higher manager support scores. Government's lag reflects structural rigidity.</a:t>
            </a:r>
            <a:endParaRPr lang="en-US" sz="1000" dirty="0"/>
          </a:p>
        </p:txBody>
      </p:sp>
      <p:sp>
        <p:nvSpPr>
          <p:cNvPr id="24" name="Shape 22"/>
          <p:cNvSpPr/>
          <p:nvPr/>
        </p:nvSpPr>
        <p:spPr>
          <a:xfrm>
            <a:off x="228600" y="3950208"/>
            <a:ext cx="8686800" cy="658368"/>
          </a:xfrm>
          <a:prstGeom prst="rect">
            <a:avLst/>
          </a:prstGeom>
          <a:solidFill>
            <a:srgbClr val="1E2761"/>
          </a:solidFill>
          <a:ln w="6350">
            <a:solidFill>
              <a:srgbClr val="D1D9EE"/>
            </a:solidFill>
            <a:prstDash val="solid"/>
          </a:ln>
          <a:effectLst>
            <a:outerShdw blurRad="101600" dist="25400" dir="8100000" algn="bl" rotWithShape="0">
              <a:srgbClr val="000000">
                <a:alpha val="10000"/>
              </a:srgbClr>
            </a:outerShdw>
          </a:effectLst>
        </p:spPr>
      </p:sp>
      <p:sp>
        <p:nvSpPr>
          <p:cNvPr id="25" name="Text 23"/>
          <p:cNvSpPr/>
          <p:nvPr/>
        </p:nvSpPr>
        <p:spPr>
          <a:xfrm>
            <a:off x="365760" y="4005072"/>
            <a:ext cx="1828800" cy="256032"/>
          </a:xfrm>
          <a:prstGeom prst="rect">
            <a:avLst/>
          </a:prstGeom>
          <a:noFill/>
          <a:ln/>
        </p:spPr>
        <p:txBody>
          <a:bodyPr wrap="square" rtlCol="0" anchor="ctr"/>
          <a:lstStyle/>
          <a:p>
            <a:pPr marL="0" indent="0">
              <a:buNone/>
            </a:pPr>
            <a:r>
              <a:rPr lang="en-US" sz="850" b="1" dirty="0">
                <a:solidFill>
                  <a:srgbClr val="1D9E75"/>
                </a:solidFill>
                <a:latin typeface="Calibri" pitchFamily="34" charset="0"/>
                <a:ea typeface="Calibri" pitchFamily="34" charset="-122"/>
                <a:cs typeface="Calibri" pitchFamily="34" charset="-120"/>
              </a:rPr>
              <a:t>★  KEY TAKEAWAY</a:t>
            </a:r>
            <a:endParaRPr lang="en-US" sz="850" dirty="0"/>
          </a:p>
        </p:txBody>
      </p:sp>
      <p:sp>
        <p:nvSpPr>
          <p:cNvPr id="26" name="Text 24"/>
          <p:cNvSpPr/>
          <p:nvPr/>
        </p:nvSpPr>
        <p:spPr>
          <a:xfrm>
            <a:off x="2194560" y="3986784"/>
            <a:ext cx="6492240" cy="47548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Redirect infrastructure budgets from broadband upgrades to home office stipends.</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1">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Shape 1"/>
          <p:cNvSpPr/>
          <p:nvPr/>
        </p:nvSpPr>
        <p:spPr>
          <a:xfrm>
            <a:off x="0" y="0"/>
            <a:ext cx="109728" cy="777240"/>
          </a:xfrm>
          <a:prstGeom prst="rect">
            <a:avLst/>
          </a:prstGeom>
          <a:solidFill>
            <a:srgbClr val="1D9E75"/>
          </a:solidFill>
          <a:ln w="12700">
            <a:solidFill>
              <a:srgbClr val="1D9E75"/>
            </a:solidFill>
            <a:prstDash val="solid"/>
          </a:ln>
        </p:spPr>
      </p:sp>
      <p:sp>
        <p:nvSpPr>
          <p:cNvPr id="4" name="Text 2"/>
          <p:cNvSpPr/>
          <p:nvPr/>
        </p:nvSpPr>
        <p:spPr>
          <a:xfrm>
            <a:off x="274320" y="0"/>
            <a:ext cx="8686800" cy="7772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Business Question Answered — BQ5–BQ8</a:t>
            </a:r>
            <a:endParaRPr lang="en-US" sz="2200" dirty="0"/>
          </a:p>
        </p:txBody>
      </p:sp>
      <p:sp>
        <p:nvSpPr>
          <p:cNvPr id="5" name="Text 3"/>
          <p:cNvSpPr/>
          <p:nvPr/>
        </p:nvSpPr>
        <p:spPr>
          <a:xfrm>
            <a:off x="274320" y="512064"/>
            <a:ext cx="8686800" cy="265176"/>
          </a:xfrm>
          <a:prstGeom prst="rect">
            <a:avLst/>
          </a:prstGeom>
          <a:noFill/>
          <a:ln/>
        </p:spPr>
        <p:txBody>
          <a:bodyPr wrap="square" rtlCol="0" anchor="ctr"/>
          <a:lstStyle/>
          <a:p>
            <a:pPr marL="0" indent="0">
              <a:buNone/>
            </a:pPr>
            <a:r>
              <a:rPr lang="en-US" sz="950" dirty="0">
                <a:solidFill>
                  <a:srgbClr val="1D9E75"/>
                </a:solidFill>
                <a:latin typeface="Calibri" pitchFamily="34" charset="0"/>
                <a:ea typeface="Calibri" pitchFamily="34" charset="-122"/>
                <a:cs typeface="Calibri" pitchFamily="34" charset="-120"/>
              </a:rPr>
              <a:t>Experience, meetings, demographics — what else drives performance?</a:t>
            </a:r>
            <a:endParaRPr lang="en-US" sz="950" dirty="0"/>
          </a:p>
        </p:txBody>
      </p:sp>
      <p:sp>
        <p:nvSpPr>
          <p:cNvPr id="6" name="Shape 4"/>
          <p:cNvSpPr/>
          <p:nvPr/>
        </p:nvSpPr>
        <p:spPr>
          <a:xfrm>
            <a:off x="0" y="4892040"/>
            <a:ext cx="9144000" cy="251460"/>
          </a:xfrm>
          <a:prstGeom prst="rect">
            <a:avLst/>
          </a:prstGeom>
          <a:solidFill>
            <a:srgbClr val="1E2761"/>
          </a:solidFill>
          <a:ln w="12700">
            <a:solidFill>
              <a:srgbClr val="1E2761"/>
            </a:solidFill>
            <a:prstDash val="solid"/>
          </a:ln>
        </p:spPr>
      </p:sp>
      <p:sp>
        <p:nvSpPr>
          <p:cNvPr id="7" name="Text 5"/>
          <p:cNvSpPr/>
          <p:nvPr/>
        </p:nvSpPr>
        <p:spPr>
          <a:xfrm>
            <a:off x="0" y="4892040"/>
            <a:ext cx="9144000" cy="251460"/>
          </a:xfrm>
          <a:prstGeom prst="rect">
            <a:avLst/>
          </a:prstGeom>
          <a:noFill/>
          <a:ln/>
        </p:spPr>
        <p:txBody>
          <a:bodyPr wrap="square"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Remote Work Productivity Analysis  ·  Slide 36 of 41</a:t>
            </a:r>
            <a:endParaRPr lang="en-US" sz="800" dirty="0"/>
          </a:p>
        </p:txBody>
      </p:sp>
      <p:sp>
        <p:nvSpPr>
          <p:cNvPr id="8" name="Shape 6"/>
          <p:cNvSpPr/>
          <p:nvPr/>
        </p:nvSpPr>
        <p:spPr>
          <a:xfrm>
            <a:off x="228600" y="932688"/>
            <a:ext cx="8686800" cy="566928"/>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9" name="Shape 7"/>
          <p:cNvSpPr/>
          <p:nvPr/>
        </p:nvSpPr>
        <p:spPr>
          <a:xfrm>
            <a:off x="228600" y="932688"/>
            <a:ext cx="8686800" cy="54864"/>
          </a:xfrm>
          <a:prstGeom prst="rect">
            <a:avLst/>
          </a:prstGeom>
          <a:solidFill>
            <a:srgbClr val="BA7517"/>
          </a:solidFill>
          <a:ln w="12700">
            <a:solidFill>
              <a:srgbClr val="BA7517"/>
            </a:solidFill>
            <a:prstDash val="solid"/>
          </a:ln>
        </p:spPr>
      </p:sp>
      <p:sp>
        <p:nvSpPr>
          <p:cNvPr id="10" name="Text 8"/>
          <p:cNvSpPr/>
          <p:nvPr/>
        </p:nvSpPr>
        <p:spPr>
          <a:xfrm>
            <a:off x="347472" y="1005840"/>
            <a:ext cx="1371600" cy="201168"/>
          </a:xfrm>
          <a:prstGeom prst="rect">
            <a:avLst/>
          </a:prstGeom>
          <a:noFill/>
          <a:ln/>
        </p:spPr>
        <p:txBody>
          <a:bodyPr wrap="square" rtlCol="0" anchor="ctr"/>
          <a:lstStyle/>
          <a:p>
            <a:pPr marL="0" indent="0">
              <a:buNone/>
            </a:pPr>
            <a:r>
              <a:rPr lang="en-US" sz="800" b="1" dirty="0">
                <a:solidFill>
                  <a:srgbClr val="BA7517"/>
                </a:solidFill>
                <a:latin typeface="Calibri" pitchFamily="34" charset="0"/>
                <a:ea typeface="Calibri" pitchFamily="34" charset="-122"/>
                <a:cs typeface="Calibri" pitchFamily="34" charset="-120"/>
              </a:rPr>
              <a:t>❓  QUESTION</a:t>
            </a:r>
            <a:endParaRPr lang="en-US" sz="800" dirty="0"/>
          </a:p>
        </p:txBody>
      </p:sp>
      <p:sp>
        <p:nvSpPr>
          <p:cNvPr id="11" name="Text 9"/>
          <p:cNvSpPr/>
          <p:nvPr/>
        </p:nvSpPr>
        <p:spPr>
          <a:xfrm>
            <a:off x="347472" y="1188720"/>
            <a:ext cx="8321040" cy="256032"/>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Experience, meetings, demographics — what else drives performance?</a:t>
            </a:r>
            <a:endParaRPr lang="en-US" sz="1000" dirty="0"/>
          </a:p>
        </p:txBody>
      </p:sp>
      <p:sp>
        <p:nvSpPr>
          <p:cNvPr id="12" name="Shape 10"/>
          <p:cNvSpPr/>
          <p:nvPr/>
        </p:nvSpPr>
        <p:spPr>
          <a:xfrm>
            <a:off x="228600" y="1627632"/>
            <a:ext cx="8686800" cy="548640"/>
          </a:xfrm>
          <a:prstGeom prst="rect">
            <a:avLst/>
          </a:prstGeom>
          <a:solidFill>
            <a:srgbClr val="EBF5FF"/>
          </a:solidFill>
          <a:ln w="6350">
            <a:solidFill>
              <a:srgbClr val="D1D9EE"/>
            </a:solidFill>
            <a:prstDash val="solid"/>
          </a:ln>
          <a:effectLst>
            <a:outerShdw blurRad="101600" dist="25400" dir="8100000" algn="bl" rotWithShape="0">
              <a:srgbClr val="000000">
                <a:alpha val="10000"/>
              </a:srgbClr>
            </a:outerShdw>
          </a:effectLst>
        </p:spPr>
      </p:sp>
      <p:sp>
        <p:nvSpPr>
          <p:cNvPr id="13" name="Shape 11"/>
          <p:cNvSpPr/>
          <p:nvPr/>
        </p:nvSpPr>
        <p:spPr>
          <a:xfrm>
            <a:off x="228600" y="1627632"/>
            <a:ext cx="73152" cy="548640"/>
          </a:xfrm>
          <a:prstGeom prst="rect">
            <a:avLst/>
          </a:prstGeom>
          <a:solidFill>
            <a:srgbClr val="BA7517"/>
          </a:solidFill>
          <a:ln w="12700">
            <a:solidFill>
              <a:srgbClr val="BA7517"/>
            </a:solidFill>
            <a:prstDash val="solid"/>
          </a:ln>
        </p:spPr>
      </p:sp>
      <p:sp>
        <p:nvSpPr>
          <p:cNvPr id="14" name="Text 12"/>
          <p:cNvSpPr/>
          <p:nvPr/>
        </p:nvSpPr>
        <p:spPr>
          <a:xfrm>
            <a:off x="384048" y="1682496"/>
            <a:ext cx="1463040" cy="201168"/>
          </a:xfrm>
          <a:prstGeom prst="rect">
            <a:avLst/>
          </a:prstGeom>
          <a:noFill/>
          <a:ln/>
        </p:spPr>
        <p:txBody>
          <a:bodyPr wrap="square" rtlCol="0" anchor="ctr"/>
          <a:lstStyle/>
          <a:p>
            <a:pPr marL="0" indent="0">
              <a:buNone/>
            </a:pPr>
            <a:r>
              <a:rPr lang="en-US" sz="800" b="1" dirty="0">
                <a:solidFill>
                  <a:srgbClr val="BA7517"/>
                </a:solidFill>
                <a:latin typeface="Calibri" pitchFamily="34" charset="0"/>
                <a:ea typeface="Calibri" pitchFamily="34" charset="-122"/>
                <a:cs typeface="Calibri" pitchFamily="34" charset="-120"/>
              </a:rPr>
              <a:t>DATA EVIDENCE</a:t>
            </a:r>
            <a:endParaRPr lang="en-US" sz="800" dirty="0"/>
          </a:p>
        </p:txBody>
      </p:sp>
      <p:sp>
        <p:nvSpPr>
          <p:cNvPr id="15" name="Text 13"/>
          <p:cNvSpPr/>
          <p:nvPr/>
        </p:nvSpPr>
        <p:spPr>
          <a:xfrm>
            <a:off x="384048" y="1883664"/>
            <a:ext cx="8229600" cy="237744"/>
          </a:xfrm>
          <a:prstGeom prst="rect">
            <a:avLst/>
          </a:prstGeom>
          <a:noFill/>
          <a:ln/>
        </p:spPr>
        <p:txBody>
          <a:bodyPr wrap="square"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Bi-weekly collab: 85.3  ·  Daily: 82.8  ·  Non-binary: 76.2  ·  Male/Female: 83.4  ·  Junior: 78.6  ·  Manager: 90.3</a:t>
            </a:r>
            <a:endParaRPr lang="en-US" sz="950" dirty="0"/>
          </a:p>
        </p:txBody>
      </p:sp>
      <p:sp>
        <p:nvSpPr>
          <p:cNvPr id="16" name="Shape 14"/>
          <p:cNvSpPr/>
          <p:nvPr/>
        </p:nvSpPr>
        <p:spPr>
          <a:xfrm>
            <a:off x="228600" y="2304288"/>
            <a:ext cx="4206240" cy="1508760"/>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17" name="Shape 15"/>
          <p:cNvSpPr/>
          <p:nvPr/>
        </p:nvSpPr>
        <p:spPr>
          <a:xfrm>
            <a:off x="228600" y="2304288"/>
            <a:ext cx="4206240" cy="54864"/>
          </a:xfrm>
          <a:prstGeom prst="rect">
            <a:avLst/>
          </a:prstGeom>
          <a:solidFill>
            <a:srgbClr val="BA7517"/>
          </a:solidFill>
          <a:ln w="12700">
            <a:solidFill>
              <a:srgbClr val="BA7517"/>
            </a:solidFill>
            <a:prstDash val="solid"/>
          </a:ln>
        </p:spPr>
      </p:sp>
      <p:sp>
        <p:nvSpPr>
          <p:cNvPr id="18" name="Text 16"/>
          <p:cNvSpPr/>
          <p:nvPr/>
        </p:nvSpPr>
        <p:spPr>
          <a:xfrm>
            <a:off x="347472" y="2395728"/>
            <a:ext cx="3968496" cy="237744"/>
          </a:xfrm>
          <a:prstGeom prst="rect">
            <a:avLst/>
          </a:prstGeom>
          <a:noFill/>
          <a:ln/>
        </p:spPr>
        <p:txBody>
          <a:bodyPr wrap="square" rtlCol="0" anchor="ctr"/>
          <a:lstStyle/>
          <a:p>
            <a:pPr marL="0" indent="0">
              <a:buNone/>
            </a:pPr>
            <a:r>
              <a:rPr lang="en-US" sz="900" b="1" dirty="0">
                <a:solidFill>
                  <a:srgbClr val="BA7517"/>
                </a:solidFill>
                <a:latin typeface="Calibri" pitchFamily="34" charset="0"/>
                <a:ea typeface="Calibri" pitchFamily="34" charset="-122"/>
                <a:cs typeface="Calibri" pitchFamily="34" charset="-120"/>
              </a:rPr>
              <a:t>ANALYSIS</a:t>
            </a:r>
            <a:endParaRPr lang="en-US" sz="900" dirty="0"/>
          </a:p>
        </p:txBody>
      </p:sp>
      <p:sp>
        <p:nvSpPr>
          <p:cNvPr id="19" name="Text 17"/>
          <p:cNvSpPr/>
          <p:nvPr/>
        </p:nvSpPr>
        <p:spPr>
          <a:xfrm>
            <a:off x="347472" y="2670048"/>
            <a:ext cx="3968496" cy="1078992"/>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Experience has a moderate positive effect (r=0.25). Bi-weekly collaboration (85.3) outperforms daily standups (82.8) — over-meeting costs 2.5 pts. Non-binary employees score 7 pts below peers. PhD holders slightly outperform, but education impact is minimal overall.</a:t>
            </a:r>
            <a:endParaRPr lang="en-US" sz="1000" dirty="0"/>
          </a:p>
        </p:txBody>
      </p:sp>
      <p:sp>
        <p:nvSpPr>
          <p:cNvPr id="20" name="Shape 18"/>
          <p:cNvSpPr/>
          <p:nvPr/>
        </p:nvSpPr>
        <p:spPr>
          <a:xfrm>
            <a:off x="4709160" y="2304288"/>
            <a:ext cx="4206240" cy="1508760"/>
          </a:xfrm>
          <a:prstGeom prst="rect">
            <a:avLst/>
          </a:prstGeom>
          <a:solidFill>
            <a:srgbClr val="F0FFF8"/>
          </a:solidFill>
          <a:ln w="6350">
            <a:solidFill>
              <a:srgbClr val="D1D9EE"/>
            </a:solidFill>
            <a:prstDash val="solid"/>
          </a:ln>
          <a:effectLst>
            <a:outerShdw blurRad="101600" dist="25400" dir="8100000" algn="bl" rotWithShape="0">
              <a:srgbClr val="000000">
                <a:alpha val="10000"/>
              </a:srgbClr>
            </a:outerShdw>
          </a:effectLst>
        </p:spPr>
      </p:sp>
      <p:sp>
        <p:nvSpPr>
          <p:cNvPr id="21" name="Shape 19"/>
          <p:cNvSpPr/>
          <p:nvPr/>
        </p:nvSpPr>
        <p:spPr>
          <a:xfrm>
            <a:off x="4709160" y="2304288"/>
            <a:ext cx="4206240" cy="54864"/>
          </a:xfrm>
          <a:prstGeom prst="rect">
            <a:avLst/>
          </a:prstGeom>
          <a:solidFill>
            <a:srgbClr val="1D9E75"/>
          </a:solidFill>
          <a:ln w="12700">
            <a:solidFill>
              <a:srgbClr val="1D9E75"/>
            </a:solidFill>
            <a:prstDash val="solid"/>
          </a:ln>
        </p:spPr>
      </p:sp>
      <p:sp>
        <p:nvSpPr>
          <p:cNvPr id="22" name="Text 20"/>
          <p:cNvSpPr/>
          <p:nvPr/>
        </p:nvSpPr>
        <p:spPr>
          <a:xfrm>
            <a:off x="4828032" y="2395728"/>
            <a:ext cx="3968496" cy="237744"/>
          </a:xfrm>
          <a:prstGeom prst="rect">
            <a:avLst/>
          </a:prstGeom>
          <a:noFill/>
          <a:ln/>
        </p:spPr>
        <p:txBody>
          <a:bodyPr wrap="square" rtlCol="0" anchor="ctr"/>
          <a:lstStyle/>
          <a:p>
            <a:pPr marL="0" indent="0">
              <a:buNone/>
            </a:pPr>
            <a:r>
              <a:rPr lang="en-US" sz="900" b="1" dirty="0">
                <a:solidFill>
                  <a:srgbClr val="1D9E75"/>
                </a:solidFill>
                <a:latin typeface="Calibri" pitchFamily="34" charset="0"/>
                <a:ea typeface="Calibri" pitchFamily="34" charset="-122"/>
                <a:cs typeface="Calibri" pitchFamily="34" charset="-120"/>
              </a:rPr>
              <a:t>BUSINESS CONCLUSION</a:t>
            </a:r>
            <a:endParaRPr lang="en-US" sz="900" dirty="0"/>
          </a:p>
        </p:txBody>
      </p:sp>
      <p:sp>
        <p:nvSpPr>
          <p:cNvPr id="23" name="Text 21"/>
          <p:cNvSpPr/>
          <p:nvPr/>
        </p:nvSpPr>
        <p:spPr>
          <a:xfrm>
            <a:off x="4828032" y="2670048"/>
            <a:ext cx="3968496" cy="1078992"/>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Reduce meeting frequency, invest in junior mentorship, and launch a DEI inclusion programme for non-binary employees. Quality of work (r=0.92) not hours (r=−0.03) should define performance reviews.</a:t>
            </a:r>
            <a:endParaRPr lang="en-US" sz="1000" dirty="0"/>
          </a:p>
        </p:txBody>
      </p:sp>
      <p:sp>
        <p:nvSpPr>
          <p:cNvPr id="24" name="Shape 22"/>
          <p:cNvSpPr/>
          <p:nvPr/>
        </p:nvSpPr>
        <p:spPr>
          <a:xfrm>
            <a:off x="228600" y="3950208"/>
            <a:ext cx="8686800" cy="658368"/>
          </a:xfrm>
          <a:prstGeom prst="rect">
            <a:avLst/>
          </a:prstGeom>
          <a:solidFill>
            <a:srgbClr val="1E2761"/>
          </a:solidFill>
          <a:ln w="6350">
            <a:solidFill>
              <a:srgbClr val="D1D9EE"/>
            </a:solidFill>
            <a:prstDash val="solid"/>
          </a:ln>
          <a:effectLst>
            <a:outerShdw blurRad="101600" dist="25400" dir="8100000" algn="bl" rotWithShape="0">
              <a:srgbClr val="000000">
                <a:alpha val="10000"/>
              </a:srgbClr>
            </a:outerShdw>
          </a:effectLst>
        </p:spPr>
      </p:sp>
      <p:sp>
        <p:nvSpPr>
          <p:cNvPr id="25" name="Text 23"/>
          <p:cNvSpPr/>
          <p:nvPr/>
        </p:nvSpPr>
        <p:spPr>
          <a:xfrm>
            <a:off x="365760" y="4005072"/>
            <a:ext cx="1828800" cy="256032"/>
          </a:xfrm>
          <a:prstGeom prst="rect">
            <a:avLst/>
          </a:prstGeom>
          <a:noFill/>
          <a:ln/>
        </p:spPr>
        <p:txBody>
          <a:bodyPr wrap="square" rtlCol="0" anchor="ctr"/>
          <a:lstStyle/>
          <a:p>
            <a:pPr marL="0" indent="0">
              <a:buNone/>
            </a:pPr>
            <a:r>
              <a:rPr lang="en-US" sz="850" b="1" dirty="0">
                <a:solidFill>
                  <a:srgbClr val="1D9E75"/>
                </a:solidFill>
                <a:latin typeface="Calibri" pitchFamily="34" charset="0"/>
                <a:ea typeface="Calibri" pitchFamily="34" charset="-122"/>
                <a:cs typeface="Calibri" pitchFamily="34" charset="-120"/>
              </a:rPr>
              <a:t>★  KEY TAKEAWAY</a:t>
            </a:r>
            <a:endParaRPr lang="en-US" sz="850" dirty="0"/>
          </a:p>
        </p:txBody>
      </p:sp>
      <p:sp>
        <p:nvSpPr>
          <p:cNvPr id="26" name="Text 24"/>
          <p:cNvSpPr/>
          <p:nvPr/>
        </p:nvSpPr>
        <p:spPr>
          <a:xfrm>
            <a:off x="2194560" y="3986784"/>
            <a:ext cx="6492240" cy="47548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Reduce meeting frequency, invest in junior mentorship, and launch a DEI inclusion programme for non-binary employees.</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2">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Shape 1"/>
          <p:cNvSpPr/>
          <p:nvPr/>
        </p:nvSpPr>
        <p:spPr>
          <a:xfrm>
            <a:off x="0" y="0"/>
            <a:ext cx="109728" cy="777240"/>
          </a:xfrm>
          <a:prstGeom prst="rect">
            <a:avLst/>
          </a:prstGeom>
          <a:solidFill>
            <a:srgbClr val="1D9E75"/>
          </a:solidFill>
          <a:ln w="12700">
            <a:solidFill>
              <a:srgbClr val="1D9E75"/>
            </a:solidFill>
            <a:prstDash val="solid"/>
          </a:ln>
        </p:spPr>
      </p:sp>
      <p:sp>
        <p:nvSpPr>
          <p:cNvPr id="4" name="Text 2"/>
          <p:cNvSpPr/>
          <p:nvPr/>
        </p:nvSpPr>
        <p:spPr>
          <a:xfrm>
            <a:off x="274320" y="0"/>
            <a:ext cx="8686800" cy="7772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Executive Conclusion</a:t>
            </a:r>
            <a:endParaRPr lang="en-US" sz="2200" dirty="0"/>
          </a:p>
        </p:txBody>
      </p:sp>
      <p:sp>
        <p:nvSpPr>
          <p:cNvPr id="5" name="Text 3"/>
          <p:cNvSpPr/>
          <p:nvPr/>
        </p:nvSpPr>
        <p:spPr>
          <a:xfrm>
            <a:off x="274320" y="512064"/>
            <a:ext cx="8686800" cy="265176"/>
          </a:xfrm>
          <a:prstGeom prst="rect">
            <a:avLst/>
          </a:prstGeom>
          <a:noFill/>
          <a:ln/>
        </p:spPr>
        <p:txBody>
          <a:bodyPr wrap="square" rtlCol="0" anchor="ctr"/>
          <a:lstStyle/>
          <a:p>
            <a:pPr marL="0" indent="0">
              <a:buNone/>
            </a:pPr>
            <a:r>
              <a:rPr lang="en-US" sz="950" b="1" dirty="0">
                <a:solidFill>
                  <a:schemeClr val="bg1"/>
                </a:solidFill>
                <a:latin typeface="Calibri" pitchFamily="34" charset="0"/>
                <a:ea typeface="Calibri" pitchFamily="34" charset="-122"/>
                <a:cs typeface="Calibri" pitchFamily="34" charset="-120"/>
              </a:rPr>
              <a:t>What the data tells us — summary for decision-makers</a:t>
            </a:r>
            <a:endParaRPr lang="en-US" sz="950" b="1" dirty="0">
              <a:solidFill>
                <a:schemeClr val="bg1"/>
              </a:solidFill>
            </a:endParaRPr>
          </a:p>
        </p:txBody>
      </p:sp>
      <p:sp>
        <p:nvSpPr>
          <p:cNvPr id="6" name="Shape 4"/>
          <p:cNvSpPr/>
          <p:nvPr/>
        </p:nvSpPr>
        <p:spPr>
          <a:xfrm>
            <a:off x="0" y="4892040"/>
            <a:ext cx="9144000" cy="251460"/>
          </a:xfrm>
          <a:prstGeom prst="rect">
            <a:avLst/>
          </a:prstGeom>
          <a:solidFill>
            <a:srgbClr val="1E2761"/>
          </a:solidFill>
          <a:ln w="12700">
            <a:solidFill>
              <a:srgbClr val="1E2761"/>
            </a:solidFill>
            <a:prstDash val="solid"/>
          </a:ln>
        </p:spPr>
      </p:sp>
      <p:sp>
        <p:nvSpPr>
          <p:cNvPr id="7" name="Text 5"/>
          <p:cNvSpPr/>
          <p:nvPr/>
        </p:nvSpPr>
        <p:spPr>
          <a:xfrm>
            <a:off x="0" y="4892040"/>
            <a:ext cx="9144000" cy="251460"/>
          </a:xfrm>
          <a:prstGeom prst="rect">
            <a:avLst/>
          </a:prstGeom>
          <a:noFill/>
          <a:ln/>
        </p:spPr>
        <p:txBody>
          <a:bodyPr wrap="square"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Remote Work Productivity Analysis  ·  Slide 37 of 41</a:t>
            </a:r>
            <a:endParaRPr lang="en-US" sz="800" dirty="0"/>
          </a:p>
        </p:txBody>
      </p:sp>
      <p:sp>
        <p:nvSpPr>
          <p:cNvPr id="8" name="Shape 6"/>
          <p:cNvSpPr/>
          <p:nvPr/>
        </p:nvSpPr>
        <p:spPr>
          <a:xfrm>
            <a:off x="228600" y="960120"/>
            <a:ext cx="4315968" cy="1737360"/>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9" name="Shape 7"/>
          <p:cNvSpPr/>
          <p:nvPr/>
        </p:nvSpPr>
        <p:spPr>
          <a:xfrm>
            <a:off x="228600" y="960120"/>
            <a:ext cx="4315968" cy="64008"/>
          </a:xfrm>
          <a:prstGeom prst="rect">
            <a:avLst/>
          </a:prstGeom>
          <a:solidFill>
            <a:srgbClr val="185FA5"/>
          </a:solidFill>
          <a:ln w="12700">
            <a:solidFill>
              <a:srgbClr val="185FA5"/>
            </a:solidFill>
            <a:prstDash val="solid"/>
          </a:ln>
        </p:spPr>
      </p:sp>
      <p:sp>
        <p:nvSpPr>
          <p:cNvPr id="10" name="Shape 8"/>
          <p:cNvSpPr/>
          <p:nvPr/>
        </p:nvSpPr>
        <p:spPr>
          <a:xfrm>
            <a:off x="338328" y="1097280"/>
            <a:ext cx="658368" cy="256032"/>
          </a:xfrm>
          <a:prstGeom prst="rect">
            <a:avLst/>
          </a:prstGeom>
          <a:solidFill>
            <a:srgbClr val="185FA5"/>
          </a:solidFill>
          <a:ln w="12700">
            <a:solidFill>
              <a:srgbClr val="185FA5"/>
            </a:solidFill>
            <a:prstDash val="solid"/>
          </a:ln>
        </p:spPr>
      </p:sp>
      <p:sp>
        <p:nvSpPr>
          <p:cNvPr id="11" name="Text 9"/>
          <p:cNvSpPr/>
          <p:nvPr/>
        </p:nvSpPr>
        <p:spPr>
          <a:xfrm>
            <a:off x="338328" y="1097280"/>
            <a:ext cx="658368" cy="256032"/>
          </a:xfrm>
          <a:prstGeom prst="rect">
            <a:avLst/>
          </a:prstGeom>
          <a:noFill/>
          <a:ln/>
        </p:spPr>
        <p:txBody>
          <a:bodyPr wrap="square" rtlCol="0" anchor="ctr"/>
          <a:lstStyle/>
          <a:p>
            <a:pPr marL="0" indent="0" algn="ctr">
              <a:buNone/>
            </a:pPr>
            <a:r>
              <a:rPr lang="en-US" sz="650" b="1" dirty="0">
                <a:solidFill>
                  <a:srgbClr val="FFFFFF"/>
                </a:solidFill>
                <a:latin typeface="Calibri" pitchFamily="34" charset="0"/>
                <a:ea typeface="Calibri" pitchFamily="34" charset="-122"/>
                <a:cs typeface="Calibri" pitchFamily="34" charset="-120"/>
              </a:rPr>
              <a:t>CONTEXT</a:t>
            </a:r>
            <a:endParaRPr lang="en-US" sz="650" dirty="0"/>
          </a:p>
        </p:txBody>
      </p:sp>
      <p:sp>
        <p:nvSpPr>
          <p:cNvPr id="12" name="Text 10"/>
          <p:cNvSpPr/>
          <p:nvPr/>
        </p:nvSpPr>
        <p:spPr>
          <a:xfrm>
            <a:off x="1069848" y="1078992"/>
            <a:ext cx="3383280" cy="292608"/>
          </a:xfrm>
          <a:prstGeom prst="rect">
            <a:avLst/>
          </a:prstGeom>
          <a:noFill/>
          <a:ln/>
        </p:spPr>
        <p:txBody>
          <a:bodyPr wrap="square"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Study Design</a:t>
            </a:r>
            <a:endParaRPr lang="en-US" sz="1200" dirty="0"/>
          </a:p>
        </p:txBody>
      </p:sp>
      <p:sp>
        <p:nvSpPr>
          <p:cNvPr id="13" name="Text 11"/>
          <p:cNvSpPr/>
          <p:nvPr/>
        </p:nvSpPr>
        <p:spPr>
          <a:xfrm>
            <a:off x="338328" y="1435608"/>
            <a:ext cx="4096512" cy="1170432"/>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1,500 remote employees · 10 industries · 11 departments · 5 job levels · star-schema model · 30 variables measured across work environment, support structure, demographics, and output quality.</a:t>
            </a:r>
            <a:endParaRPr lang="en-US" sz="900" dirty="0"/>
          </a:p>
        </p:txBody>
      </p:sp>
      <p:sp>
        <p:nvSpPr>
          <p:cNvPr id="14" name="Shape 12"/>
          <p:cNvSpPr/>
          <p:nvPr/>
        </p:nvSpPr>
        <p:spPr>
          <a:xfrm>
            <a:off x="4690872" y="960120"/>
            <a:ext cx="4315968" cy="1737360"/>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15" name="Shape 13"/>
          <p:cNvSpPr/>
          <p:nvPr/>
        </p:nvSpPr>
        <p:spPr>
          <a:xfrm>
            <a:off x="4690872" y="960120"/>
            <a:ext cx="4315968" cy="64008"/>
          </a:xfrm>
          <a:prstGeom prst="rect">
            <a:avLst/>
          </a:prstGeom>
          <a:solidFill>
            <a:srgbClr val="1D9E75"/>
          </a:solidFill>
          <a:ln w="12700">
            <a:solidFill>
              <a:srgbClr val="1D9E75"/>
            </a:solidFill>
            <a:prstDash val="solid"/>
          </a:ln>
        </p:spPr>
      </p:sp>
      <p:sp>
        <p:nvSpPr>
          <p:cNvPr id="16" name="Shape 14"/>
          <p:cNvSpPr/>
          <p:nvPr/>
        </p:nvSpPr>
        <p:spPr>
          <a:xfrm>
            <a:off x="4800600" y="1097280"/>
            <a:ext cx="658368" cy="256032"/>
          </a:xfrm>
          <a:prstGeom prst="rect">
            <a:avLst/>
          </a:prstGeom>
          <a:solidFill>
            <a:srgbClr val="1D9E75"/>
          </a:solidFill>
          <a:ln w="12700">
            <a:solidFill>
              <a:srgbClr val="1D9E75"/>
            </a:solidFill>
            <a:prstDash val="solid"/>
          </a:ln>
        </p:spPr>
      </p:sp>
      <p:sp>
        <p:nvSpPr>
          <p:cNvPr id="17" name="Text 15"/>
          <p:cNvSpPr/>
          <p:nvPr/>
        </p:nvSpPr>
        <p:spPr>
          <a:xfrm>
            <a:off x="4800600" y="1097280"/>
            <a:ext cx="658368" cy="256032"/>
          </a:xfrm>
          <a:prstGeom prst="rect">
            <a:avLst/>
          </a:prstGeom>
          <a:noFill/>
          <a:ln/>
        </p:spPr>
        <p:txBody>
          <a:bodyPr wrap="square" rtlCol="0" anchor="ctr"/>
          <a:lstStyle/>
          <a:p>
            <a:pPr marL="0" indent="0" algn="ctr">
              <a:buNone/>
            </a:pPr>
            <a:r>
              <a:rPr lang="en-US" sz="650" b="1" dirty="0">
                <a:solidFill>
                  <a:srgbClr val="FFFFFF"/>
                </a:solidFill>
                <a:latin typeface="Calibri" pitchFamily="34" charset="0"/>
                <a:ea typeface="Calibri" pitchFamily="34" charset="-122"/>
                <a:cs typeface="Calibri" pitchFamily="34" charset="-120"/>
              </a:rPr>
              <a:t>FINDING</a:t>
            </a:r>
            <a:endParaRPr lang="en-US" sz="650" dirty="0"/>
          </a:p>
        </p:txBody>
      </p:sp>
      <p:sp>
        <p:nvSpPr>
          <p:cNvPr id="18" name="Text 16"/>
          <p:cNvSpPr/>
          <p:nvPr/>
        </p:nvSpPr>
        <p:spPr>
          <a:xfrm>
            <a:off x="5532120" y="1078992"/>
            <a:ext cx="3383280" cy="292608"/>
          </a:xfrm>
          <a:prstGeom prst="rect">
            <a:avLst/>
          </a:prstGeom>
          <a:noFill/>
          <a:ln/>
        </p:spPr>
        <p:txBody>
          <a:bodyPr wrap="square"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Central Finding</a:t>
            </a:r>
            <a:endParaRPr lang="en-US" sz="1200" dirty="0"/>
          </a:p>
        </p:txBody>
      </p:sp>
      <p:sp>
        <p:nvSpPr>
          <p:cNvPr id="19" name="Text 17"/>
          <p:cNvSpPr/>
          <p:nvPr/>
        </p:nvSpPr>
        <p:spPr>
          <a:xfrm>
            <a:off x="4800600" y="1435608"/>
            <a:ext cx="4096512" cy="1170432"/>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Productivity is not a function of where or how long people work. It is driven by manager quality, physical workspace, and work structure. Organisations optimising hours and attendance are measuring the wrong things.</a:t>
            </a:r>
            <a:endParaRPr lang="en-US" sz="900" dirty="0"/>
          </a:p>
        </p:txBody>
      </p:sp>
      <p:sp>
        <p:nvSpPr>
          <p:cNvPr id="20" name="Shape 18"/>
          <p:cNvSpPr/>
          <p:nvPr/>
        </p:nvSpPr>
        <p:spPr>
          <a:xfrm>
            <a:off x="228600" y="2862072"/>
            <a:ext cx="4315968" cy="1737360"/>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21" name="Shape 19"/>
          <p:cNvSpPr/>
          <p:nvPr/>
        </p:nvSpPr>
        <p:spPr>
          <a:xfrm>
            <a:off x="228600" y="2862072"/>
            <a:ext cx="4315968" cy="64008"/>
          </a:xfrm>
          <a:prstGeom prst="rect">
            <a:avLst/>
          </a:prstGeom>
          <a:solidFill>
            <a:srgbClr val="A32D2D"/>
          </a:solidFill>
          <a:ln w="12700">
            <a:solidFill>
              <a:srgbClr val="A32D2D"/>
            </a:solidFill>
            <a:prstDash val="solid"/>
          </a:ln>
        </p:spPr>
      </p:sp>
      <p:sp>
        <p:nvSpPr>
          <p:cNvPr id="22" name="Shape 20"/>
          <p:cNvSpPr/>
          <p:nvPr/>
        </p:nvSpPr>
        <p:spPr>
          <a:xfrm>
            <a:off x="338328" y="2999232"/>
            <a:ext cx="658368" cy="256032"/>
          </a:xfrm>
          <a:prstGeom prst="rect">
            <a:avLst/>
          </a:prstGeom>
          <a:solidFill>
            <a:srgbClr val="A32D2D"/>
          </a:solidFill>
          <a:ln w="12700">
            <a:solidFill>
              <a:srgbClr val="A32D2D"/>
            </a:solidFill>
            <a:prstDash val="solid"/>
          </a:ln>
        </p:spPr>
      </p:sp>
      <p:sp>
        <p:nvSpPr>
          <p:cNvPr id="23" name="Text 21"/>
          <p:cNvSpPr/>
          <p:nvPr/>
        </p:nvSpPr>
        <p:spPr>
          <a:xfrm>
            <a:off x="338328" y="2999232"/>
            <a:ext cx="658368" cy="256032"/>
          </a:xfrm>
          <a:prstGeom prst="rect">
            <a:avLst/>
          </a:prstGeom>
          <a:noFill/>
          <a:ln/>
        </p:spPr>
        <p:txBody>
          <a:bodyPr wrap="square" rtlCol="0" anchor="ctr"/>
          <a:lstStyle/>
          <a:p>
            <a:pPr marL="0" indent="0" algn="ctr">
              <a:buNone/>
            </a:pPr>
            <a:r>
              <a:rPr lang="en-US" sz="650" b="1" dirty="0">
                <a:solidFill>
                  <a:srgbClr val="FFFFFF"/>
                </a:solidFill>
                <a:latin typeface="Calibri" pitchFamily="34" charset="0"/>
                <a:ea typeface="Calibri" pitchFamily="34" charset="-122"/>
                <a:cs typeface="Calibri" pitchFamily="34" charset="-120"/>
              </a:rPr>
              <a:t>RISK</a:t>
            </a:r>
            <a:endParaRPr lang="en-US" sz="650" dirty="0"/>
          </a:p>
        </p:txBody>
      </p:sp>
      <p:sp>
        <p:nvSpPr>
          <p:cNvPr id="24" name="Text 22"/>
          <p:cNvSpPr/>
          <p:nvPr/>
        </p:nvSpPr>
        <p:spPr>
          <a:xfrm>
            <a:off x="1069848" y="2980944"/>
            <a:ext cx="3383280" cy="292608"/>
          </a:xfrm>
          <a:prstGeom prst="rect">
            <a:avLst/>
          </a:prstGeom>
          <a:noFill/>
          <a:ln/>
        </p:spPr>
        <p:txBody>
          <a:bodyPr wrap="square"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Business Risk</a:t>
            </a:r>
            <a:endParaRPr lang="en-US" sz="1200" dirty="0"/>
          </a:p>
        </p:txBody>
      </p:sp>
      <p:sp>
        <p:nvSpPr>
          <p:cNvPr id="25" name="Text 23"/>
          <p:cNvSpPr/>
          <p:nvPr/>
        </p:nvSpPr>
        <p:spPr>
          <a:xfrm>
            <a:off x="338328" y="3337560"/>
            <a:ext cx="4096512" cy="1170432"/>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9.3% of the workforce (139 employees) score below 60. This group is characterised by poor manager support and substandard home office conditions — both entirely preventable with targeted investment.</a:t>
            </a:r>
            <a:endParaRPr lang="en-US" sz="900" dirty="0"/>
          </a:p>
        </p:txBody>
      </p:sp>
      <p:sp>
        <p:nvSpPr>
          <p:cNvPr id="26" name="Shape 24"/>
          <p:cNvSpPr/>
          <p:nvPr/>
        </p:nvSpPr>
        <p:spPr>
          <a:xfrm>
            <a:off x="4690872" y="2862072"/>
            <a:ext cx="4315968" cy="1737360"/>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27" name="Shape 25"/>
          <p:cNvSpPr/>
          <p:nvPr/>
        </p:nvSpPr>
        <p:spPr>
          <a:xfrm>
            <a:off x="4690872" y="2862072"/>
            <a:ext cx="4315968" cy="64008"/>
          </a:xfrm>
          <a:prstGeom prst="rect">
            <a:avLst/>
          </a:prstGeom>
          <a:solidFill>
            <a:srgbClr val="BA7517"/>
          </a:solidFill>
          <a:ln w="12700">
            <a:solidFill>
              <a:srgbClr val="BA7517"/>
            </a:solidFill>
            <a:prstDash val="solid"/>
          </a:ln>
        </p:spPr>
      </p:sp>
      <p:sp>
        <p:nvSpPr>
          <p:cNvPr id="28" name="Shape 26"/>
          <p:cNvSpPr/>
          <p:nvPr/>
        </p:nvSpPr>
        <p:spPr>
          <a:xfrm>
            <a:off x="4800600" y="2999232"/>
            <a:ext cx="658368" cy="256032"/>
          </a:xfrm>
          <a:prstGeom prst="rect">
            <a:avLst/>
          </a:prstGeom>
          <a:solidFill>
            <a:srgbClr val="BA7517"/>
          </a:solidFill>
          <a:ln w="12700">
            <a:solidFill>
              <a:srgbClr val="BA7517"/>
            </a:solidFill>
            <a:prstDash val="solid"/>
          </a:ln>
        </p:spPr>
      </p:sp>
      <p:sp>
        <p:nvSpPr>
          <p:cNvPr id="29" name="Text 27"/>
          <p:cNvSpPr/>
          <p:nvPr/>
        </p:nvSpPr>
        <p:spPr>
          <a:xfrm>
            <a:off x="4800600" y="2999232"/>
            <a:ext cx="658368" cy="256032"/>
          </a:xfrm>
          <a:prstGeom prst="rect">
            <a:avLst/>
          </a:prstGeom>
          <a:noFill/>
          <a:ln/>
        </p:spPr>
        <p:txBody>
          <a:bodyPr wrap="square" rtlCol="0" anchor="ctr"/>
          <a:lstStyle/>
          <a:p>
            <a:pPr marL="0" indent="0" algn="ctr">
              <a:buNone/>
            </a:pPr>
            <a:r>
              <a:rPr lang="en-US" sz="650" b="1" dirty="0">
                <a:solidFill>
                  <a:srgbClr val="FFFFFF"/>
                </a:solidFill>
                <a:latin typeface="Calibri" pitchFamily="34" charset="0"/>
                <a:ea typeface="Calibri" pitchFamily="34" charset="-122"/>
                <a:cs typeface="Calibri" pitchFamily="34" charset="-120"/>
              </a:rPr>
              <a:t>ACTION</a:t>
            </a:r>
            <a:endParaRPr lang="en-US" sz="650" dirty="0"/>
          </a:p>
        </p:txBody>
      </p:sp>
      <p:sp>
        <p:nvSpPr>
          <p:cNvPr id="30" name="Text 28"/>
          <p:cNvSpPr/>
          <p:nvPr/>
        </p:nvSpPr>
        <p:spPr>
          <a:xfrm>
            <a:off x="5532120" y="2980944"/>
            <a:ext cx="3383280" cy="292608"/>
          </a:xfrm>
          <a:prstGeom prst="rect">
            <a:avLst/>
          </a:prstGeom>
          <a:noFill/>
          <a:ln/>
        </p:spPr>
        <p:txBody>
          <a:bodyPr wrap="square"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Immediate Actions</a:t>
            </a:r>
            <a:endParaRPr lang="en-US" sz="1200" dirty="0"/>
          </a:p>
        </p:txBody>
      </p:sp>
      <p:sp>
        <p:nvSpPr>
          <p:cNvPr id="31" name="Text 29"/>
          <p:cNvSpPr/>
          <p:nvPr/>
        </p:nvSpPr>
        <p:spPr>
          <a:xfrm>
            <a:off x="4800600" y="3337560"/>
            <a:ext cx="4096512" cy="1170432"/>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Three actions recover 80% of the opportunity: (1) Manager excellence programme, (2) Hybrid 2–3 day policy, (3) Home office stipend. Combined expected uplift: +5 to +8 points organisation-wide.</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23">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Shape 1"/>
          <p:cNvSpPr/>
          <p:nvPr/>
        </p:nvSpPr>
        <p:spPr>
          <a:xfrm>
            <a:off x="0" y="0"/>
            <a:ext cx="109728" cy="777240"/>
          </a:xfrm>
          <a:prstGeom prst="rect">
            <a:avLst/>
          </a:prstGeom>
          <a:solidFill>
            <a:srgbClr val="1D9E75"/>
          </a:solidFill>
          <a:ln w="12700">
            <a:solidFill>
              <a:srgbClr val="1D9E75"/>
            </a:solidFill>
            <a:prstDash val="solid"/>
          </a:ln>
        </p:spPr>
      </p:sp>
      <p:sp>
        <p:nvSpPr>
          <p:cNvPr id="4" name="Text 2"/>
          <p:cNvSpPr/>
          <p:nvPr/>
        </p:nvSpPr>
        <p:spPr>
          <a:xfrm>
            <a:off x="274320" y="0"/>
            <a:ext cx="8686800" cy="7772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Strategic Recommendations</a:t>
            </a:r>
            <a:endParaRPr lang="en-US" sz="2200" dirty="0"/>
          </a:p>
        </p:txBody>
      </p:sp>
      <p:sp>
        <p:nvSpPr>
          <p:cNvPr id="5" name="Text 3"/>
          <p:cNvSpPr/>
          <p:nvPr/>
        </p:nvSpPr>
        <p:spPr>
          <a:xfrm>
            <a:off x="274320" y="512064"/>
            <a:ext cx="8686800" cy="265176"/>
          </a:xfrm>
          <a:prstGeom prst="rect">
            <a:avLst/>
          </a:prstGeom>
          <a:noFill/>
          <a:ln/>
        </p:spPr>
        <p:txBody>
          <a:bodyPr wrap="square" rtlCol="0" anchor="ctr"/>
          <a:lstStyle/>
          <a:p>
            <a:pPr marL="0" indent="0">
              <a:buNone/>
            </a:pPr>
            <a:r>
              <a:rPr lang="en-US" sz="950" b="1" dirty="0">
                <a:solidFill>
                  <a:schemeClr val="bg1"/>
                </a:solidFill>
                <a:latin typeface="Calibri" pitchFamily="34" charset="0"/>
                <a:ea typeface="Calibri" pitchFamily="34" charset="-122"/>
                <a:cs typeface="Calibri" pitchFamily="34" charset="-120"/>
              </a:rPr>
              <a:t>Evidence-based priorities — ordered by expected productivity uplift</a:t>
            </a:r>
            <a:endParaRPr lang="en-US" sz="950" b="1" dirty="0">
              <a:solidFill>
                <a:schemeClr val="bg1"/>
              </a:solidFill>
            </a:endParaRPr>
          </a:p>
        </p:txBody>
      </p:sp>
      <p:sp>
        <p:nvSpPr>
          <p:cNvPr id="6" name="Shape 4"/>
          <p:cNvSpPr/>
          <p:nvPr/>
        </p:nvSpPr>
        <p:spPr>
          <a:xfrm>
            <a:off x="0" y="4892040"/>
            <a:ext cx="9144000" cy="251460"/>
          </a:xfrm>
          <a:prstGeom prst="rect">
            <a:avLst/>
          </a:prstGeom>
          <a:solidFill>
            <a:srgbClr val="1E2761"/>
          </a:solidFill>
          <a:ln w="12700">
            <a:solidFill>
              <a:srgbClr val="1E2761"/>
            </a:solidFill>
            <a:prstDash val="solid"/>
          </a:ln>
        </p:spPr>
      </p:sp>
      <p:sp>
        <p:nvSpPr>
          <p:cNvPr id="7" name="Text 5"/>
          <p:cNvSpPr/>
          <p:nvPr/>
        </p:nvSpPr>
        <p:spPr>
          <a:xfrm>
            <a:off x="0" y="4892040"/>
            <a:ext cx="9144000" cy="251460"/>
          </a:xfrm>
          <a:prstGeom prst="rect">
            <a:avLst/>
          </a:prstGeom>
          <a:noFill/>
          <a:ln/>
        </p:spPr>
        <p:txBody>
          <a:bodyPr wrap="square"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Remote Work Productivity Analysis  ·  Slide 38 of 41</a:t>
            </a:r>
            <a:endParaRPr lang="en-US" sz="800" dirty="0"/>
          </a:p>
        </p:txBody>
      </p:sp>
      <p:graphicFrame>
        <p:nvGraphicFramePr>
          <p:cNvPr id="8" name="Chart 0"/>
          <p:cNvGraphicFramePr/>
          <p:nvPr/>
        </p:nvGraphicFramePr>
        <p:xfrm>
          <a:off x="274320" y="914400"/>
          <a:ext cx="493776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5486400" y="960120"/>
            <a:ext cx="3429000" cy="475488"/>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10" name="Shape 7"/>
          <p:cNvSpPr/>
          <p:nvPr/>
        </p:nvSpPr>
        <p:spPr>
          <a:xfrm>
            <a:off x="5486400" y="960120"/>
            <a:ext cx="64008" cy="475488"/>
          </a:xfrm>
          <a:prstGeom prst="rect">
            <a:avLst/>
          </a:prstGeom>
          <a:solidFill>
            <a:srgbClr val="A32D2D"/>
          </a:solidFill>
          <a:ln w="12700">
            <a:solidFill>
              <a:srgbClr val="A32D2D"/>
            </a:solidFill>
            <a:prstDash val="solid"/>
          </a:ln>
        </p:spPr>
      </p:sp>
      <p:sp>
        <p:nvSpPr>
          <p:cNvPr id="11" name="Text 8"/>
          <p:cNvSpPr/>
          <p:nvPr/>
        </p:nvSpPr>
        <p:spPr>
          <a:xfrm>
            <a:off x="5577840" y="987552"/>
            <a:ext cx="914400" cy="182880"/>
          </a:xfrm>
          <a:prstGeom prst="rect">
            <a:avLst/>
          </a:prstGeom>
          <a:noFill/>
          <a:ln/>
        </p:spPr>
        <p:txBody>
          <a:bodyPr wrap="square" rtlCol="0" anchor="ctr"/>
          <a:lstStyle/>
          <a:p>
            <a:pPr marL="0" indent="0">
              <a:buNone/>
            </a:pPr>
            <a:r>
              <a:rPr lang="en-US" sz="700" b="1" dirty="0">
                <a:solidFill>
                  <a:srgbClr val="A32D2D"/>
                </a:solidFill>
                <a:latin typeface="Calibri" pitchFamily="34" charset="0"/>
                <a:ea typeface="Calibri" pitchFamily="34" charset="-122"/>
                <a:cs typeface="Calibri" pitchFamily="34" charset="-120"/>
              </a:rPr>
              <a:t>Critical</a:t>
            </a:r>
            <a:endParaRPr lang="en-US" sz="700" dirty="0"/>
          </a:p>
        </p:txBody>
      </p:sp>
      <p:sp>
        <p:nvSpPr>
          <p:cNvPr id="12" name="Text 9"/>
          <p:cNvSpPr/>
          <p:nvPr/>
        </p:nvSpPr>
        <p:spPr>
          <a:xfrm>
            <a:off x="5577840" y="1124712"/>
            <a:ext cx="3246120" cy="182880"/>
          </a:xfrm>
          <a:prstGeom prst="rect">
            <a:avLst/>
          </a:prstGeom>
          <a:noFill/>
          <a:ln/>
        </p:spPr>
        <p:txBody>
          <a:bodyPr wrap="square"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Manager excellence programme</a:t>
            </a:r>
            <a:endParaRPr lang="en-US" sz="950" dirty="0"/>
          </a:p>
        </p:txBody>
      </p:sp>
      <p:sp>
        <p:nvSpPr>
          <p:cNvPr id="13" name="Text 10"/>
          <p:cNvSpPr/>
          <p:nvPr/>
        </p:nvSpPr>
        <p:spPr>
          <a:xfrm>
            <a:off x="5577840" y="1289304"/>
            <a:ext cx="3246120" cy="128016"/>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Q1–Q2  ·  Target: low-support managers  ·  +19 pts</a:t>
            </a:r>
            <a:endParaRPr lang="en-US" sz="800" dirty="0"/>
          </a:p>
        </p:txBody>
      </p:sp>
      <p:sp>
        <p:nvSpPr>
          <p:cNvPr id="14" name="Shape 11"/>
          <p:cNvSpPr/>
          <p:nvPr/>
        </p:nvSpPr>
        <p:spPr>
          <a:xfrm>
            <a:off x="5486400" y="1527048"/>
            <a:ext cx="3429000" cy="475488"/>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15" name="Shape 12"/>
          <p:cNvSpPr/>
          <p:nvPr/>
        </p:nvSpPr>
        <p:spPr>
          <a:xfrm>
            <a:off x="5486400" y="1527048"/>
            <a:ext cx="64008" cy="475488"/>
          </a:xfrm>
          <a:prstGeom prst="rect">
            <a:avLst/>
          </a:prstGeom>
          <a:solidFill>
            <a:srgbClr val="A32D2D"/>
          </a:solidFill>
          <a:ln w="12700">
            <a:solidFill>
              <a:srgbClr val="A32D2D"/>
            </a:solidFill>
            <a:prstDash val="solid"/>
          </a:ln>
        </p:spPr>
      </p:sp>
      <p:sp>
        <p:nvSpPr>
          <p:cNvPr id="16" name="Text 13"/>
          <p:cNvSpPr/>
          <p:nvPr/>
        </p:nvSpPr>
        <p:spPr>
          <a:xfrm>
            <a:off x="5577840" y="1554480"/>
            <a:ext cx="914400" cy="182880"/>
          </a:xfrm>
          <a:prstGeom prst="rect">
            <a:avLst/>
          </a:prstGeom>
          <a:noFill/>
          <a:ln/>
        </p:spPr>
        <p:txBody>
          <a:bodyPr wrap="square" rtlCol="0" anchor="ctr"/>
          <a:lstStyle/>
          <a:p>
            <a:pPr marL="0" indent="0">
              <a:buNone/>
            </a:pPr>
            <a:r>
              <a:rPr lang="en-US" sz="700" b="1" dirty="0">
                <a:solidFill>
                  <a:srgbClr val="A32D2D"/>
                </a:solidFill>
                <a:latin typeface="Calibri" pitchFamily="34" charset="0"/>
                <a:ea typeface="Calibri" pitchFamily="34" charset="-122"/>
                <a:cs typeface="Calibri" pitchFamily="34" charset="-120"/>
              </a:rPr>
              <a:t>Critical</a:t>
            </a:r>
            <a:endParaRPr lang="en-US" sz="700" dirty="0"/>
          </a:p>
        </p:txBody>
      </p:sp>
      <p:sp>
        <p:nvSpPr>
          <p:cNvPr id="17" name="Text 14"/>
          <p:cNvSpPr/>
          <p:nvPr/>
        </p:nvSpPr>
        <p:spPr>
          <a:xfrm>
            <a:off x="5577840" y="1691640"/>
            <a:ext cx="3246120" cy="182880"/>
          </a:xfrm>
          <a:prstGeom prst="rect">
            <a:avLst/>
          </a:prstGeom>
          <a:noFill/>
          <a:ln/>
        </p:spPr>
        <p:txBody>
          <a:bodyPr wrap="square"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Formalise hybrid 2–3 day policy</a:t>
            </a:r>
            <a:endParaRPr lang="en-US" sz="950" dirty="0"/>
          </a:p>
        </p:txBody>
      </p:sp>
      <p:sp>
        <p:nvSpPr>
          <p:cNvPr id="18" name="Text 15"/>
          <p:cNvSpPr/>
          <p:nvPr/>
        </p:nvSpPr>
        <p:spPr>
          <a:xfrm>
            <a:off x="5577840" y="1856232"/>
            <a:ext cx="3246120" cy="128016"/>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Immediate  ·  All employees  ·  avoid 5-pt RTO loss</a:t>
            </a:r>
            <a:endParaRPr lang="en-US" sz="800" dirty="0"/>
          </a:p>
        </p:txBody>
      </p:sp>
      <p:sp>
        <p:nvSpPr>
          <p:cNvPr id="19" name="Shape 16"/>
          <p:cNvSpPr/>
          <p:nvPr/>
        </p:nvSpPr>
        <p:spPr>
          <a:xfrm>
            <a:off x="5486400" y="2093976"/>
            <a:ext cx="3429000" cy="475488"/>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20" name="Shape 17"/>
          <p:cNvSpPr/>
          <p:nvPr/>
        </p:nvSpPr>
        <p:spPr>
          <a:xfrm>
            <a:off x="5486400" y="2093976"/>
            <a:ext cx="64008" cy="475488"/>
          </a:xfrm>
          <a:prstGeom prst="rect">
            <a:avLst/>
          </a:prstGeom>
          <a:solidFill>
            <a:srgbClr val="BA7517"/>
          </a:solidFill>
          <a:ln w="12700">
            <a:solidFill>
              <a:srgbClr val="BA7517"/>
            </a:solidFill>
            <a:prstDash val="solid"/>
          </a:ln>
        </p:spPr>
      </p:sp>
      <p:sp>
        <p:nvSpPr>
          <p:cNvPr id="21" name="Text 18"/>
          <p:cNvSpPr/>
          <p:nvPr/>
        </p:nvSpPr>
        <p:spPr>
          <a:xfrm>
            <a:off x="5577840" y="2121408"/>
            <a:ext cx="914400" cy="182880"/>
          </a:xfrm>
          <a:prstGeom prst="rect">
            <a:avLst/>
          </a:prstGeom>
          <a:noFill/>
          <a:ln/>
        </p:spPr>
        <p:txBody>
          <a:bodyPr wrap="square" rtlCol="0" anchor="ctr"/>
          <a:lstStyle/>
          <a:p>
            <a:pPr marL="0" indent="0">
              <a:buNone/>
            </a:pPr>
            <a:r>
              <a:rPr lang="en-US" sz="700" b="1" dirty="0">
                <a:solidFill>
                  <a:srgbClr val="BA7517"/>
                </a:solidFill>
                <a:latin typeface="Calibri" pitchFamily="34" charset="0"/>
                <a:ea typeface="Calibri" pitchFamily="34" charset="-122"/>
                <a:cs typeface="Calibri" pitchFamily="34" charset="-120"/>
              </a:rPr>
              <a:t>High</a:t>
            </a:r>
            <a:endParaRPr lang="en-US" sz="700" dirty="0"/>
          </a:p>
        </p:txBody>
      </p:sp>
      <p:sp>
        <p:nvSpPr>
          <p:cNvPr id="22" name="Text 19"/>
          <p:cNvSpPr/>
          <p:nvPr/>
        </p:nvSpPr>
        <p:spPr>
          <a:xfrm>
            <a:off x="5577840" y="2258568"/>
            <a:ext cx="3246120" cy="182880"/>
          </a:xfrm>
          <a:prstGeom prst="rect">
            <a:avLst/>
          </a:prstGeom>
          <a:noFill/>
          <a:ln/>
        </p:spPr>
        <p:txBody>
          <a:bodyPr wrap="square"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Home office stipend €500–€1k/yr</a:t>
            </a:r>
            <a:endParaRPr lang="en-US" sz="950" dirty="0"/>
          </a:p>
        </p:txBody>
      </p:sp>
      <p:sp>
        <p:nvSpPr>
          <p:cNvPr id="23" name="Text 20"/>
          <p:cNvSpPr/>
          <p:nvPr/>
        </p:nvSpPr>
        <p:spPr>
          <a:xfrm>
            <a:off x="5577840" y="2423160"/>
            <a:ext cx="3246120" cy="128016"/>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Q1  ·  Bottom quartile  ·  +10 pts</a:t>
            </a:r>
            <a:endParaRPr lang="en-US" sz="800" dirty="0"/>
          </a:p>
        </p:txBody>
      </p:sp>
      <p:sp>
        <p:nvSpPr>
          <p:cNvPr id="24" name="Shape 21"/>
          <p:cNvSpPr/>
          <p:nvPr/>
        </p:nvSpPr>
        <p:spPr>
          <a:xfrm>
            <a:off x="5486400" y="2660904"/>
            <a:ext cx="3429000" cy="475488"/>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25" name="Shape 22"/>
          <p:cNvSpPr/>
          <p:nvPr/>
        </p:nvSpPr>
        <p:spPr>
          <a:xfrm>
            <a:off x="5486400" y="2660904"/>
            <a:ext cx="64008" cy="475488"/>
          </a:xfrm>
          <a:prstGeom prst="rect">
            <a:avLst/>
          </a:prstGeom>
          <a:solidFill>
            <a:srgbClr val="BA7517"/>
          </a:solidFill>
          <a:ln w="12700">
            <a:solidFill>
              <a:srgbClr val="BA7517"/>
            </a:solidFill>
            <a:prstDash val="solid"/>
          </a:ln>
        </p:spPr>
      </p:sp>
      <p:sp>
        <p:nvSpPr>
          <p:cNvPr id="26" name="Text 23"/>
          <p:cNvSpPr/>
          <p:nvPr/>
        </p:nvSpPr>
        <p:spPr>
          <a:xfrm>
            <a:off x="5577840" y="2688336"/>
            <a:ext cx="914400" cy="182880"/>
          </a:xfrm>
          <a:prstGeom prst="rect">
            <a:avLst/>
          </a:prstGeom>
          <a:noFill/>
          <a:ln/>
        </p:spPr>
        <p:txBody>
          <a:bodyPr wrap="square" rtlCol="0" anchor="ctr"/>
          <a:lstStyle/>
          <a:p>
            <a:pPr marL="0" indent="0">
              <a:buNone/>
            </a:pPr>
            <a:r>
              <a:rPr lang="en-US" sz="700" b="1" dirty="0">
                <a:solidFill>
                  <a:srgbClr val="BA7517"/>
                </a:solidFill>
                <a:latin typeface="Calibri" pitchFamily="34" charset="0"/>
                <a:ea typeface="Calibri" pitchFamily="34" charset="-122"/>
                <a:cs typeface="Calibri" pitchFamily="34" charset="-120"/>
              </a:rPr>
              <a:t>High</a:t>
            </a:r>
            <a:endParaRPr lang="en-US" sz="700" dirty="0"/>
          </a:p>
        </p:txBody>
      </p:sp>
      <p:sp>
        <p:nvSpPr>
          <p:cNvPr id="27" name="Text 24"/>
          <p:cNvSpPr/>
          <p:nvPr/>
        </p:nvSpPr>
        <p:spPr>
          <a:xfrm>
            <a:off x="5577840" y="2825496"/>
            <a:ext cx="3246120" cy="182880"/>
          </a:xfrm>
          <a:prstGeom prst="rect">
            <a:avLst/>
          </a:prstGeom>
          <a:noFill/>
          <a:ln/>
        </p:spPr>
        <p:txBody>
          <a:bodyPr wrap="square"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Junior mentorship redesign</a:t>
            </a:r>
            <a:endParaRPr lang="en-US" sz="950" dirty="0"/>
          </a:p>
        </p:txBody>
      </p:sp>
      <p:sp>
        <p:nvSpPr>
          <p:cNvPr id="28" name="Text 25"/>
          <p:cNvSpPr/>
          <p:nvPr/>
        </p:nvSpPr>
        <p:spPr>
          <a:xfrm>
            <a:off x="5577840" y="2990088"/>
            <a:ext cx="3246120" cy="128016"/>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Q1–Q3  ·  539 Junior staff  ·  close 11.7-pt gap</a:t>
            </a:r>
            <a:endParaRPr lang="en-US" sz="800" dirty="0"/>
          </a:p>
        </p:txBody>
      </p:sp>
      <p:sp>
        <p:nvSpPr>
          <p:cNvPr id="29" name="Shape 26"/>
          <p:cNvSpPr/>
          <p:nvPr/>
        </p:nvSpPr>
        <p:spPr>
          <a:xfrm>
            <a:off x="5486400" y="3227832"/>
            <a:ext cx="3429000" cy="475488"/>
          </a:xfrm>
          <a:prstGeom prst="rect">
            <a:avLst/>
          </a:prstGeom>
          <a:solidFill>
            <a:srgbClr val="FFFFFF"/>
          </a:solidFill>
          <a:ln w="6350">
            <a:solidFill>
              <a:srgbClr val="D1D9EE"/>
            </a:solidFill>
            <a:prstDash val="solid"/>
          </a:ln>
          <a:effectLst>
            <a:outerShdw blurRad="101600" dist="25400" dir="8100000" algn="bl" rotWithShape="0">
              <a:srgbClr val="000000">
                <a:alpha val="10000"/>
              </a:srgbClr>
            </a:outerShdw>
          </a:effectLst>
        </p:spPr>
      </p:sp>
      <p:sp>
        <p:nvSpPr>
          <p:cNvPr id="30" name="Shape 27"/>
          <p:cNvSpPr/>
          <p:nvPr/>
        </p:nvSpPr>
        <p:spPr>
          <a:xfrm>
            <a:off x="5486400" y="3227832"/>
            <a:ext cx="64008" cy="475488"/>
          </a:xfrm>
          <a:prstGeom prst="rect">
            <a:avLst/>
          </a:prstGeom>
          <a:solidFill>
            <a:srgbClr val="185FA5"/>
          </a:solidFill>
          <a:ln w="12700">
            <a:solidFill>
              <a:srgbClr val="185FA5"/>
            </a:solidFill>
            <a:prstDash val="solid"/>
          </a:ln>
        </p:spPr>
      </p:sp>
      <p:sp>
        <p:nvSpPr>
          <p:cNvPr id="31" name="Text 28"/>
          <p:cNvSpPr/>
          <p:nvPr/>
        </p:nvSpPr>
        <p:spPr>
          <a:xfrm>
            <a:off x="5577840" y="3255264"/>
            <a:ext cx="914400" cy="182880"/>
          </a:xfrm>
          <a:prstGeom prst="rect">
            <a:avLst/>
          </a:prstGeom>
          <a:noFill/>
          <a:ln/>
        </p:spPr>
        <p:txBody>
          <a:bodyPr wrap="square" rtlCol="0" anchor="ctr"/>
          <a:lstStyle/>
          <a:p>
            <a:pPr marL="0" indent="0">
              <a:buNone/>
            </a:pPr>
            <a:r>
              <a:rPr lang="en-US" sz="700" b="1" dirty="0">
                <a:solidFill>
                  <a:srgbClr val="185FA5"/>
                </a:solidFill>
                <a:latin typeface="Calibri" pitchFamily="34" charset="0"/>
                <a:ea typeface="Calibri" pitchFamily="34" charset="-122"/>
                <a:cs typeface="Calibri" pitchFamily="34" charset="-120"/>
              </a:rPr>
              <a:t>Medium</a:t>
            </a:r>
            <a:endParaRPr lang="en-US" sz="700" dirty="0"/>
          </a:p>
        </p:txBody>
      </p:sp>
      <p:sp>
        <p:nvSpPr>
          <p:cNvPr id="32" name="Text 29"/>
          <p:cNvSpPr/>
          <p:nvPr/>
        </p:nvSpPr>
        <p:spPr>
          <a:xfrm>
            <a:off x="5577840" y="3392424"/>
            <a:ext cx="3246120" cy="182880"/>
          </a:xfrm>
          <a:prstGeom prst="rect">
            <a:avLst/>
          </a:prstGeom>
          <a:noFill/>
          <a:ln/>
        </p:spPr>
        <p:txBody>
          <a:bodyPr wrap="square"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Meeting audit — enforce bi-weekly</a:t>
            </a:r>
            <a:endParaRPr lang="en-US" sz="950" dirty="0"/>
          </a:p>
        </p:txBody>
      </p:sp>
      <p:sp>
        <p:nvSpPr>
          <p:cNvPr id="33" name="Text 30"/>
          <p:cNvSpPr/>
          <p:nvPr/>
        </p:nvSpPr>
        <p:spPr>
          <a:xfrm>
            <a:off x="5577840" y="3557016"/>
            <a:ext cx="3246120" cy="128016"/>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Q2  ·  Teams with daily standups  ·  +2.5 pts</a:t>
            </a:r>
            <a:endParaRPr lang="en-US" sz="800" dirty="0"/>
          </a:p>
        </p:txBody>
      </p:sp>
      <p:pic>
        <p:nvPicPr>
          <p:cNvPr id="40" name="Picture 39">
            <a:extLst>
              <a:ext uri="{FF2B5EF4-FFF2-40B4-BE49-F238E27FC236}">
                <a16:creationId xmlns:a16="http://schemas.microsoft.com/office/drawing/2014/main" id="{6F5BED40-5598-4649-C36C-7B5725B6BEEB}"/>
              </a:ext>
            </a:extLst>
          </p:cNvPr>
          <p:cNvPicPr>
            <a:picLocks noChangeAspect="1"/>
          </p:cNvPicPr>
          <p:nvPr/>
        </p:nvPicPr>
        <p:blipFill>
          <a:blip r:embed="rId4"/>
          <a:stretch>
            <a:fillRect/>
          </a:stretch>
        </p:blipFill>
        <p:spPr>
          <a:xfrm>
            <a:off x="246611" y="2651760"/>
            <a:ext cx="5017573" cy="173736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Shape 1"/>
          <p:cNvSpPr/>
          <p:nvPr/>
        </p:nvSpPr>
        <p:spPr>
          <a:xfrm>
            <a:off x="0" y="0"/>
            <a:ext cx="109728" cy="777240"/>
          </a:xfrm>
          <a:prstGeom prst="rect">
            <a:avLst/>
          </a:prstGeom>
          <a:solidFill>
            <a:srgbClr val="1D9E75"/>
          </a:solidFill>
          <a:ln w="12700">
            <a:solidFill>
              <a:srgbClr val="1D9E75"/>
            </a:solidFill>
            <a:prstDash val="solid"/>
          </a:ln>
        </p:spPr>
      </p:sp>
      <p:sp>
        <p:nvSpPr>
          <p:cNvPr id="4" name="Text 2"/>
          <p:cNvSpPr/>
          <p:nvPr/>
        </p:nvSpPr>
        <p:spPr>
          <a:xfrm>
            <a:off x="274320" y="0"/>
            <a:ext cx="8686800" cy="7772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Action Plan</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274320" y="512064"/>
            <a:ext cx="8686800" cy="26517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err="1">
                <a:ln>
                  <a:noFill/>
                </a:ln>
                <a:solidFill>
                  <a:schemeClr val="bg1"/>
                </a:solidFill>
                <a:effectLst/>
                <a:uLnTx/>
                <a:uFillTx/>
                <a:latin typeface="Calibri" pitchFamily="34" charset="0"/>
                <a:ea typeface="Calibri" pitchFamily="34" charset="-122"/>
                <a:cs typeface="Calibri" pitchFamily="34" charset="-120"/>
              </a:rPr>
              <a:t>Prioritised</a:t>
            </a:r>
            <a:r>
              <a:rPr kumimoji="0" lang="en-US" sz="950" b="1" i="0" u="none" strike="noStrike" kern="1200" cap="none" spc="0" normalizeH="0" baseline="0" noProof="0" dirty="0">
                <a:ln>
                  <a:noFill/>
                </a:ln>
                <a:solidFill>
                  <a:schemeClr val="bg1"/>
                </a:solidFill>
                <a:effectLst/>
                <a:uLnTx/>
                <a:uFillTx/>
                <a:latin typeface="Calibri" pitchFamily="34" charset="0"/>
                <a:ea typeface="Calibri" pitchFamily="34" charset="-122"/>
                <a:cs typeface="Calibri" pitchFamily="34" charset="-120"/>
              </a:rPr>
              <a:t> 7-initiative roadmap with timeline and expected impact</a:t>
            </a:r>
            <a:endParaRPr kumimoji="0" lang="en-US" sz="95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6" name="Shape 4"/>
          <p:cNvSpPr/>
          <p:nvPr/>
        </p:nvSpPr>
        <p:spPr>
          <a:xfrm>
            <a:off x="0" y="4892040"/>
            <a:ext cx="9144000" cy="251460"/>
          </a:xfrm>
          <a:prstGeom prst="rect">
            <a:avLst/>
          </a:prstGeom>
          <a:solidFill>
            <a:srgbClr val="1E2761"/>
          </a:solidFill>
          <a:ln w="12700">
            <a:solidFill>
              <a:srgbClr val="1E2761"/>
            </a:solidFill>
            <a:prstDash val="solid"/>
          </a:ln>
        </p:spPr>
      </p:sp>
      <p:sp>
        <p:nvSpPr>
          <p:cNvPr id="7" name="Text 5"/>
          <p:cNvSpPr/>
          <p:nvPr/>
        </p:nvSpPr>
        <p:spPr>
          <a:xfrm>
            <a:off x="0" y="4892040"/>
            <a:ext cx="9144000" cy="2514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Remote Work Productivity Analysis  ·  Slide 39 of 41</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182880" y="932688"/>
            <a:ext cx="8778240" cy="329184"/>
          </a:xfrm>
          <a:prstGeom prst="rect">
            <a:avLst/>
          </a:prstGeom>
          <a:solidFill>
            <a:srgbClr val="1E2761"/>
          </a:solidFill>
          <a:ln w="12700">
            <a:solidFill>
              <a:srgbClr val="1E2761"/>
            </a:solidFill>
            <a:prstDash val="solid"/>
          </a:ln>
        </p:spPr>
      </p:sp>
      <p:sp>
        <p:nvSpPr>
          <p:cNvPr id="9" name="Text 7"/>
          <p:cNvSpPr/>
          <p:nvPr/>
        </p:nvSpPr>
        <p:spPr>
          <a:xfrm>
            <a:off x="182880" y="932688"/>
            <a:ext cx="256032" cy="329184"/>
          </a:xfrm>
          <a:prstGeom prst="rect">
            <a:avLst/>
          </a:prstGeom>
          <a:noFill/>
          <a:ln/>
        </p:spPr>
        <p:txBody>
          <a:bodyPr wrap="square" lIns="38100" tIns="38100" rIns="38100" bIns="381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38912" y="932688"/>
            <a:ext cx="2926080" cy="329184"/>
          </a:xfrm>
          <a:prstGeom prst="rect">
            <a:avLst/>
          </a:prstGeom>
          <a:noFill/>
          <a:ln/>
        </p:spPr>
        <p:txBody>
          <a:bodyPr wrap="square" lIns="38100" tIns="38100" rIns="38100" bIns="381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Initiative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3364992" y="932688"/>
            <a:ext cx="1737360" cy="329184"/>
          </a:xfrm>
          <a:prstGeom prst="rect">
            <a:avLst/>
          </a:prstGeom>
          <a:noFill/>
          <a:ln/>
        </p:spPr>
        <p:txBody>
          <a:bodyPr wrap="square" lIns="38100" tIns="38100" rIns="38100" bIns="381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Target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5102352" y="932688"/>
            <a:ext cx="1280160" cy="329184"/>
          </a:xfrm>
          <a:prstGeom prst="rect">
            <a:avLst/>
          </a:prstGeom>
          <a:noFill/>
          <a:ln/>
        </p:spPr>
        <p:txBody>
          <a:bodyPr wrap="square" lIns="38100" tIns="38100" rIns="38100" bIns="381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Impact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6382512" y="932688"/>
            <a:ext cx="822960" cy="329184"/>
          </a:xfrm>
          <a:prstGeom prst="rect">
            <a:avLst/>
          </a:prstGeom>
          <a:noFill/>
          <a:ln/>
        </p:spPr>
        <p:txBody>
          <a:bodyPr wrap="square" lIns="38100" tIns="38100" rIns="38100" bIns="381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Priority</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7205472" y="932688"/>
            <a:ext cx="822960" cy="329184"/>
          </a:xfrm>
          <a:prstGeom prst="rect">
            <a:avLst/>
          </a:prstGeom>
          <a:noFill/>
          <a:ln/>
        </p:spPr>
        <p:txBody>
          <a:bodyPr wrap="square" lIns="38100" tIns="38100" rIns="38100" bIns="381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Timeline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182880" y="1316736"/>
            <a:ext cx="8778240" cy="411480"/>
          </a:xfrm>
          <a:prstGeom prst="rect">
            <a:avLst/>
          </a:prstGeom>
          <a:solidFill>
            <a:srgbClr val="FFFFFF"/>
          </a:solidFill>
          <a:ln w="6350">
            <a:solidFill>
              <a:srgbClr val="D1D9EE"/>
            </a:solidFill>
            <a:prstDash val="solid"/>
          </a:ln>
        </p:spPr>
      </p:sp>
      <p:sp>
        <p:nvSpPr>
          <p:cNvPr id="16" name="Text 14"/>
          <p:cNvSpPr/>
          <p:nvPr/>
        </p:nvSpPr>
        <p:spPr>
          <a:xfrm>
            <a:off x="219456" y="1353312"/>
            <a:ext cx="201168" cy="34747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185FA5"/>
                </a:solidFill>
                <a:effectLst/>
                <a:uLnTx/>
                <a:uFillTx/>
                <a:latin typeface="Calibri" pitchFamily="34" charset="0"/>
                <a:ea typeface="Calibri" pitchFamily="34" charset="-122"/>
                <a:cs typeface="Calibri" pitchFamily="34" charset="-120"/>
              </a:rPr>
              <a:t>1</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475488" y="1353312"/>
            <a:ext cx="2871216" cy="34747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Manager excellence programme — coaching, 360° feedback</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3401568" y="1353312"/>
            <a:ext cx="1682496" cy="34747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Low-support managers</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5138928" y="1353312"/>
            <a:ext cx="1225296" cy="34747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+19 pts productivity</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6419088" y="1399032"/>
            <a:ext cx="749808" cy="246888"/>
          </a:xfrm>
          <a:prstGeom prst="rect">
            <a:avLst/>
          </a:prstGeom>
          <a:solidFill>
            <a:srgbClr val="A32D2D">
              <a:alpha val="18000"/>
            </a:srgbClr>
          </a:solidFill>
          <a:ln w="12700">
            <a:solidFill>
              <a:srgbClr val="A32D2D"/>
            </a:solidFill>
            <a:prstDash val="solid"/>
          </a:ln>
        </p:spPr>
      </p:sp>
      <p:sp>
        <p:nvSpPr>
          <p:cNvPr id="21" name="Text 19"/>
          <p:cNvSpPr/>
          <p:nvPr/>
        </p:nvSpPr>
        <p:spPr>
          <a:xfrm>
            <a:off x="6419088" y="1399032"/>
            <a:ext cx="749808" cy="24688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A32D2D"/>
                </a:solidFill>
                <a:effectLst/>
                <a:uLnTx/>
                <a:uFillTx/>
                <a:latin typeface="Calibri" pitchFamily="34" charset="0"/>
                <a:ea typeface="Calibri" pitchFamily="34" charset="-122"/>
                <a:cs typeface="Calibri" pitchFamily="34" charset="-120"/>
              </a:rPr>
              <a:t>Critical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7242048" y="1353312"/>
            <a:ext cx="768096" cy="34747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Q1–Q2</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1"/>
          <p:cNvSpPr/>
          <p:nvPr/>
        </p:nvSpPr>
        <p:spPr>
          <a:xfrm>
            <a:off x="182880" y="1764792"/>
            <a:ext cx="8778240" cy="411480"/>
          </a:xfrm>
          <a:prstGeom prst="rect">
            <a:avLst/>
          </a:prstGeom>
          <a:solidFill>
            <a:srgbClr val="F4F6FB"/>
          </a:solidFill>
          <a:ln w="6350">
            <a:solidFill>
              <a:srgbClr val="D1D9EE"/>
            </a:solidFill>
            <a:prstDash val="solid"/>
          </a:ln>
        </p:spPr>
      </p:sp>
      <p:sp>
        <p:nvSpPr>
          <p:cNvPr id="24" name="Text 22"/>
          <p:cNvSpPr/>
          <p:nvPr/>
        </p:nvSpPr>
        <p:spPr>
          <a:xfrm>
            <a:off x="219456" y="1801368"/>
            <a:ext cx="201168" cy="34747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185FA5"/>
                </a:solidFill>
                <a:effectLst/>
                <a:uLnTx/>
                <a:uFillTx/>
                <a:latin typeface="Calibri" pitchFamily="34" charset="0"/>
                <a:ea typeface="Calibri" pitchFamily="34" charset="-122"/>
                <a:cs typeface="Calibri" pitchFamily="34" charset="-120"/>
              </a:rPr>
              <a:t>2</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475488" y="1801368"/>
            <a:ext cx="2871216" cy="34747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Formalise hybrid 2–3 WFH day policy</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3401568" y="1801368"/>
            <a:ext cx="1682496" cy="34747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All employees</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5138928" y="1801368"/>
            <a:ext cx="1225296" cy="34747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Avoid 5-pt RTO loss</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6"/>
          <p:cNvSpPr/>
          <p:nvPr/>
        </p:nvSpPr>
        <p:spPr>
          <a:xfrm>
            <a:off x="6419088" y="1847088"/>
            <a:ext cx="749808" cy="246888"/>
          </a:xfrm>
          <a:prstGeom prst="rect">
            <a:avLst/>
          </a:prstGeom>
          <a:solidFill>
            <a:srgbClr val="A32D2D">
              <a:alpha val="18000"/>
            </a:srgbClr>
          </a:solidFill>
          <a:ln w="12700">
            <a:solidFill>
              <a:srgbClr val="A32D2D"/>
            </a:solidFill>
            <a:prstDash val="solid"/>
          </a:ln>
        </p:spPr>
      </p:sp>
      <p:sp>
        <p:nvSpPr>
          <p:cNvPr id="29" name="Text 27"/>
          <p:cNvSpPr/>
          <p:nvPr/>
        </p:nvSpPr>
        <p:spPr>
          <a:xfrm>
            <a:off x="6419088" y="1847088"/>
            <a:ext cx="749808" cy="24688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A32D2D"/>
                </a:solidFill>
                <a:effectLst/>
                <a:uLnTx/>
                <a:uFillTx/>
                <a:latin typeface="Calibri" pitchFamily="34" charset="0"/>
                <a:ea typeface="Calibri" pitchFamily="34" charset="-122"/>
                <a:cs typeface="Calibri" pitchFamily="34" charset="-120"/>
              </a:rPr>
              <a:t>Critical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p:cNvSpPr/>
          <p:nvPr/>
        </p:nvSpPr>
        <p:spPr>
          <a:xfrm>
            <a:off x="7242048" y="1801368"/>
            <a:ext cx="768096" cy="34747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Immediate</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Shape 29"/>
          <p:cNvSpPr/>
          <p:nvPr/>
        </p:nvSpPr>
        <p:spPr>
          <a:xfrm>
            <a:off x="182880" y="2212848"/>
            <a:ext cx="8778240" cy="411480"/>
          </a:xfrm>
          <a:prstGeom prst="rect">
            <a:avLst/>
          </a:prstGeom>
          <a:solidFill>
            <a:srgbClr val="FFFFFF"/>
          </a:solidFill>
          <a:ln w="6350">
            <a:solidFill>
              <a:srgbClr val="D1D9EE"/>
            </a:solidFill>
            <a:prstDash val="solid"/>
          </a:ln>
        </p:spPr>
      </p:sp>
      <p:sp>
        <p:nvSpPr>
          <p:cNvPr id="32" name="Text 30"/>
          <p:cNvSpPr/>
          <p:nvPr/>
        </p:nvSpPr>
        <p:spPr>
          <a:xfrm>
            <a:off x="219456" y="2249424"/>
            <a:ext cx="201168" cy="34747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185FA5"/>
                </a:solidFill>
                <a:effectLst/>
                <a:uLnTx/>
                <a:uFillTx/>
                <a:latin typeface="Calibri" pitchFamily="34" charset="0"/>
                <a:ea typeface="Calibri" pitchFamily="34" charset="-122"/>
                <a:cs typeface="Calibri" pitchFamily="34" charset="-120"/>
              </a:rPr>
              <a:t>3</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475488" y="2249424"/>
            <a:ext cx="2871216" cy="34747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Home office stipend €500–€1k/yr</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p:cNvSpPr/>
          <p:nvPr/>
        </p:nvSpPr>
        <p:spPr>
          <a:xfrm>
            <a:off x="3401568" y="2249424"/>
            <a:ext cx="1682496" cy="34747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Poor/avg home offices</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3"/>
          <p:cNvSpPr/>
          <p:nvPr/>
        </p:nvSpPr>
        <p:spPr>
          <a:xfrm>
            <a:off x="5138928" y="2249424"/>
            <a:ext cx="1225296" cy="34747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+10 pts bottom quartile</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Shape 34"/>
          <p:cNvSpPr/>
          <p:nvPr/>
        </p:nvSpPr>
        <p:spPr>
          <a:xfrm>
            <a:off x="6419088" y="2295144"/>
            <a:ext cx="749808" cy="246888"/>
          </a:xfrm>
          <a:prstGeom prst="rect">
            <a:avLst/>
          </a:prstGeom>
          <a:solidFill>
            <a:srgbClr val="BA7517">
              <a:alpha val="18000"/>
            </a:srgbClr>
          </a:solidFill>
          <a:ln w="12700">
            <a:solidFill>
              <a:srgbClr val="BA7517"/>
            </a:solidFill>
            <a:prstDash val="solid"/>
          </a:ln>
        </p:spPr>
      </p:sp>
      <p:sp>
        <p:nvSpPr>
          <p:cNvPr id="37" name="Text 35"/>
          <p:cNvSpPr/>
          <p:nvPr/>
        </p:nvSpPr>
        <p:spPr>
          <a:xfrm>
            <a:off x="6419088" y="2295144"/>
            <a:ext cx="749808" cy="24688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BA7517"/>
                </a:solidFill>
                <a:effectLst/>
                <a:uLnTx/>
                <a:uFillTx/>
                <a:latin typeface="Calibri" pitchFamily="34" charset="0"/>
                <a:ea typeface="Calibri" pitchFamily="34" charset="-122"/>
                <a:cs typeface="Calibri" pitchFamily="34" charset="-120"/>
              </a:rPr>
              <a:t>High</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36"/>
          <p:cNvSpPr/>
          <p:nvPr/>
        </p:nvSpPr>
        <p:spPr>
          <a:xfrm>
            <a:off x="7242048" y="2249424"/>
            <a:ext cx="768096" cy="34747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Q1</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Shape 37"/>
          <p:cNvSpPr/>
          <p:nvPr/>
        </p:nvSpPr>
        <p:spPr>
          <a:xfrm>
            <a:off x="182880" y="2660904"/>
            <a:ext cx="8778240" cy="411480"/>
          </a:xfrm>
          <a:prstGeom prst="rect">
            <a:avLst/>
          </a:prstGeom>
          <a:solidFill>
            <a:srgbClr val="F4F6FB"/>
          </a:solidFill>
          <a:ln w="6350">
            <a:solidFill>
              <a:srgbClr val="D1D9EE"/>
            </a:solidFill>
            <a:prstDash val="solid"/>
          </a:ln>
        </p:spPr>
      </p:sp>
      <p:sp>
        <p:nvSpPr>
          <p:cNvPr id="40" name="Text 38"/>
          <p:cNvSpPr/>
          <p:nvPr/>
        </p:nvSpPr>
        <p:spPr>
          <a:xfrm>
            <a:off x="219456" y="2697480"/>
            <a:ext cx="201168" cy="34747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185FA5"/>
                </a:solidFill>
                <a:effectLst/>
                <a:uLnTx/>
                <a:uFillTx/>
                <a:latin typeface="Calibri" pitchFamily="34" charset="0"/>
                <a:ea typeface="Calibri" pitchFamily="34" charset="-122"/>
                <a:cs typeface="Calibri" pitchFamily="34" charset="-120"/>
              </a:rPr>
              <a:t>4</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Text 39"/>
          <p:cNvSpPr/>
          <p:nvPr/>
        </p:nvSpPr>
        <p:spPr>
          <a:xfrm>
            <a:off x="475488" y="2697480"/>
            <a:ext cx="2871216" cy="34747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Junior mentorship &amp; structured onboarding</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Text 40"/>
          <p:cNvSpPr/>
          <p:nvPr/>
        </p:nvSpPr>
        <p:spPr>
          <a:xfrm>
            <a:off x="3401568" y="2697480"/>
            <a:ext cx="1682496" cy="34747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539 Junior staff</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Text 41"/>
          <p:cNvSpPr/>
          <p:nvPr/>
        </p:nvSpPr>
        <p:spPr>
          <a:xfrm>
            <a:off x="5138928" y="2697480"/>
            <a:ext cx="1225296" cy="34747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Close 11.7-pt gap</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Shape 42"/>
          <p:cNvSpPr/>
          <p:nvPr/>
        </p:nvSpPr>
        <p:spPr>
          <a:xfrm>
            <a:off x="6419088" y="2743200"/>
            <a:ext cx="749808" cy="246888"/>
          </a:xfrm>
          <a:prstGeom prst="rect">
            <a:avLst/>
          </a:prstGeom>
          <a:solidFill>
            <a:srgbClr val="BA7517">
              <a:alpha val="18000"/>
            </a:srgbClr>
          </a:solidFill>
          <a:ln w="12700">
            <a:solidFill>
              <a:srgbClr val="BA7517"/>
            </a:solidFill>
            <a:prstDash val="solid"/>
          </a:ln>
        </p:spPr>
      </p:sp>
      <p:sp>
        <p:nvSpPr>
          <p:cNvPr id="45" name="Text 43"/>
          <p:cNvSpPr/>
          <p:nvPr/>
        </p:nvSpPr>
        <p:spPr>
          <a:xfrm>
            <a:off x="6419088" y="2743200"/>
            <a:ext cx="749808" cy="24688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BA7517"/>
                </a:solidFill>
                <a:effectLst/>
                <a:uLnTx/>
                <a:uFillTx/>
                <a:latin typeface="Calibri" pitchFamily="34" charset="0"/>
                <a:ea typeface="Calibri" pitchFamily="34" charset="-122"/>
                <a:cs typeface="Calibri" pitchFamily="34" charset="-120"/>
              </a:rPr>
              <a:t>High</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 name="Text 44"/>
          <p:cNvSpPr/>
          <p:nvPr/>
        </p:nvSpPr>
        <p:spPr>
          <a:xfrm>
            <a:off x="7242048" y="2697480"/>
            <a:ext cx="768096" cy="34747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Q1–Q3</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 name="Shape 45"/>
          <p:cNvSpPr/>
          <p:nvPr/>
        </p:nvSpPr>
        <p:spPr>
          <a:xfrm>
            <a:off x="182880" y="3108960"/>
            <a:ext cx="8778240" cy="411480"/>
          </a:xfrm>
          <a:prstGeom prst="rect">
            <a:avLst/>
          </a:prstGeom>
          <a:solidFill>
            <a:srgbClr val="FFFFFF"/>
          </a:solidFill>
          <a:ln w="6350">
            <a:solidFill>
              <a:srgbClr val="D1D9EE"/>
            </a:solidFill>
            <a:prstDash val="solid"/>
          </a:ln>
        </p:spPr>
      </p:sp>
      <p:sp>
        <p:nvSpPr>
          <p:cNvPr id="48" name="Text 46"/>
          <p:cNvSpPr/>
          <p:nvPr/>
        </p:nvSpPr>
        <p:spPr>
          <a:xfrm>
            <a:off x="219456" y="3145536"/>
            <a:ext cx="201168" cy="34747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185FA5"/>
                </a:solidFill>
                <a:effectLst/>
                <a:uLnTx/>
                <a:uFillTx/>
                <a:latin typeface="Calibri" pitchFamily="34" charset="0"/>
                <a:ea typeface="Calibri" pitchFamily="34" charset="-122"/>
                <a:cs typeface="Calibri" pitchFamily="34" charset="-120"/>
              </a:rPr>
              <a:t>5</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 name="Text 47"/>
          <p:cNvSpPr/>
          <p:nvPr/>
        </p:nvSpPr>
        <p:spPr>
          <a:xfrm>
            <a:off x="475488" y="3145536"/>
            <a:ext cx="2871216" cy="34747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Meeting audit — bi-weekly as default</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 name="Text 48"/>
          <p:cNvSpPr/>
          <p:nvPr/>
        </p:nvSpPr>
        <p:spPr>
          <a:xfrm>
            <a:off x="3401568" y="3145536"/>
            <a:ext cx="1682496" cy="34747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Daily standup teams</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 name="Text 49"/>
          <p:cNvSpPr/>
          <p:nvPr/>
        </p:nvSpPr>
        <p:spPr>
          <a:xfrm>
            <a:off x="5138928" y="3145536"/>
            <a:ext cx="1225296" cy="34747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+2.5 pts + deep work</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2" name="Shape 50"/>
          <p:cNvSpPr/>
          <p:nvPr/>
        </p:nvSpPr>
        <p:spPr>
          <a:xfrm>
            <a:off x="6419088" y="3191256"/>
            <a:ext cx="749808" cy="246888"/>
          </a:xfrm>
          <a:prstGeom prst="rect">
            <a:avLst/>
          </a:prstGeom>
          <a:solidFill>
            <a:srgbClr val="185FA5">
              <a:alpha val="18000"/>
            </a:srgbClr>
          </a:solidFill>
          <a:ln w="12700">
            <a:solidFill>
              <a:srgbClr val="185FA5"/>
            </a:solidFill>
            <a:prstDash val="solid"/>
          </a:ln>
        </p:spPr>
      </p:sp>
      <p:sp>
        <p:nvSpPr>
          <p:cNvPr id="53" name="Text 51"/>
          <p:cNvSpPr/>
          <p:nvPr/>
        </p:nvSpPr>
        <p:spPr>
          <a:xfrm>
            <a:off x="6419088" y="3191256"/>
            <a:ext cx="749808" cy="24688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185FA5"/>
                </a:solidFill>
                <a:effectLst/>
                <a:uLnTx/>
                <a:uFillTx/>
                <a:latin typeface="Calibri" pitchFamily="34" charset="0"/>
                <a:ea typeface="Calibri" pitchFamily="34" charset="-122"/>
                <a:cs typeface="Calibri" pitchFamily="34" charset="-120"/>
              </a:rPr>
              <a:t>Medium</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 name="Text 52"/>
          <p:cNvSpPr/>
          <p:nvPr/>
        </p:nvSpPr>
        <p:spPr>
          <a:xfrm>
            <a:off x="7242048" y="3145536"/>
            <a:ext cx="768096" cy="34747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Q2</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 name="Shape 53"/>
          <p:cNvSpPr/>
          <p:nvPr/>
        </p:nvSpPr>
        <p:spPr>
          <a:xfrm>
            <a:off x="182880" y="3557016"/>
            <a:ext cx="8778240" cy="411480"/>
          </a:xfrm>
          <a:prstGeom prst="rect">
            <a:avLst/>
          </a:prstGeom>
          <a:solidFill>
            <a:srgbClr val="F4F6FB"/>
          </a:solidFill>
          <a:ln w="6350">
            <a:solidFill>
              <a:srgbClr val="D1D9EE"/>
            </a:solidFill>
            <a:prstDash val="solid"/>
          </a:ln>
        </p:spPr>
      </p:sp>
      <p:sp>
        <p:nvSpPr>
          <p:cNvPr id="56" name="Text 54"/>
          <p:cNvSpPr/>
          <p:nvPr/>
        </p:nvSpPr>
        <p:spPr>
          <a:xfrm>
            <a:off x="219456" y="3593592"/>
            <a:ext cx="201168" cy="34747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185FA5"/>
                </a:solidFill>
                <a:effectLst/>
                <a:uLnTx/>
                <a:uFillTx/>
                <a:latin typeface="Calibri" pitchFamily="34" charset="0"/>
                <a:ea typeface="Calibri" pitchFamily="34" charset="-122"/>
                <a:cs typeface="Calibri" pitchFamily="34" charset="-120"/>
              </a:rPr>
              <a:t>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 name="Text 55"/>
          <p:cNvSpPr/>
          <p:nvPr/>
        </p:nvSpPr>
        <p:spPr>
          <a:xfrm>
            <a:off x="475488" y="3593592"/>
            <a:ext cx="2871216" cy="34747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DEI inclusion programme for non-binary staff</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 name="Text 56"/>
          <p:cNvSpPr/>
          <p:nvPr/>
        </p:nvSpPr>
        <p:spPr>
          <a:xfrm>
            <a:off x="3401568" y="3593592"/>
            <a:ext cx="1682496" cy="34747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Non-binary segment</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 name="Text 57"/>
          <p:cNvSpPr/>
          <p:nvPr/>
        </p:nvSpPr>
        <p:spPr>
          <a:xfrm>
            <a:off x="5138928" y="3593592"/>
            <a:ext cx="1225296" cy="34747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Close 7-pt gap</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 name="Shape 58"/>
          <p:cNvSpPr/>
          <p:nvPr/>
        </p:nvSpPr>
        <p:spPr>
          <a:xfrm>
            <a:off x="6419088" y="3639312"/>
            <a:ext cx="749808" cy="246888"/>
          </a:xfrm>
          <a:prstGeom prst="rect">
            <a:avLst/>
          </a:prstGeom>
          <a:solidFill>
            <a:srgbClr val="185FA5">
              <a:alpha val="18000"/>
            </a:srgbClr>
          </a:solidFill>
          <a:ln w="12700">
            <a:solidFill>
              <a:srgbClr val="185FA5"/>
            </a:solidFill>
            <a:prstDash val="solid"/>
          </a:ln>
        </p:spPr>
      </p:sp>
      <p:sp>
        <p:nvSpPr>
          <p:cNvPr id="61" name="Text 59"/>
          <p:cNvSpPr/>
          <p:nvPr/>
        </p:nvSpPr>
        <p:spPr>
          <a:xfrm>
            <a:off x="6419088" y="3639312"/>
            <a:ext cx="749808" cy="24688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185FA5"/>
                </a:solidFill>
                <a:effectLst/>
                <a:uLnTx/>
                <a:uFillTx/>
                <a:latin typeface="Calibri" pitchFamily="34" charset="0"/>
                <a:ea typeface="Calibri" pitchFamily="34" charset="-122"/>
                <a:cs typeface="Calibri" pitchFamily="34" charset="-120"/>
              </a:rPr>
              <a:t>Medium</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2" name="Text 60"/>
          <p:cNvSpPr/>
          <p:nvPr/>
        </p:nvSpPr>
        <p:spPr>
          <a:xfrm>
            <a:off x="7242048" y="3593592"/>
            <a:ext cx="768096" cy="34747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Q2–Q3</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3" name="Shape 61"/>
          <p:cNvSpPr/>
          <p:nvPr/>
        </p:nvSpPr>
        <p:spPr>
          <a:xfrm>
            <a:off x="182880" y="4005072"/>
            <a:ext cx="8778240" cy="411480"/>
          </a:xfrm>
          <a:prstGeom prst="rect">
            <a:avLst/>
          </a:prstGeom>
          <a:solidFill>
            <a:srgbClr val="FFFFFF"/>
          </a:solidFill>
          <a:ln w="6350">
            <a:solidFill>
              <a:srgbClr val="D1D9EE"/>
            </a:solidFill>
            <a:prstDash val="solid"/>
          </a:ln>
        </p:spPr>
      </p:sp>
      <p:sp>
        <p:nvSpPr>
          <p:cNvPr id="64" name="Text 62"/>
          <p:cNvSpPr/>
          <p:nvPr/>
        </p:nvSpPr>
        <p:spPr>
          <a:xfrm>
            <a:off x="219456" y="4041648"/>
            <a:ext cx="201168" cy="34747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185FA5"/>
                </a:solidFill>
                <a:effectLst/>
                <a:uLnTx/>
                <a:uFillTx/>
                <a:latin typeface="Calibri" pitchFamily="34" charset="0"/>
                <a:ea typeface="Calibri" pitchFamily="34" charset="-122"/>
                <a:cs typeface="Calibri" pitchFamily="34" charset="-120"/>
              </a:rPr>
              <a:t>7</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 name="Text 63"/>
          <p:cNvSpPr/>
          <p:nvPr/>
        </p:nvSpPr>
        <p:spPr>
          <a:xfrm>
            <a:off x="475488" y="4041648"/>
            <a:ext cx="2871216" cy="34747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Government/Non-profit tooling upgrade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 name="Text 64"/>
          <p:cNvSpPr/>
          <p:nvPr/>
        </p:nvSpPr>
        <p:spPr>
          <a:xfrm>
            <a:off x="3401568" y="4041648"/>
            <a:ext cx="1682496" cy="34747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79 lagging-sector employees</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 name="Text 65"/>
          <p:cNvSpPr/>
          <p:nvPr/>
        </p:nvSpPr>
        <p:spPr>
          <a:xfrm>
            <a:off x="5138928" y="4041648"/>
            <a:ext cx="1225296" cy="34747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+4–5 pts</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8" name="Shape 66"/>
          <p:cNvSpPr/>
          <p:nvPr/>
        </p:nvSpPr>
        <p:spPr>
          <a:xfrm>
            <a:off x="6419088" y="4087368"/>
            <a:ext cx="749808" cy="246888"/>
          </a:xfrm>
          <a:prstGeom prst="rect">
            <a:avLst/>
          </a:prstGeom>
          <a:solidFill>
            <a:srgbClr val="185FA5">
              <a:alpha val="18000"/>
            </a:srgbClr>
          </a:solidFill>
          <a:ln w="12700">
            <a:solidFill>
              <a:srgbClr val="185FA5"/>
            </a:solidFill>
            <a:prstDash val="solid"/>
          </a:ln>
        </p:spPr>
      </p:sp>
      <p:sp>
        <p:nvSpPr>
          <p:cNvPr id="69" name="Text 67"/>
          <p:cNvSpPr/>
          <p:nvPr/>
        </p:nvSpPr>
        <p:spPr>
          <a:xfrm>
            <a:off x="6419088" y="4087368"/>
            <a:ext cx="749808" cy="24688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185FA5"/>
                </a:solidFill>
                <a:effectLst/>
                <a:uLnTx/>
                <a:uFillTx/>
                <a:latin typeface="Calibri" pitchFamily="34" charset="0"/>
                <a:ea typeface="Calibri" pitchFamily="34" charset="-122"/>
                <a:cs typeface="Calibri" pitchFamily="34" charset="-120"/>
              </a:rPr>
              <a:t>Medium</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0" name="Text 68"/>
          <p:cNvSpPr/>
          <p:nvPr/>
        </p:nvSpPr>
        <p:spPr>
          <a:xfrm>
            <a:off x="7242048" y="4041648"/>
            <a:ext cx="768096" cy="34747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Q2–Q4</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0" name="Picture 79">
            <a:extLst>
              <a:ext uri="{FF2B5EF4-FFF2-40B4-BE49-F238E27FC236}">
                <a16:creationId xmlns:a16="http://schemas.microsoft.com/office/drawing/2014/main" id="{5E5E8DEF-EAD1-12A7-378D-247D6898459F}"/>
              </a:ext>
            </a:extLst>
          </p:cNvPr>
          <p:cNvPicPr>
            <a:picLocks noChangeAspect="1"/>
          </p:cNvPicPr>
          <p:nvPr/>
        </p:nvPicPr>
        <p:blipFill>
          <a:blip r:embed="rId3"/>
          <a:stretch>
            <a:fillRect/>
          </a:stretch>
        </p:blipFill>
        <p:spPr>
          <a:xfrm>
            <a:off x="169025" y="3551644"/>
            <a:ext cx="8812875" cy="430982"/>
          </a:xfrm>
          <a:prstGeom prst="rect">
            <a:avLst/>
          </a:prstGeom>
        </p:spPr>
      </p:pic>
    </p:spTree>
    <p:extLst>
      <p:ext uri="{BB962C8B-B14F-4D97-AF65-F5344CB8AC3E}">
        <p14:creationId xmlns:p14="http://schemas.microsoft.com/office/powerpoint/2010/main" val="10989933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24">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Shape 1"/>
          <p:cNvSpPr/>
          <p:nvPr/>
        </p:nvSpPr>
        <p:spPr>
          <a:xfrm>
            <a:off x="0" y="0"/>
            <a:ext cx="109728" cy="777240"/>
          </a:xfrm>
          <a:prstGeom prst="rect">
            <a:avLst/>
          </a:prstGeom>
          <a:solidFill>
            <a:srgbClr val="1D9E75"/>
          </a:solidFill>
          <a:ln w="12700">
            <a:solidFill>
              <a:srgbClr val="1D9E75"/>
            </a:solidFill>
            <a:prstDash val="solid"/>
          </a:ln>
        </p:spPr>
      </p:sp>
      <p:sp>
        <p:nvSpPr>
          <p:cNvPr id="4" name="Text 2"/>
          <p:cNvSpPr/>
          <p:nvPr/>
        </p:nvSpPr>
        <p:spPr>
          <a:xfrm>
            <a:off x="274320" y="0"/>
            <a:ext cx="8686800" cy="777240"/>
          </a:xfrm>
          <a:prstGeom prst="rect">
            <a:avLst/>
          </a:prstGeom>
          <a:noFill/>
          <a:ln/>
        </p:spPr>
        <p:txBody>
          <a:bodyPr wrap="square" rtlCol="0" anchor="ctr"/>
          <a:lstStyle/>
          <a:p>
            <a:pPr marL="0" indent="0">
              <a:buNone/>
            </a:pPr>
            <a:endParaRPr lang="en-US" sz="2200" dirty="0"/>
          </a:p>
        </p:txBody>
      </p:sp>
      <p:sp>
        <p:nvSpPr>
          <p:cNvPr id="5" name="Text 3"/>
          <p:cNvSpPr/>
          <p:nvPr/>
        </p:nvSpPr>
        <p:spPr>
          <a:xfrm>
            <a:off x="274320" y="512064"/>
            <a:ext cx="8686800" cy="265176"/>
          </a:xfrm>
          <a:prstGeom prst="rect">
            <a:avLst/>
          </a:prstGeom>
          <a:noFill/>
          <a:ln/>
        </p:spPr>
        <p:txBody>
          <a:bodyPr wrap="square" rtlCol="0" anchor="ctr"/>
          <a:lstStyle/>
          <a:p>
            <a:pPr marL="0" indent="0">
              <a:buNone/>
            </a:pPr>
            <a:r>
              <a:rPr lang="en-US" sz="950" b="1" dirty="0">
                <a:solidFill>
                  <a:schemeClr val="bg1"/>
                </a:solidFill>
                <a:latin typeface="Calibri" pitchFamily="34" charset="0"/>
                <a:ea typeface="Calibri" pitchFamily="34" charset="-122"/>
                <a:cs typeface="Calibri" pitchFamily="34" charset="-120"/>
              </a:rPr>
              <a:t>How to elevate the current Excel dashboard design</a:t>
            </a:r>
            <a:endParaRPr lang="en-US" sz="950" b="1" dirty="0">
              <a:solidFill>
                <a:schemeClr val="bg1"/>
              </a:solidFill>
            </a:endParaRPr>
          </a:p>
        </p:txBody>
      </p:sp>
      <p:sp>
        <p:nvSpPr>
          <p:cNvPr id="6" name="Shape 4"/>
          <p:cNvSpPr/>
          <p:nvPr/>
        </p:nvSpPr>
        <p:spPr>
          <a:xfrm>
            <a:off x="0" y="4892040"/>
            <a:ext cx="9144000" cy="251460"/>
          </a:xfrm>
          <a:prstGeom prst="rect">
            <a:avLst/>
          </a:prstGeom>
          <a:solidFill>
            <a:srgbClr val="1E2761"/>
          </a:solidFill>
          <a:ln w="12700">
            <a:solidFill>
              <a:srgbClr val="1E2761"/>
            </a:solidFill>
            <a:prstDash val="solid"/>
          </a:ln>
        </p:spPr>
      </p:sp>
      <p:sp>
        <p:nvSpPr>
          <p:cNvPr id="7" name="Text 5"/>
          <p:cNvSpPr/>
          <p:nvPr/>
        </p:nvSpPr>
        <p:spPr>
          <a:xfrm>
            <a:off x="0" y="4892040"/>
            <a:ext cx="9144000" cy="251460"/>
          </a:xfrm>
          <a:prstGeom prst="rect">
            <a:avLst/>
          </a:prstGeom>
          <a:noFill/>
          <a:ln/>
        </p:spPr>
        <p:txBody>
          <a:bodyPr wrap="square"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Remote Work Productivity Analysis  ·  Slide 40 of 41</a:t>
            </a:r>
            <a:endParaRPr lang="en-US" sz="800" dirty="0"/>
          </a:p>
        </p:txBody>
      </p:sp>
      <p:sp>
        <p:nvSpPr>
          <p:cNvPr id="51" name="Rectangle 50"/>
          <p:cNvSpPr/>
          <p:nvPr/>
        </p:nvSpPr>
        <p:spPr>
          <a:xfrm>
            <a:off x="231648" y="130909"/>
            <a:ext cx="5937504" cy="369332"/>
          </a:xfrm>
          <a:prstGeom prst="rect">
            <a:avLst/>
          </a:prstGeom>
        </p:spPr>
        <p:txBody>
          <a:bodyPr wrap="square">
            <a:spAutoFit/>
          </a:bodyPr>
          <a:lstStyle/>
          <a:p>
            <a:r>
              <a:rPr lang="en-GB" b="1" dirty="0">
                <a:solidFill>
                  <a:schemeClr val="bg1"/>
                </a:solidFill>
              </a:rPr>
              <a:t>Executive Conclusion (Legal &amp; Economic Alignment)</a:t>
            </a:r>
          </a:p>
        </p:txBody>
      </p:sp>
      <p:sp>
        <p:nvSpPr>
          <p:cNvPr id="52" name="Rectangle 51"/>
          <p:cNvSpPr/>
          <p:nvPr/>
        </p:nvSpPr>
        <p:spPr>
          <a:xfrm>
            <a:off x="463296" y="1175498"/>
            <a:ext cx="8186928" cy="3108543"/>
          </a:xfrm>
          <a:prstGeom prst="rect">
            <a:avLst/>
          </a:prstGeom>
        </p:spPr>
        <p:txBody>
          <a:bodyPr wrap="square">
            <a:spAutoFit/>
          </a:bodyPr>
          <a:lstStyle/>
          <a:p>
            <a:r>
              <a:rPr lang="en-GB" sz="1400" dirty="0">
                <a:solidFill>
                  <a:schemeClr val="accent1">
                    <a:lumMod val="50000"/>
                  </a:schemeClr>
                </a:solidFill>
              </a:rPr>
              <a:t>"In conclusion, we emphasize that the data-driven insights and statistical metrics delivered by this study align perfectly with the proactive vision of the Egyptian legislator and the nation's drive toward digital transformation and sustainable development.</a:t>
            </a:r>
          </a:p>
          <a:p>
            <a:r>
              <a:rPr lang="en-GB" sz="1400" dirty="0">
                <a:solidFill>
                  <a:schemeClr val="accent1">
                    <a:lumMod val="50000"/>
                  </a:schemeClr>
                </a:solidFill>
              </a:rPr>
              <a:t>The numbers clearly prove that remote work is no longer just a flexible operational choice, but a solid economic system that yields tangible financial savings. It reduces operational overhead, power consumption, and facility costs for corporations, while simultaneously easing traffic congestion, lowering fuel consumption, and reducing carbon emissions on a national level—all without compromising productivity, which reaches its statistical peak in well-structured environments.</a:t>
            </a:r>
          </a:p>
          <a:p>
            <a:r>
              <a:rPr lang="en-GB" sz="1400" dirty="0">
                <a:solidFill>
                  <a:schemeClr val="accent1">
                    <a:lumMod val="50000"/>
                  </a:schemeClr>
                </a:solidFill>
              </a:rPr>
              <a:t>This synergy between economic gains, precise data analytics, and the foundational wisdom of Egyptian Labour Law demonstrates the state's forward-thinking approach in crafting a flexible legal ecosystem ready for the future. Consequently, we call upon policymakers, labour experts, and stakeholders in Egypt to embrace this data-driven policy approach, utilizing these vital metrics to refine future labour regulations to fit actual operational realities and balance productivity with societal well-being. This ensures Egypt remains a leading model that harmonizes the rule of law, investment efficiency, and human prosperity.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26">
    <p:bg>
      <p:bgPr>
        <a:solidFill>
          <a:srgbClr val="1E2761"/>
        </a:solidFill>
        <a:effectLst/>
      </p:bgPr>
    </p:bg>
    <p:spTree>
      <p:nvGrpSpPr>
        <p:cNvPr id="1" name=""/>
        <p:cNvGrpSpPr/>
        <p:nvPr/>
      </p:nvGrpSpPr>
      <p:grpSpPr>
        <a:xfrm>
          <a:off x="0" y="0"/>
          <a:ext cx="0" cy="0"/>
          <a:chOff x="0" y="0"/>
          <a:chExt cx="0" cy="0"/>
        </a:xfrm>
      </p:grpSpPr>
      <p:sp>
        <p:nvSpPr>
          <p:cNvPr id="2" name="Rectangle 1"/>
          <p:cNvSpPr/>
          <p:nvPr/>
        </p:nvSpPr>
        <p:spPr>
          <a:xfrm>
            <a:off x="2837328" y="1956197"/>
            <a:ext cx="3263907" cy="923330"/>
          </a:xfrm>
          <a:prstGeom prst="rect">
            <a:avLst/>
          </a:prstGeom>
        </p:spPr>
        <p:txBody>
          <a:bodyPr wrap="none">
            <a:spAutoFit/>
          </a:bodyPr>
          <a:lstStyle/>
          <a:p>
            <a:pPr algn="ctr"/>
            <a:r>
              <a:rPr lang="en-GB" sz="5400" dirty="0">
                <a:solidFill>
                  <a:schemeClr val="bg1"/>
                </a:solidFill>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229</TotalTime>
  <Words>4043</Words>
  <Application>Microsoft Office PowerPoint</Application>
  <PresentationFormat>On-screen Show (16:9)</PresentationFormat>
  <Paragraphs>636</Paragraphs>
  <Slides>41</Slides>
  <Notes>41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Arabic Typesetting</vt:lpstr>
      <vt:lpstr>Arial</vt:lpstr>
      <vt:lpstr>Calibri</vt:lpstr>
      <vt:lpstr>Montserrat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Remote Work Productivity Analysis</dc:title>
  <dc:subject>PptxGenJS Presentation</dc:subject>
  <dc:creator>PptxGenJS</dc:creator>
  <cp:lastModifiedBy>Seif EL-Din Hassona</cp:lastModifiedBy>
  <cp:revision>22</cp:revision>
  <dcterms:created xsi:type="dcterms:W3CDTF">2026-06-05T14:09:05Z</dcterms:created>
  <dcterms:modified xsi:type="dcterms:W3CDTF">2026-06-06T19:16:21Z</dcterms:modified>
</cp:coreProperties>
</file>